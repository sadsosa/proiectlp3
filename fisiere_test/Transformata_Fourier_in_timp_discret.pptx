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handoutMasterIdLst>
    <p:handoutMasterId r:id="rId53"/>
  </p:handoutMasterIdLst>
  <p:sldIdLst>
    <p:sldId id="275" r:id="rId2"/>
    <p:sldId id="340" r:id="rId3"/>
    <p:sldId id="331" r:id="rId4"/>
    <p:sldId id="332" r:id="rId5"/>
    <p:sldId id="335" r:id="rId6"/>
    <p:sldId id="333" r:id="rId7"/>
    <p:sldId id="334" r:id="rId8"/>
    <p:sldId id="336" r:id="rId9"/>
    <p:sldId id="337" r:id="rId10"/>
    <p:sldId id="338" r:id="rId11"/>
    <p:sldId id="339" r:id="rId12"/>
    <p:sldId id="330" r:id="rId13"/>
    <p:sldId id="276" r:id="rId14"/>
    <p:sldId id="277" r:id="rId15"/>
    <p:sldId id="305" r:id="rId16"/>
    <p:sldId id="284" r:id="rId17"/>
    <p:sldId id="285" r:id="rId18"/>
    <p:sldId id="287" r:id="rId19"/>
    <p:sldId id="311" r:id="rId20"/>
    <p:sldId id="312" r:id="rId21"/>
    <p:sldId id="310" r:id="rId22"/>
    <p:sldId id="286" r:id="rId23"/>
    <p:sldId id="288" r:id="rId24"/>
    <p:sldId id="289" r:id="rId25"/>
    <p:sldId id="290" r:id="rId26"/>
    <p:sldId id="294" r:id="rId27"/>
    <p:sldId id="307" r:id="rId28"/>
    <p:sldId id="309" r:id="rId29"/>
    <p:sldId id="299" r:id="rId30"/>
    <p:sldId id="300" r:id="rId31"/>
    <p:sldId id="301" r:id="rId32"/>
    <p:sldId id="302" r:id="rId33"/>
    <p:sldId id="303" r:id="rId34"/>
    <p:sldId id="304" r:id="rId35"/>
    <p:sldId id="313" r:id="rId36"/>
    <p:sldId id="315" r:id="rId37"/>
    <p:sldId id="316" r:id="rId38"/>
    <p:sldId id="317" r:id="rId39"/>
    <p:sldId id="318" r:id="rId40"/>
    <p:sldId id="319" r:id="rId41"/>
    <p:sldId id="320" r:id="rId42"/>
    <p:sldId id="321" r:id="rId43"/>
    <p:sldId id="322" r:id="rId44"/>
    <p:sldId id="323" r:id="rId45"/>
    <p:sldId id="324" r:id="rId46"/>
    <p:sldId id="325" r:id="rId47"/>
    <p:sldId id="326" r:id="rId48"/>
    <p:sldId id="327" r:id="rId49"/>
    <p:sldId id="328" r:id="rId50"/>
    <p:sldId id="329" r:id="rId51"/>
  </p:sldIdLst>
  <p:sldSz cx="9144000" cy="6858000" type="screen4x3"/>
  <p:notesSz cx="7099300" cy="10234613"/>
  <p:defaultTextStyle>
    <a:defPPr>
      <a:defRPr lang="ro-RO"/>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7" d="100"/>
          <a:sy n="87" d="100"/>
        </p:scale>
        <p:origin x="-1062"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image" Target="../media/image17.wmf"/><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11" Type="http://schemas.openxmlformats.org/officeDocument/2006/relationships/image" Target="../media/image39.wmf"/><Relationship Id="rId5" Type="http://schemas.openxmlformats.org/officeDocument/2006/relationships/image" Target="../media/image33.wmf"/><Relationship Id="rId10" Type="http://schemas.openxmlformats.org/officeDocument/2006/relationships/image" Target="../media/image38.wmf"/><Relationship Id="rId4" Type="http://schemas.openxmlformats.org/officeDocument/2006/relationships/image" Target="../media/image32.wmf"/><Relationship Id="rId9" Type="http://schemas.openxmlformats.org/officeDocument/2006/relationships/image" Target="../media/image3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7.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9.png"/></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4.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0.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image" Target="../media/image82.wmf"/><Relationship Id="rId1" Type="http://schemas.openxmlformats.org/officeDocument/2006/relationships/image" Target="../media/image81.wmf"/><Relationship Id="rId4" Type="http://schemas.openxmlformats.org/officeDocument/2006/relationships/image" Target="../media/image8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92.wmf"/><Relationship Id="rId4" Type="http://schemas.openxmlformats.org/officeDocument/2006/relationships/image" Target="../media/image95.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0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F70EC6-8A36-44AF-AE59-0909ABD5D63F}"/>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eaLnBrk="1" hangingPunct="1">
              <a:defRPr sz="1300"/>
            </a:lvl1pPr>
          </a:lstStyle>
          <a:p>
            <a:pPr>
              <a:defRPr/>
            </a:pPr>
            <a:endParaRPr lang="en-US"/>
          </a:p>
        </p:txBody>
      </p:sp>
      <p:sp>
        <p:nvSpPr>
          <p:cNvPr id="3" name="Date Placeholder 2">
            <a:extLst>
              <a:ext uri="{FF2B5EF4-FFF2-40B4-BE49-F238E27FC236}">
                <a16:creationId xmlns:a16="http://schemas.microsoft.com/office/drawing/2014/main" id="{B8A20C59-DC84-49FC-B1AC-7D70CF455B0D}"/>
              </a:ext>
            </a:extLst>
          </p:cNvPr>
          <p:cNvSpPr>
            <a:spLocks noGrp="1"/>
          </p:cNvSpPr>
          <p:nvPr>
            <p:ph type="dt" sz="quarter" idx="1"/>
          </p:nvPr>
        </p:nvSpPr>
        <p:spPr>
          <a:xfrm>
            <a:off x="4021138" y="0"/>
            <a:ext cx="3076575" cy="511175"/>
          </a:xfrm>
          <a:prstGeom prst="rect">
            <a:avLst/>
          </a:prstGeom>
        </p:spPr>
        <p:txBody>
          <a:bodyPr vert="horz" lIns="99048" tIns="49524" rIns="99048" bIns="49524" rtlCol="0"/>
          <a:lstStyle>
            <a:lvl1pPr algn="r" eaLnBrk="1" hangingPunct="1">
              <a:defRPr sz="1300"/>
            </a:lvl1pPr>
          </a:lstStyle>
          <a:p>
            <a:pPr>
              <a:defRPr/>
            </a:pPr>
            <a:fld id="{E5C02E2C-1167-4245-9300-372E391465CE}" type="datetimeFigureOut">
              <a:rPr lang="en-US"/>
              <a:pPr>
                <a:defRPr/>
              </a:pPr>
              <a:t>5/18/2026</a:t>
            </a:fld>
            <a:endParaRPr lang="en-US"/>
          </a:p>
        </p:txBody>
      </p:sp>
      <p:sp>
        <p:nvSpPr>
          <p:cNvPr id="4" name="Footer Placeholder 3">
            <a:extLst>
              <a:ext uri="{FF2B5EF4-FFF2-40B4-BE49-F238E27FC236}">
                <a16:creationId xmlns:a16="http://schemas.microsoft.com/office/drawing/2014/main" id="{1A2B0979-01A0-4787-ABB0-3C68E725D5B5}"/>
              </a:ext>
            </a:extLst>
          </p:cNvPr>
          <p:cNvSpPr>
            <a:spLocks noGrp="1"/>
          </p:cNvSpPr>
          <p:nvPr>
            <p:ph type="ftr" sz="quarter" idx="2"/>
          </p:nvPr>
        </p:nvSpPr>
        <p:spPr>
          <a:xfrm>
            <a:off x="0" y="9721850"/>
            <a:ext cx="3076575" cy="511175"/>
          </a:xfrm>
          <a:prstGeom prst="rect">
            <a:avLst/>
          </a:prstGeom>
        </p:spPr>
        <p:txBody>
          <a:bodyPr vert="horz" lIns="99048" tIns="49524" rIns="99048" bIns="49524" rtlCol="0" anchor="b"/>
          <a:lstStyle>
            <a:lvl1pPr algn="l" eaLnBrk="1" hangingPunct="1">
              <a:defRPr sz="1300"/>
            </a:lvl1pPr>
          </a:lstStyle>
          <a:p>
            <a:pPr>
              <a:defRPr/>
            </a:pPr>
            <a:endParaRPr lang="en-US"/>
          </a:p>
        </p:txBody>
      </p:sp>
      <p:sp>
        <p:nvSpPr>
          <p:cNvPr id="5" name="Slide Number Placeholder 4">
            <a:extLst>
              <a:ext uri="{FF2B5EF4-FFF2-40B4-BE49-F238E27FC236}">
                <a16:creationId xmlns:a16="http://schemas.microsoft.com/office/drawing/2014/main" id="{87193E4D-79B7-4184-A340-9710CB7A7F14}"/>
              </a:ext>
            </a:extLst>
          </p:cNvPr>
          <p:cNvSpPr>
            <a:spLocks noGrp="1"/>
          </p:cNvSpPr>
          <p:nvPr>
            <p:ph type="sldNum" sz="quarter" idx="3"/>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eaLnBrk="1" hangingPunct="1">
              <a:defRPr sz="1300"/>
            </a:lvl1pPr>
          </a:lstStyle>
          <a:p>
            <a:fld id="{2A1EA820-D403-4815-97BE-B0B65648C428}" type="slidenum">
              <a:rPr lang="en-US" altLang="ro-RO"/>
              <a:pPr/>
              <a:t>‹#›</a:t>
            </a:fld>
            <a:endParaRPr lang="en-US" altLang="ro-RO"/>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8EA310C-0486-49B6-A5EC-7A44571BFD53}"/>
              </a:ext>
            </a:extLst>
          </p:cNvPr>
          <p:cNvSpPr>
            <a:spLocks noGrp="1"/>
          </p:cNvSpPr>
          <p:nvPr>
            <p:ph type="hdr" sz="quarter"/>
          </p:nvPr>
        </p:nvSpPr>
        <p:spPr>
          <a:xfrm>
            <a:off x="0" y="0"/>
            <a:ext cx="3076575" cy="511175"/>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F1DF590A-2B53-4370-947E-88BB91BB64C4}"/>
              </a:ext>
            </a:extLst>
          </p:cNvPr>
          <p:cNvSpPr>
            <a:spLocks noGrp="1"/>
          </p:cNvSpPr>
          <p:nvPr>
            <p:ph type="dt" idx="1"/>
          </p:nvPr>
        </p:nvSpPr>
        <p:spPr>
          <a:xfrm>
            <a:off x="4021138" y="0"/>
            <a:ext cx="3076575" cy="511175"/>
          </a:xfrm>
          <a:prstGeom prst="rect">
            <a:avLst/>
          </a:prstGeom>
        </p:spPr>
        <p:txBody>
          <a:bodyPr vert="horz" lIns="91440" tIns="45720" rIns="91440" bIns="45720" rtlCol="0"/>
          <a:lstStyle>
            <a:lvl1pPr algn="r" eaLnBrk="1" hangingPunct="1">
              <a:defRPr sz="1200"/>
            </a:lvl1pPr>
          </a:lstStyle>
          <a:p>
            <a:pPr>
              <a:defRPr/>
            </a:pPr>
            <a:fld id="{CC3D1EB1-547D-4B71-BF5A-B68240DCB2B2}" type="datetimeFigureOut">
              <a:rPr lang="en-US"/>
              <a:pPr>
                <a:defRPr/>
              </a:pPr>
              <a:t>5/18/2026</a:t>
            </a:fld>
            <a:endParaRPr lang="en-US"/>
          </a:p>
        </p:txBody>
      </p:sp>
      <p:sp>
        <p:nvSpPr>
          <p:cNvPr id="4" name="Slide Image Placeholder 3">
            <a:extLst>
              <a:ext uri="{FF2B5EF4-FFF2-40B4-BE49-F238E27FC236}">
                <a16:creationId xmlns:a16="http://schemas.microsoft.com/office/drawing/2014/main" id="{E1650FF8-17FF-4F76-A505-0F95C5CB0E2F}"/>
              </a:ext>
            </a:extLst>
          </p:cNvPr>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E3381F44-68E8-446F-AB84-18D0B0FA597B}"/>
              </a:ext>
            </a:extLst>
          </p:cNvPr>
          <p:cNvSpPr>
            <a:spLocks noGrp="1"/>
          </p:cNvSpPr>
          <p:nvPr>
            <p:ph type="body" sz="quarter" idx="3"/>
          </p:nvPr>
        </p:nvSpPr>
        <p:spPr>
          <a:xfrm>
            <a:off x="709613" y="4860925"/>
            <a:ext cx="5680075" cy="4605338"/>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0EC59BDE-4EAD-4AEB-A234-39F17B84299A}"/>
              </a:ext>
            </a:extLst>
          </p:cNvPr>
          <p:cNvSpPr>
            <a:spLocks noGrp="1"/>
          </p:cNvSpPr>
          <p:nvPr>
            <p:ph type="ftr" sz="quarter" idx="4"/>
          </p:nvPr>
        </p:nvSpPr>
        <p:spPr>
          <a:xfrm>
            <a:off x="0" y="9721850"/>
            <a:ext cx="3076575" cy="511175"/>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a:extLst>
              <a:ext uri="{FF2B5EF4-FFF2-40B4-BE49-F238E27FC236}">
                <a16:creationId xmlns:a16="http://schemas.microsoft.com/office/drawing/2014/main" id="{744D9843-0805-407E-8C72-F59017F149A9}"/>
              </a:ext>
            </a:extLst>
          </p:cNvPr>
          <p:cNvSpPr>
            <a:spLocks noGrp="1"/>
          </p:cNvSpPr>
          <p:nvPr>
            <p:ph type="sldNum" sz="quarter" idx="5"/>
          </p:nvPr>
        </p:nvSpPr>
        <p:spPr>
          <a:xfrm>
            <a:off x="4021138" y="9721850"/>
            <a:ext cx="3076575" cy="51117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47915B10-9EF0-482E-8FC3-74D8294E2193}" type="slidenum">
              <a:rPr lang="en-US" altLang="ro-RO"/>
              <a:pPr/>
              <a:t>‹#›</a:t>
            </a:fld>
            <a:endParaRPr lang="en-US" altLang="ro-R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a:extLst>
              <a:ext uri="{FF2B5EF4-FFF2-40B4-BE49-F238E27FC236}">
                <a16:creationId xmlns:a16="http://schemas.microsoft.com/office/drawing/2014/main" id="{E7A9037E-A18C-4EB5-82DD-2C777B1D157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a:extLst>
              <a:ext uri="{FF2B5EF4-FFF2-40B4-BE49-F238E27FC236}">
                <a16:creationId xmlns:a16="http://schemas.microsoft.com/office/drawing/2014/main" id="{3D6501AD-F5D2-4CAD-A98F-B21A55AA7F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t>Există numeroase aplicaţii pentru telefoane inteligente care permit analiza spectrală. Pentru un astfel de exemplu faceţi click pe link-ul indicat.</a:t>
            </a:r>
            <a:endParaRPr lang="en-US" altLang="ro-RO"/>
          </a:p>
          <a:p>
            <a:pPr eaLnBrk="1" hangingPunct="1">
              <a:spcBef>
                <a:spcPct val="0"/>
              </a:spcBef>
            </a:pPr>
            <a:endParaRPr lang="en-US" altLang="ro-RO"/>
          </a:p>
        </p:txBody>
      </p:sp>
      <p:sp>
        <p:nvSpPr>
          <p:cNvPr id="54276" name="Slide Number Placeholder 3">
            <a:extLst>
              <a:ext uri="{FF2B5EF4-FFF2-40B4-BE49-F238E27FC236}">
                <a16:creationId xmlns:a16="http://schemas.microsoft.com/office/drawing/2014/main" id="{8C5981E9-1C65-4252-AF46-13C3412D41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53C54BA-A5A8-43ED-B2FC-8ACD54B2EEB9}" type="slidenum">
              <a:rPr lang="en-US" altLang="ro-RO"/>
              <a:pPr/>
              <a:t>2</a:t>
            </a:fld>
            <a:endParaRPr lang="en-US" altLang="ro-R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a:extLst>
              <a:ext uri="{FF2B5EF4-FFF2-40B4-BE49-F238E27FC236}">
                <a16:creationId xmlns:a16="http://schemas.microsoft.com/office/drawing/2014/main" id="{1B97B5F6-64FB-469D-ADA0-9E1D95C555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a:extLst>
              <a:ext uri="{FF2B5EF4-FFF2-40B4-BE49-F238E27FC236}">
                <a16:creationId xmlns:a16="http://schemas.microsoft.com/office/drawing/2014/main" id="{73647B79-84B0-45E9-98C4-EFC9138DBDE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solidFill>
                  <a:srgbClr val="000000"/>
                </a:solidFill>
              </a:rPr>
              <a:t>Când s-a studiat dezvoltarea în serie Fourier a semnalelor digitale periodice (cursul 5 începând cu slide-ul 21) s-a demonstrat că răspunsul sistemului cu răspunsul în frecvenţă </a:t>
            </a:r>
            <a:r>
              <a:rPr lang="ro-RO" altLang="ro-RO">
                <a:solidFill>
                  <a:srgbClr val="000000"/>
                </a:solidFill>
                <a:latin typeface="Cambria Math" panose="02040503050406030204" pitchFamily="18" charset="0"/>
              </a:rPr>
              <a:t>𝐻(</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ro-RO" altLang="ro-RO">
                <a:solidFill>
                  <a:srgbClr val="000000"/>
                </a:solidFill>
                <a:latin typeface="Cambria Math" panose="02040503050406030204" pitchFamily="18" charset="0"/>
              </a:rPr>
              <a:t>  </a:t>
            </a:r>
            <a:r>
              <a:rPr lang="ro-RO" altLang="ro-RO">
                <a:solidFill>
                  <a:srgbClr val="000000"/>
                </a:solidFill>
              </a:rPr>
              <a:t> la exponenţiala complexă de modul unitar </a:t>
            </a:r>
            <a:r>
              <a:rPr lang="ro-RO" altLang="ro-RO">
                <a:solidFill>
                  <a:srgbClr val="000000"/>
                </a:solidFill>
                <a:latin typeface="Cambria Math" panose="02040503050406030204" pitchFamily="18" charset="0"/>
              </a:rPr>
              <a:t>𝑒^(𝑗</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ro-RO" altLang="ro-RO">
                <a:solidFill>
                  <a:srgbClr val="000000"/>
                </a:solidFill>
                <a:latin typeface="Cambria Math" panose="02040503050406030204" pitchFamily="18" charset="0"/>
              </a:rPr>
              <a:t>_0 𝑛 )</a:t>
            </a:r>
            <a:r>
              <a:rPr lang="ro-RO" altLang="ro-RO">
                <a:solidFill>
                  <a:srgbClr val="000000"/>
                </a:solidFill>
              </a:rPr>
              <a:t>este dat de prima ecuaţie. Răspunsul în frecvenţă, exprimat în cea de a doua ecuaţie reprezintă transformata Fourier în timp discret a răsunsului la impuls , h, al sistemului liniar şi invariant în timp considerat. Deoarece sistemul este liniar, se poate aplica principiul suprapunerii efectelor şi se poate arăta că răspunsul sistemului considerat la o combinaţie liniară de exponenţiale complexe (notate cu </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Φ</a:t>
            </a:r>
            <a:r>
              <a:rPr lang="ro-RO" altLang="ro-RO">
                <a:solidFill>
                  <a:srgbClr val="000000"/>
                </a:solidFill>
                <a:latin typeface="Cambria Math" panose="02040503050406030204" pitchFamily="18" charset="0"/>
              </a:rPr>
              <a:t>_𝑘 [𝑛]  </a:t>
            </a:r>
            <a:r>
              <a:rPr lang="ro-RO" altLang="ro-RO">
                <a:solidFill>
                  <a:srgbClr val="000000"/>
                </a:solidFill>
              </a:rPr>
              <a:t>în cea de a treia ecuaţie, combinaţia lor liniară fiind exprimată în cea de a patra ecuaţie) este tot o combinaţie liniară de exponenţiale complexe (ecuaţia a cincea). Această proprietate este pusă în evidenţă şi în figură. În conformitate cu relaţiile lui Euler şi semnalele armonice (sinus şi cosinus) pot fi exprimate ca şi combinaţii liniare de exponenţiale complexe de modul unitar. De exemplu semnalul </a:t>
            </a:r>
            <a:r>
              <a:rPr lang="ro-RO" altLang="ro-RO">
                <a:solidFill>
                  <a:srgbClr val="000000"/>
                </a:solidFill>
                <a:latin typeface="Cambria Math" panose="02040503050406030204" pitchFamily="18" charset="0"/>
              </a:rPr>
              <a:t>𝐴_0 𝑐𝑜𝑠</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ro-RO" altLang="ro-RO">
                <a:solidFill>
                  <a:srgbClr val="000000"/>
                </a:solidFill>
                <a:latin typeface="Cambria Math" panose="02040503050406030204" pitchFamily="18" charset="0"/>
              </a:rPr>
              <a:t>_0 𝑛</a:t>
            </a:r>
            <a:r>
              <a:rPr lang="ro-RO" altLang="ro-RO">
                <a:solidFill>
                  <a:srgbClr val="000000"/>
                </a:solidFill>
              </a:rPr>
              <a:t> poate fi exprimat ca în relaţia a şaptea, iar răspunsul sistemului la acest semnal ca în relaţia a opta. Deoarece transformata Fourier a unui semnal real (aşa cum se presupune că ar fi </a:t>
            </a:r>
            <a:r>
              <a:rPr lang="ro-RO" altLang="ro-RO">
                <a:solidFill>
                  <a:srgbClr val="000000"/>
                </a:solidFill>
                <a:latin typeface="Cambria Math" panose="02040503050406030204" pitchFamily="18" charset="0"/>
              </a:rPr>
              <a:t>ℎ[𝑛]</a:t>
            </a:r>
            <a:r>
              <a:rPr lang="ro-RO" altLang="ro-RO">
                <a:solidFill>
                  <a:srgbClr val="000000"/>
                </a:solidFill>
              </a:rPr>
              <a:t>) are modulul funcţie pară de frecvenţă şi argumentul funcţie impară de frecvenţă se poate scrie relaţia a noua, care reprezintă forma metodei armonice pentru semnale digitale. </a:t>
            </a:r>
            <a:endParaRPr lang="en-US" altLang="ro-RO">
              <a:solidFill>
                <a:srgbClr val="000000"/>
              </a:solidFill>
            </a:endParaRPr>
          </a:p>
          <a:p>
            <a:pPr eaLnBrk="1" hangingPunct="1">
              <a:spcBef>
                <a:spcPct val="0"/>
              </a:spcBef>
            </a:pPr>
            <a:endParaRPr lang="en-US" altLang="ro-RO"/>
          </a:p>
        </p:txBody>
      </p:sp>
      <p:sp>
        <p:nvSpPr>
          <p:cNvPr id="55300" name="Slide Number Placeholder 3">
            <a:extLst>
              <a:ext uri="{FF2B5EF4-FFF2-40B4-BE49-F238E27FC236}">
                <a16:creationId xmlns:a16="http://schemas.microsoft.com/office/drawing/2014/main" id="{247024EB-A375-4BE9-A737-917D594859C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EC875AA-BC36-46E3-A2D3-AB2D91AFFC39}" type="slidenum">
              <a:rPr lang="en-US" altLang="ro-RO"/>
              <a:pPr/>
              <a:t>3</a:t>
            </a:fld>
            <a:endParaRPr lang="en-US" altLang="ro-RO"/>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a:extLst>
              <a:ext uri="{FF2B5EF4-FFF2-40B4-BE49-F238E27FC236}">
                <a16:creationId xmlns:a16="http://schemas.microsoft.com/office/drawing/2014/main" id="{0459292D-CA65-4F04-BAD6-7CB607E15D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a:extLst>
              <a:ext uri="{FF2B5EF4-FFF2-40B4-BE49-F238E27FC236}">
                <a16:creationId xmlns:a16="http://schemas.microsoft.com/office/drawing/2014/main" id="{5A0072E1-BED7-41A6-916A-520BD82FB59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solidFill>
                  <a:srgbClr val="000000"/>
                </a:solidFill>
              </a:rPr>
              <a:t>Analizând transformata Fourier în timp discret a unui semnal se constată că este o funcţie periodică de frecvenţă cu perioada </a:t>
            </a:r>
            <a:r>
              <a:rPr lang="ro-RO" altLang="ro-RO">
                <a:solidFill>
                  <a:srgbClr val="000000"/>
                </a:solidFill>
                <a:latin typeface="Cambria Math" panose="02040503050406030204" pitchFamily="18" charset="0"/>
              </a:rPr>
              <a:t>2</a:t>
            </a:r>
            <a:r>
              <a:rPr lang="ro-RO"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𝜋</a:t>
            </a:r>
            <a:r>
              <a:rPr lang="ro-RO" altLang="ro-RO">
                <a:solidFill>
                  <a:srgbClr val="000000"/>
                </a:solidFill>
              </a:rPr>
              <a:t>. Într-adevăr, </a:t>
            </a:r>
            <a:r>
              <a:rPr lang="ro-RO" altLang="ro-RO">
                <a:solidFill>
                  <a:srgbClr val="000000"/>
                </a:solidFill>
                <a:latin typeface="Cambria Math" panose="02040503050406030204" pitchFamily="18" charset="0"/>
              </a:rPr>
              <a:t>𝑒^(−𝑗2</a:t>
            </a:r>
            <a:r>
              <a:rPr lang="ro-RO"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𝜋𝑛</a:t>
            </a:r>
            <a:r>
              <a:rPr lang="ro-RO" altLang="ro-RO">
                <a:solidFill>
                  <a:srgbClr val="000000"/>
                </a:solidFill>
                <a:latin typeface="Cambria Math" panose="02040503050406030204" pitchFamily="18" charset="0"/>
              </a:rPr>
              <a:t>)</a:t>
            </a:r>
            <a:r>
              <a:rPr lang="en-US" altLang="ro-RO">
                <a:solidFill>
                  <a:srgbClr val="000000"/>
                </a:solidFill>
                <a:latin typeface="Cambria Math" panose="02040503050406030204" pitchFamily="18" charset="0"/>
              </a:rPr>
              <a:t>=1. </a:t>
            </a:r>
            <a:r>
              <a:rPr lang="ro-RO" altLang="ro-RO">
                <a:solidFill>
                  <a:srgbClr val="000000"/>
                </a:solidFill>
              </a:rPr>
              <a:t>Se observă că modulul transformatei Fourier a oricărui semnal absolut sumabil este mai mic sau egal decât norma </a:t>
            </a:r>
            <a:r>
              <a:rPr lang="ro-RO" altLang="ro-RO">
                <a:solidFill>
                  <a:srgbClr val="000000"/>
                </a:solidFill>
                <a:latin typeface="Cambria Math" panose="02040503050406030204" pitchFamily="18" charset="0"/>
              </a:rPr>
              <a:t>𝑙^1</a:t>
            </a:r>
            <a:r>
              <a:rPr lang="ro-RO" altLang="ro-RO">
                <a:solidFill>
                  <a:srgbClr val="000000"/>
                </a:solidFill>
              </a:rPr>
              <a:t> a acelui semnal, adică este convergentă. </a:t>
            </a:r>
          </a:p>
          <a:p>
            <a:pPr eaLnBrk="1" hangingPunct="1">
              <a:spcBef>
                <a:spcPct val="0"/>
              </a:spcBef>
            </a:pPr>
            <a:r>
              <a:rPr lang="ro-RO" altLang="ro-RO">
                <a:solidFill>
                  <a:srgbClr val="000000"/>
                </a:solidFill>
              </a:rPr>
              <a:t>Această proprietate nu este valabilă şi în cazul semnalelor digitale de energie finită. De aceea transformata Fourier în timp discret a acestor semnale se calculează ca şi limită în medie pătratică (definită în ecuaţia a patra), ca în ecuaţia a cincea. Astfel atât semnalul digital cât şi spectrul său sunt de energie finită.</a:t>
            </a:r>
            <a:endParaRPr lang="en-US" altLang="ro-RO">
              <a:solidFill>
                <a:srgbClr val="000000"/>
              </a:solidFill>
            </a:endParaRPr>
          </a:p>
          <a:p>
            <a:pPr eaLnBrk="1" hangingPunct="1">
              <a:spcBef>
                <a:spcPct val="0"/>
              </a:spcBef>
            </a:pPr>
            <a:endParaRPr lang="en-US" altLang="ro-RO">
              <a:solidFill>
                <a:srgbClr val="000000"/>
              </a:solidFill>
            </a:endParaRPr>
          </a:p>
          <a:p>
            <a:pPr eaLnBrk="1" hangingPunct="1">
              <a:spcBef>
                <a:spcPct val="0"/>
              </a:spcBef>
            </a:pPr>
            <a:endParaRPr lang="en-US" altLang="ro-RO"/>
          </a:p>
        </p:txBody>
      </p:sp>
      <p:sp>
        <p:nvSpPr>
          <p:cNvPr id="56324" name="Slide Number Placeholder 3">
            <a:extLst>
              <a:ext uri="{FF2B5EF4-FFF2-40B4-BE49-F238E27FC236}">
                <a16:creationId xmlns:a16="http://schemas.microsoft.com/office/drawing/2014/main" id="{FE507EB9-CFFC-40B4-AEDB-6AEBFD1858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F076B8E-B232-4002-B6DC-A29C882A10CF}" type="slidenum">
              <a:rPr lang="en-US" altLang="ro-RO"/>
              <a:pPr/>
              <a:t>4</a:t>
            </a:fld>
            <a:endParaRPr lang="en-US" altLang="ro-RO"/>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a:extLst>
              <a:ext uri="{FF2B5EF4-FFF2-40B4-BE49-F238E27FC236}">
                <a16:creationId xmlns:a16="http://schemas.microsoft.com/office/drawing/2014/main" id="{09F2292C-D5C7-4D54-8B53-5A89533BF2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a:extLst>
              <a:ext uri="{FF2B5EF4-FFF2-40B4-BE49-F238E27FC236}">
                <a16:creationId xmlns:a16="http://schemas.microsoft.com/office/drawing/2014/main" id="{A6060862-72B3-4D7B-B685-3245848895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ro-RO">
                <a:solidFill>
                  <a:srgbClr val="000000"/>
                </a:solidFill>
              </a:rPr>
              <a:t>Semnalul </a:t>
            </a:r>
            <a:r>
              <a:rPr lang="en-US" altLang="ro-RO">
                <a:solidFill>
                  <a:srgbClr val="000000"/>
                </a:solidFill>
                <a:latin typeface="Cambria Math" panose="02040503050406030204" pitchFamily="18" charset="0"/>
              </a:rPr>
              <a:t>𝑥[𝑛]  </a:t>
            </a:r>
            <a:r>
              <a:rPr lang="en-US" altLang="ro-RO">
                <a:solidFill>
                  <a:srgbClr val="000000"/>
                </a:solidFill>
              </a:rPr>
              <a:t>este o poart</a:t>
            </a:r>
            <a:r>
              <a:rPr lang="ro-RO" altLang="ro-RO">
                <a:solidFill>
                  <a:srgbClr val="000000"/>
                </a:solidFill>
              </a:rPr>
              <a:t>ă temporală în timp discret care se declanşează la momentul </a:t>
            </a:r>
            <a:r>
              <a:rPr lang="ro-RO" altLang="ro-RO">
                <a:solidFill>
                  <a:srgbClr val="000000"/>
                </a:solidFill>
                <a:latin typeface="Cambria Math" panose="02040503050406030204" pitchFamily="18" charset="0"/>
              </a:rPr>
              <a:t>−𝑁_1  </a:t>
            </a:r>
            <a:r>
              <a:rPr lang="ro-RO" altLang="ro-RO">
                <a:solidFill>
                  <a:srgbClr val="000000"/>
                </a:solidFill>
              </a:rPr>
              <a:t>şi se încheie la momentul </a:t>
            </a:r>
            <a:r>
              <a:rPr lang="ro-RO" altLang="ro-RO">
                <a:solidFill>
                  <a:srgbClr val="000000"/>
                </a:solidFill>
                <a:latin typeface="Cambria Math" panose="02040503050406030204" pitchFamily="18" charset="0"/>
              </a:rPr>
              <a:t>𝑁_1</a:t>
            </a:r>
            <a:r>
              <a:rPr lang="ro-RO" altLang="ro-RO">
                <a:solidFill>
                  <a:srgbClr val="000000"/>
                </a:solidFill>
              </a:rPr>
              <a:t>. Transformata sa Fourier în timp discret este calculată în cea de a patra ecuaţie. Făcând schimbarea de variabilă </a:t>
            </a:r>
            <a:r>
              <a:rPr lang="ro-RO" altLang="ro-RO">
                <a:solidFill>
                  <a:srgbClr val="000000"/>
                </a:solidFill>
                <a:latin typeface="Cambria Math" panose="02040503050406030204" pitchFamily="18" charset="0"/>
              </a:rPr>
              <a:t>𝑚</a:t>
            </a:r>
            <a:r>
              <a:rPr lang="en-US" altLang="ro-RO">
                <a:solidFill>
                  <a:srgbClr val="000000"/>
                </a:solidFill>
                <a:latin typeface="Cambria Math" panose="02040503050406030204" pitchFamily="18" charset="0"/>
              </a:rPr>
              <a:t>=𝑛+𝑁_1  </a:t>
            </a:r>
            <a:r>
              <a:rPr lang="en-US" altLang="ro-RO">
                <a:solidFill>
                  <a:srgbClr val="000000"/>
                </a:solidFill>
              </a:rPr>
              <a:t>se ob</a:t>
            </a:r>
            <a:r>
              <a:rPr lang="ro-RO" altLang="ro-RO">
                <a:solidFill>
                  <a:srgbClr val="000000"/>
                </a:solidFill>
              </a:rPr>
              <a:t>ţine cea de a cincea ecuaţie, sau după ce se dă factor comun, cea de a şasea ecuaţie. Calculând suma progresiei geometrice din membrul drept se obţine cea de a şaptea ecuaţie. Dând factor comun forţat exponenţialele de la numărător şi numitor se obţine raportul dintre sinusurile din ultima ecuaţie. Simplificând cu </a:t>
            </a:r>
            <a:r>
              <a:rPr lang="ro-RO" altLang="ro-RO">
                <a:solidFill>
                  <a:srgbClr val="000000"/>
                </a:solidFill>
                <a:latin typeface="Cambria Math" panose="02040503050406030204" pitchFamily="18" charset="0"/>
              </a:rPr>
              <a:t>2𝑗</a:t>
            </a:r>
            <a:r>
              <a:rPr lang="ro-RO" altLang="ro-RO">
                <a:solidFill>
                  <a:srgbClr val="000000"/>
                </a:solidFill>
              </a:rPr>
              <a:t> se obţine expresia transformatei Fourier în timp discret din enunţ. </a:t>
            </a:r>
            <a:endParaRPr lang="en-US" altLang="ro-RO">
              <a:solidFill>
                <a:srgbClr val="000000"/>
              </a:solidFill>
            </a:endParaRPr>
          </a:p>
          <a:p>
            <a:pPr eaLnBrk="1" hangingPunct="1">
              <a:spcBef>
                <a:spcPct val="0"/>
              </a:spcBef>
            </a:pPr>
            <a:endParaRPr lang="en-US" altLang="ro-RO"/>
          </a:p>
        </p:txBody>
      </p:sp>
      <p:sp>
        <p:nvSpPr>
          <p:cNvPr id="57348" name="Slide Number Placeholder 3">
            <a:extLst>
              <a:ext uri="{FF2B5EF4-FFF2-40B4-BE49-F238E27FC236}">
                <a16:creationId xmlns:a16="http://schemas.microsoft.com/office/drawing/2014/main" id="{5AD40F07-1233-49B7-8DE9-4DF9D705E64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D240B35-9458-49DF-A700-47B912A6363B}" type="slidenum">
              <a:rPr lang="en-US" altLang="ro-RO"/>
              <a:pPr/>
              <a:t>5</a:t>
            </a:fld>
            <a:endParaRPr lang="en-US" altLang="ro-R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a:extLst>
              <a:ext uri="{FF2B5EF4-FFF2-40B4-BE49-F238E27FC236}">
                <a16:creationId xmlns:a16="http://schemas.microsoft.com/office/drawing/2014/main" id="{C42E8480-069C-40FE-A96A-94B7AB2749F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a:extLst>
              <a:ext uri="{FF2B5EF4-FFF2-40B4-BE49-F238E27FC236}">
                <a16:creationId xmlns:a16="http://schemas.microsoft.com/office/drawing/2014/main" id="{1B957C1A-5FAA-4E41-B8AB-4E974ADFBD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t>Proprietăţile transformării Fourier sunt prezentate în tabelul 5.2. Întrucât aceste proprietăţi sunt foarte utile în rezolvarea problemelor aveţi dreptul să utilizaţi tabelul 5.2. la seminar şi la examene. Aceste proprietăţi sunt asemănătoare proprietăţilor transformării Fourier a semnalelor analogice. Ele se demonstrează cu uşurinţă pe baza definiţiei transformării Fourier în timp discret. </a:t>
            </a:r>
          </a:p>
          <a:p>
            <a:pPr eaLnBrk="1" hangingPunct="1">
              <a:spcBef>
                <a:spcPct val="0"/>
              </a:spcBef>
            </a:pPr>
            <a:r>
              <a:rPr lang="ro-RO" altLang="ro-RO"/>
              <a:t>În conformitate cu prima proprietate, transformarea Fourier în timp discret este linară. În conformitate cu proprietatea a doua, operaţiei de translaţie în timp îi corespunde operaţia de înmulţire cu o exponenţială complexă de modul unitar în domeniul frecvenţă.  </a:t>
            </a:r>
            <a:endParaRPr lang="en-US" altLang="ro-RO"/>
          </a:p>
        </p:txBody>
      </p:sp>
      <p:sp>
        <p:nvSpPr>
          <p:cNvPr id="58372" name="Slide Number Placeholder 3">
            <a:extLst>
              <a:ext uri="{FF2B5EF4-FFF2-40B4-BE49-F238E27FC236}">
                <a16:creationId xmlns:a16="http://schemas.microsoft.com/office/drawing/2014/main" id="{7F156DF8-6ED6-4D06-8285-32B8E3106B1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8BDF863-EB9C-4D00-A576-18678BC3932C}" type="slidenum">
              <a:rPr lang="en-US" altLang="ro-RO"/>
              <a:pPr/>
              <a:t>6</a:t>
            </a:fld>
            <a:endParaRPr lang="en-US" altLang="ro-RO"/>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a:extLst>
              <a:ext uri="{FF2B5EF4-FFF2-40B4-BE49-F238E27FC236}">
                <a16:creationId xmlns:a16="http://schemas.microsoft.com/office/drawing/2014/main" id="{2B79EE1F-3A35-4809-88FD-2E86AF907CD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a:extLst>
              <a:ext uri="{FF2B5EF4-FFF2-40B4-BE49-F238E27FC236}">
                <a16:creationId xmlns:a16="http://schemas.microsoft.com/office/drawing/2014/main" id="{C212C089-A499-4BE8-926C-ED8AA751AD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t>În conformitate cu proprietatea a treia (de modulare în domeniul timp) operaţiei de înmulţire cu o exponenţială complexă în domeniul timp îi corespunde o operaţie de translaţie în domeniul frecvenţă. </a:t>
            </a:r>
            <a:r>
              <a:rPr lang="en-US" altLang="ro-RO"/>
              <a:t>Opera</a:t>
            </a:r>
            <a:r>
              <a:rPr lang="ro-RO" altLang="ro-RO"/>
              <a:t>ţia de scalare a variabilei timp în cazul semnalelor digitale este definită ca în prima ecuaţie. După schimbarea de variabilă </a:t>
            </a:r>
            <a:r>
              <a:rPr lang="ro-RO" altLang="ro-RO">
                <a:latin typeface="Cambria Math" panose="02040503050406030204" pitchFamily="18" charset="0"/>
              </a:rPr>
              <a:t>𝑛</a:t>
            </a:r>
            <a:r>
              <a:rPr lang="en-US" altLang="ro-RO">
                <a:latin typeface="Cambria Math" panose="02040503050406030204" pitchFamily="18" charset="0"/>
              </a:rPr>
              <a:t>=𝑘𝑙</a:t>
            </a:r>
            <a:r>
              <a:rPr lang="en-US" altLang="ro-RO"/>
              <a:t>, se ob</a:t>
            </a:r>
            <a:r>
              <a:rPr lang="ro-RO" altLang="ro-RO"/>
              <a:t>ţine cea de a doua ecuaţie. Spectrul semnalului scalat în domeniul timp este egal cu </a:t>
            </a:r>
            <a:r>
              <a:rPr lang="ro-RO" altLang="ro-RO">
                <a:latin typeface="Cambria Math" panose="02040503050406030204" pitchFamily="18" charset="0"/>
              </a:rPr>
              <a:t>𝑋(𝑘</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a:t>
            </a:r>
            <a:r>
              <a:rPr lang="ro-RO" altLang="ro-RO"/>
              <a:t>. Operaţiei de dilatare în domeniul timp îi corespunde operaţia de compresie în domeniul frecvenţă şi reciproc. </a:t>
            </a:r>
          </a:p>
          <a:p>
            <a:pPr eaLnBrk="1" hangingPunct="1">
              <a:spcBef>
                <a:spcPct val="0"/>
              </a:spcBef>
            </a:pPr>
            <a:r>
              <a:rPr lang="ro-RO" altLang="ro-RO"/>
              <a:t>Cea de a cincea proprietate a transformării Fourier în timp discret se referă la conjugarea complexă în domeniul timp. Acesteia îi corespunde o oeraţie de reflectare şi una de conjugare complexă în domeniul frecvenţă. </a:t>
            </a:r>
          </a:p>
          <a:p>
            <a:pPr eaLnBrk="1" hangingPunct="1">
              <a:spcBef>
                <a:spcPct val="0"/>
              </a:spcBef>
            </a:pPr>
            <a:endParaRPr lang="en-US" altLang="ro-RO"/>
          </a:p>
        </p:txBody>
      </p:sp>
      <p:sp>
        <p:nvSpPr>
          <p:cNvPr id="59396" name="Slide Number Placeholder 3">
            <a:extLst>
              <a:ext uri="{FF2B5EF4-FFF2-40B4-BE49-F238E27FC236}">
                <a16:creationId xmlns:a16="http://schemas.microsoft.com/office/drawing/2014/main" id="{7307326E-13D5-498E-8755-7F2A5B78AAC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ABB3E30-45FE-4A80-BDF0-9E7A636950F6}" type="slidenum">
              <a:rPr lang="en-US" altLang="ro-RO"/>
              <a:pPr/>
              <a:t>7</a:t>
            </a:fld>
            <a:endParaRPr lang="en-US" altLang="ro-RO"/>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a:extLst>
              <a:ext uri="{FF2B5EF4-FFF2-40B4-BE49-F238E27FC236}">
                <a16:creationId xmlns:a16="http://schemas.microsoft.com/office/drawing/2014/main" id="{5877FCE0-9816-40D3-A8D8-8F8A92BC59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a:extLst>
              <a:ext uri="{FF2B5EF4-FFF2-40B4-BE49-F238E27FC236}">
                <a16:creationId xmlns:a16="http://schemas.microsoft.com/office/drawing/2014/main" id="{BECE2C0B-5AEB-4B47-BC41-F4827175B6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t>Proprietatea transformatei Fourier în timp discret de reflectare în domeniul timp a semnalului este autoduală, corespunzându-i o operaţie de reflectare în domeniul frecvenţă. </a:t>
            </a:r>
          </a:p>
          <a:p>
            <a:pPr eaLnBrk="1" hangingPunct="1">
              <a:spcBef>
                <a:spcPct val="0"/>
              </a:spcBef>
            </a:pPr>
            <a:r>
              <a:rPr lang="ro-RO" altLang="ro-RO"/>
              <a:t>Proprietatea a şaptea a transformatei Fourier în timp discret se referă la diferenţierea în domeniul timp. Transformata Fourier în timp discret a diferenţei finită înapoi este egală cu produsul dintre </a:t>
            </a:r>
            <a:r>
              <a:rPr lang="ro-RO" altLang="ro-RO">
                <a:latin typeface="Cambria Math" panose="02040503050406030204" pitchFamily="18" charset="0"/>
              </a:rPr>
              <a:t>1−𝑒^(−𝑗</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a:t>
            </a:r>
            <a:r>
              <a:rPr lang="ro-RO" altLang="ro-RO"/>
              <a:t> şi transformata Fourier în timp discret a semnalului </a:t>
            </a:r>
            <a:r>
              <a:rPr lang="ro-RO" altLang="ro-RO">
                <a:latin typeface="Cambria Math" panose="02040503050406030204" pitchFamily="18" charset="0"/>
              </a:rPr>
              <a:t>𝑥[𝑛].</a:t>
            </a:r>
            <a:r>
              <a:rPr lang="ro-RO" altLang="ro-RO"/>
              <a:t> </a:t>
            </a:r>
          </a:p>
          <a:p>
            <a:pPr eaLnBrk="1" hangingPunct="1">
              <a:spcBef>
                <a:spcPct val="0"/>
              </a:spcBef>
            </a:pPr>
            <a:r>
              <a:rPr lang="ro-RO" altLang="ro-RO"/>
              <a:t>Una dintre cele mai importante proprietăţi ale transformatei Fourier în timp discret este proprietatea a opta, conform căreia transformata Fourier în timp discret a convoluţiei a două semnale este egală cu produsul transformatelor Fourier în timp discret ale celor două semnale. </a:t>
            </a:r>
            <a:endParaRPr lang="en-US" altLang="ro-RO"/>
          </a:p>
        </p:txBody>
      </p:sp>
      <p:sp>
        <p:nvSpPr>
          <p:cNvPr id="60420" name="Slide Number Placeholder 3">
            <a:extLst>
              <a:ext uri="{FF2B5EF4-FFF2-40B4-BE49-F238E27FC236}">
                <a16:creationId xmlns:a16="http://schemas.microsoft.com/office/drawing/2014/main" id="{3F1604D9-9638-423B-83DA-FD39EBEFFE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7349E6E-43BE-4FE8-A065-0A5014649DE5}" type="slidenum">
              <a:rPr lang="en-US" altLang="ro-RO"/>
              <a:pPr/>
              <a:t>8</a:t>
            </a:fld>
            <a:endParaRPr lang="en-US" altLang="ro-RO"/>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a:extLst>
              <a:ext uri="{FF2B5EF4-FFF2-40B4-BE49-F238E27FC236}">
                <a16:creationId xmlns:a16="http://schemas.microsoft.com/office/drawing/2014/main" id="{241F8163-EDDD-4313-9FB8-258BE23ECC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a:extLst>
              <a:ext uri="{FF2B5EF4-FFF2-40B4-BE49-F238E27FC236}">
                <a16:creationId xmlns:a16="http://schemas.microsoft.com/office/drawing/2014/main" id="{4919FF30-28D4-4966-8576-2A66833056D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t>Operaţia de însumare în domeniul timp a semnalelor digitale este echivalentă cu operaţia de integrare a semnalelor analogice. De aceea formula transformatei Fourier în timp discret a semnalului digital, din proprietatea a noua este foarte asemănătoare cu formula de integrare a semnalelor analogice, din prima relaţie. Există totuşi două diferenţe : la numitorul primului termen din membrul drept apare </a:t>
            </a:r>
            <a:r>
              <a:rPr lang="ro-RO" altLang="ro-RO">
                <a:latin typeface="Cambria Math" panose="02040503050406030204" pitchFamily="18" charset="0"/>
              </a:rPr>
              <a:t>1−𝑒^(−𝑗</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  </a:t>
            </a:r>
            <a:r>
              <a:rPr lang="ro-RO" altLang="ro-RO"/>
              <a:t>factor specific operaţiei de diferenţiere în timp discret (în loc de </a:t>
            </a:r>
            <a:r>
              <a:rPr lang="ro-RO" altLang="ro-RO">
                <a:latin typeface="Cambria Math" panose="02040503050406030204" pitchFamily="18" charset="0"/>
              </a:rPr>
              <a:t>𝑗</a:t>
            </a:r>
            <a:r>
              <a:rPr lang="ro-RO" altLang="ro-RO">
                <a:latin typeface="Cambria Math" panose="02040503050406030204" pitchFamily="18" charset="0"/>
                <a:ea typeface="Cambria Math" panose="02040503050406030204" pitchFamily="18" charset="0"/>
                <a:cs typeface="Cambria Math" panose="02040503050406030204" pitchFamily="18" charset="0"/>
              </a:rPr>
              <a:t>𝜔</a:t>
            </a:r>
            <a:r>
              <a:rPr lang="ro-RO" altLang="ro-RO"/>
              <a:t> factor specific în cazul diferenţierii în timp continuu) iar în cel de al doilea termen apare distribuţia Dirac periodică de perioadă </a:t>
            </a:r>
            <a:r>
              <a:rPr lang="ro-RO" altLang="ro-RO">
                <a:latin typeface="Cambria Math" panose="02040503050406030204" pitchFamily="18" charset="0"/>
              </a:rPr>
              <a:t>2</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t> în locul distribuţiei Dirac. </a:t>
            </a:r>
          </a:p>
          <a:p>
            <a:pPr eaLnBrk="1" hangingPunct="1">
              <a:spcBef>
                <a:spcPct val="0"/>
              </a:spcBef>
            </a:pPr>
            <a:r>
              <a:rPr lang="ro-RO" altLang="ro-RO"/>
              <a:t>În conformitate cu proprietatea a zecea, transformata Fourier a produsului a două semnale digitale este proporţională cu convoluţia circulară a transformatelor Fourier în timp discret a celor două semnale (se calculează convoluţia circulară deoarece cele două transformate Fourier în timp discret sunt funcţii periodice de perioadă </a:t>
            </a:r>
            <a:r>
              <a:rPr lang="ro-RO" altLang="ro-RO">
                <a:latin typeface="Cambria Math" panose="02040503050406030204" pitchFamily="18" charset="0"/>
              </a:rPr>
              <a:t>2</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t>. </a:t>
            </a:r>
          </a:p>
          <a:p>
            <a:pPr eaLnBrk="1" hangingPunct="1">
              <a:spcBef>
                <a:spcPct val="0"/>
              </a:spcBef>
            </a:pPr>
            <a:r>
              <a:rPr lang="ro-RO" altLang="ro-RO"/>
              <a:t>Opearţiei de derivare în domeniul frecvenţă din proprietatea a unsprezecea îi corespunde operaţia de înmulţire cu n în domeniul timp.  </a:t>
            </a:r>
            <a:endParaRPr lang="en-US" altLang="ro-RO"/>
          </a:p>
        </p:txBody>
      </p:sp>
      <p:sp>
        <p:nvSpPr>
          <p:cNvPr id="61444" name="Slide Number Placeholder 3">
            <a:extLst>
              <a:ext uri="{FF2B5EF4-FFF2-40B4-BE49-F238E27FC236}">
                <a16:creationId xmlns:a16="http://schemas.microsoft.com/office/drawing/2014/main" id="{4813D293-6FF2-447C-84B3-D25D3A452BC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58714B2-AE1E-4967-A4BC-95E2AAB5510F}" type="slidenum">
              <a:rPr lang="en-US" altLang="ro-RO"/>
              <a:pPr/>
              <a:t>9</a:t>
            </a:fld>
            <a:endParaRPr lang="en-US" altLang="ro-RO"/>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a:extLst>
              <a:ext uri="{FF2B5EF4-FFF2-40B4-BE49-F238E27FC236}">
                <a16:creationId xmlns:a16="http://schemas.microsoft.com/office/drawing/2014/main" id="{BF1B8FE2-C011-4A81-977C-D99B7C0941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a:extLst>
              <a:ext uri="{FF2B5EF4-FFF2-40B4-BE49-F238E27FC236}">
                <a16:creationId xmlns:a16="http://schemas.microsoft.com/office/drawing/2014/main" id="{0511A132-FC78-48EC-BC7D-8DE7E92CFB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t>Proprietatea 12 se referă la semnale digitale reale. Acestea sunt egale cu conjugatele lor complexe (după cum se vede în prima ecuaţie). De aceea şi transformata Fourier în timp discret a semnalului conjugat este egală cu transformata Fourier în timp discret a semnalului (ecuaţia a doua). Calculând transformata Fourier în timp discret a părţii pare a semnalului real se obţine partea reală a transformatei Fourier în timp discret a semnalului real. Transformata Fourier în timp discret a părţii impare a semnalului real este egală cu de j ori partea imaginară a transformatei Fourier a semnalului real. Modulul transformatei Fourier în timp discret a a semnalului real este funcţie pară de frecvenţă iar argumentul transformatei Fourier a semnalului real este funcţie impară de frecvenţă. Partea reală a transformatei Fourier în timp discret a semnalului real este funcţie pară de frecvenţă iar partea imaginară a transformatei Fourier în timp discret a semnalului real este funcţie impară de frecvenţă. La fel ca în cazul semnalelor analogice şi în cazul semnalelor digitale este valabilă relaţia lui Parseval. Energia oricărui semnal de energie finită poate fi calculată atât în domeniul timp (ca în membrul stâng al ecuaţiei a şaptea) cât şi în domeniul frecvenţă (ca în membrul drept al ecuaţiei a şaptea). Ambii membri ai ecuaţiei a şaptea pot fi exprimaţi ca şi norme </a:t>
            </a:r>
            <a:r>
              <a:rPr lang="ro-RO" altLang="ro-RO">
                <a:latin typeface="Cambria Math" panose="02040503050406030204" pitchFamily="18" charset="0"/>
              </a:rPr>
              <a:t>𝑙^2  </a:t>
            </a:r>
            <a:r>
              <a:rPr lang="ro-RO" altLang="ro-RO"/>
              <a:t>ale transformatei Fourier în timp discret respectiv a semnalului. Mai general, relaţia lui Parseval reprezintă egalitatea a două produse scalare. </a:t>
            </a:r>
            <a:endParaRPr lang="en-US" altLang="ro-RO"/>
          </a:p>
        </p:txBody>
      </p:sp>
      <p:sp>
        <p:nvSpPr>
          <p:cNvPr id="62468" name="Slide Number Placeholder 3">
            <a:extLst>
              <a:ext uri="{FF2B5EF4-FFF2-40B4-BE49-F238E27FC236}">
                <a16:creationId xmlns:a16="http://schemas.microsoft.com/office/drawing/2014/main" id="{4CFBAA14-7201-4E52-91C2-C16D0BA3CA3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C37F76D-E2EE-4107-8965-3BE0801CD14C}" type="slidenum">
              <a:rPr lang="en-US" altLang="ro-RO"/>
              <a:pPr/>
              <a:t>10</a:t>
            </a:fld>
            <a:endParaRPr lang="en-US" altLang="ro-RO"/>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a:extLst>
              <a:ext uri="{FF2B5EF4-FFF2-40B4-BE49-F238E27FC236}">
                <a16:creationId xmlns:a16="http://schemas.microsoft.com/office/drawing/2014/main" id="{49DB534B-E399-4898-A04A-D2A1D775C12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a:extLst>
              <a:ext uri="{FF2B5EF4-FFF2-40B4-BE49-F238E27FC236}">
                <a16:creationId xmlns:a16="http://schemas.microsoft.com/office/drawing/2014/main" id="{716BEB9D-FABD-4F64-B777-0368766DA7D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ro-RO" altLang="ro-RO"/>
              <a:t>Pe baza relaţiei lui Parseval se poate constata că pătratul modulului transformatei Fourier în timp discret reprezintă o densitate spectrală de energie (întrucât integrala sa în domeniul frecvenţă este egală cu energia semnalului).</a:t>
            </a:r>
            <a:endParaRPr lang="en-US" altLang="ro-RO"/>
          </a:p>
        </p:txBody>
      </p:sp>
      <p:sp>
        <p:nvSpPr>
          <p:cNvPr id="63492" name="Slide Number Placeholder 3">
            <a:extLst>
              <a:ext uri="{FF2B5EF4-FFF2-40B4-BE49-F238E27FC236}">
                <a16:creationId xmlns:a16="http://schemas.microsoft.com/office/drawing/2014/main" id="{8AED9A94-63DB-41D1-A82D-E3653B41349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D55C0DC-2F96-4D2F-9A6C-7CCFA69056F6}" type="slidenum">
              <a:rPr lang="en-US" altLang="ro-RO"/>
              <a:pPr/>
              <a:t>11</a:t>
            </a:fld>
            <a:endParaRPr lang="en-US" altLang="ro-RO"/>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70C889C9-DDCF-4623-BA84-7EFC233EFF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0349453C-84E8-4A27-BAE3-51E975B945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ro-RO" altLang="ro-RO"/>
              <a:t>Semnalul digital periodic de perioadă N, x</a:t>
            </a:r>
            <a:r>
              <a:rPr lang="en-US" altLang="ro-RO"/>
              <a:t>[n] are descompunerea </a:t>
            </a:r>
            <a:r>
              <a:rPr lang="ro-RO" altLang="ro-RO"/>
              <a:t>î</a:t>
            </a:r>
            <a:r>
              <a:rPr lang="en-US" altLang="ro-RO"/>
              <a:t>n serie</a:t>
            </a:r>
            <a:r>
              <a:rPr lang="ro-RO" altLang="ro-RO"/>
              <a:t> Fourier din cea de a doua ecuaţie unde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_0</a:t>
            </a:r>
            <a:r>
              <a:rPr lang="en-US" altLang="ro-RO">
                <a:latin typeface="Cambria Math" panose="02040503050406030204" pitchFamily="18" charset="0"/>
              </a:rPr>
              <a:t>=2</a:t>
            </a:r>
            <a:r>
              <a:rPr lang="en-US" altLang="ro-RO">
                <a:latin typeface="Cambria Math" panose="02040503050406030204" pitchFamily="18" charset="0"/>
                <a:ea typeface="Cambria Math" panose="02040503050406030204" pitchFamily="18" charset="0"/>
                <a:cs typeface="Cambria Math" panose="02040503050406030204" pitchFamily="18" charset="0"/>
              </a:rPr>
              <a:t>𝜋</a:t>
            </a:r>
            <a:r>
              <a:rPr lang="en-US" altLang="ro-RO">
                <a:latin typeface="Cambria Math" panose="02040503050406030204" pitchFamily="18" charset="0"/>
              </a:rPr>
              <a:t>/𝑁</a:t>
            </a:r>
            <a:r>
              <a:rPr lang="en-US" altLang="ro-RO"/>
              <a:t> iar coeficien</a:t>
            </a:r>
            <a:r>
              <a:rPr lang="ro-RO" altLang="ro-RO"/>
              <a:t>ţii Fourier se exprimă ca în cea de a treia ecuaţie. Numeroase probleme de prelucrare a semnalelor periodice în timp discret se pot rezolva uşor folosind tabelul 5.1, în care sunt prezentate proprietăţile seriei Fourier în timp discret. De aceea se recomadă să vă imprimaţi acest tabel şi să-l aduceţi cu voi la examen. Comparând expresiile coeficienţilor Fourier şi a transformatei Fourier în timp discret a restricţiei semnalului la perioada principală se constată că acestea sunt legate prin relaţia din cea de a patra ecuaţie. Fie de exemplu semnalul periodic de tip exponenţială complexă de modul unitar </a:t>
            </a:r>
            <a:r>
              <a:rPr lang="ro-RO" altLang="ro-RO">
                <a:latin typeface="Cambria Math" panose="02040503050406030204" pitchFamily="18" charset="0"/>
                <a:ea typeface="Cambria Math" panose="02040503050406030204" pitchFamily="18" charset="0"/>
                <a:cs typeface="Cambria Math" panose="02040503050406030204" pitchFamily="18" charset="0"/>
              </a:rPr>
              <a:t>𝜙[𝑛]</a:t>
            </a:r>
            <a:r>
              <a:rPr lang="ro-RO" altLang="ro-RO"/>
              <a:t> din cea de a cincea ecuaţie. Transformata sa Fourier este exprimată în cea de a şasea ecuaţie După cum se ştie de la studiul distribuţiilor periodice, dezvoltarea în serie Fourier a distribuţiei Dirac periodică de perioadă </a:t>
            </a:r>
            <a:r>
              <a:rPr lang="ro-RO" altLang="ro-RO">
                <a:latin typeface="Cambria Math" panose="02040503050406030204" pitchFamily="18" charset="0"/>
                <a:ea typeface="Cambria Math" panose="02040503050406030204" pitchFamily="18" charset="0"/>
                <a:cs typeface="Cambria Math" panose="02040503050406030204" pitchFamily="18" charset="0"/>
              </a:rPr>
              <a:t>𝜔</a:t>
            </a:r>
            <a:r>
              <a:rPr lang="ro-RO" altLang="ro-RO">
                <a:latin typeface="Cambria Math" panose="02040503050406030204" pitchFamily="18" charset="0"/>
              </a:rPr>
              <a:t>_0  </a:t>
            </a:r>
            <a:r>
              <a:rPr lang="ro-RO" altLang="ro-RO"/>
              <a:t>(definită în cea de a şaptea ecuaţie) este cea din cea de a opta ecuaţie. Substituind </a:t>
            </a:r>
            <a:r>
              <a:rPr lang="el-GR" altLang="ro-RO"/>
              <a:t>ω</a:t>
            </a:r>
            <a:r>
              <a:rPr lang="ro-RO" altLang="ro-RO"/>
              <a:t> cu </a:t>
            </a:r>
            <a:r>
              <a:rPr lang="el-GR" altLang="ro-RO"/>
              <a:t>Ω</a:t>
            </a:r>
            <a:r>
              <a:rPr lang="ro-RO" altLang="ro-RO"/>
              <a:t> şi </a:t>
            </a:r>
            <a:r>
              <a:rPr lang="ro-RO" altLang="ro-RO">
                <a:latin typeface="Cambria Math" panose="02040503050406030204" pitchFamily="18" charset="0"/>
                <a:ea typeface="Cambria Math" panose="02040503050406030204" pitchFamily="18" charset="0"/>
                <a:cs typeface="Cambria Math" panose="02040503050406030204" pitchFamily="18" charset="0"/>
              </a:rPr>
              <a:t>𝜔</a:t>
            </a:r>
            <a:r>
              <a:rPr lang="ro-RO" altLang="ro-RO">
                <a:latin typeface="Cambria Math" panose="02040503050406030204" pitchFamily="18" charset="0"/>
              </a:rPr>
              <a:t>_0</a:t>
            </a:r>
            <a:r>
              <a:rPr lang="ro-RO" altLang="ro-RO"/>
              <a:t> cu 2</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t> se obţin cea de a noua şi cea de a zecea ecuaţie. Comparând ecuaţiile a şasea şi a zecea rezultă că transformata Fourier în timp discret a exponenţialei complexe de modul unitar este proporţională cu distribuţia Dirac periodică de perioadă 2</a:t>
            </a:r>
            <a:r>
              <a:rPr lang="el-GR" altLang="ro-RO"/>
              <a:t>π</a:t>
            </a:r>
            <a:r>
              <a:rPr lang="ro-RO" altLang="ro-RO"/>
              <a:t> întârziată cu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_0</a:t>
            </a:r>
            <a:r>
              <a:rPr lang="ro-RO" altLang="ro-RO"/>
              <a:t> (ecuaţia a unsprezecea). În figură este reprezentată această transformată Fourier în timp discret. Acest exemplu demonstrează că şi semnalele digitale periodice au transformată Fourier în timp discret în sensul distribuţiilor. </a:t>
            </a:r>
            <a:endParaRPr lang="en-US" altLang="ro-RO"/>
          </a:p>
        </p:txBody>
      </p:sp>
      <p:sp>
        <p:nvSpPr>
          <p:cNvPr id="64516" name="Slide Number Placeholder 3">
            <a:extLst>
              <a:ext uri="{FF2B5EF4-FFF2-40B4-BE49-F238E27FC236}">
                <a16:creationId xmlns:a16="http://schemas.microsoft.com/office/drawing/2014/main" id="{968C3B9F-3363-41BA-B7C6-F6423FA1155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75CB68A-662A-4A5C-B87D-3228655FFEA3}" type="slidenum">
              <a:rPr lang="en-US" altLang="ro-RO"/>
              <a:pPr/>
              <a:t>12</a:t>
            </a:fld>
            <a:endParaRPr lang="en-US" altLang="ro-RO"/>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C65A4ECE-F175-4F7C-BE46-504DB92754E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467372BA-360B-4426-A3BC-506FA2F35E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ro-RO" altLang="ro-RO"/>
              <a:t>În continuare se generalizează exemplul anterior pentru cazul unui semnal digital</a:t>
            </a:r>
            <a:r>
              <a:rPr lang="en-US" altLang="ro-RO"/>
              <a:t> </a:t>
            </a:r>
            <a:r>
              <a:rPr lang="ro-RO" altLang="ro-RO"/>
              <a:t>periodic oarecare. Pentru aceasta, în ambii membri ai dezvoltării în serie Fourier a semnalului digital periodic x</a:t>
            </a:r>
            <a:r>
              <a:rPr lang="en-US" altLang="ro-RO"/>
              <a:t>[n] din prima ecua</a:t>
            </a:r>
            <a:r>
              <a:rPr lang="ro-RO" altLang="ro-RO"/>
              <a:t>ţie se calculează transformata Fourier în timp discret. Întrucât tocmai s-a calculat transformata Fourier în timp discret a exponenţialei complexe de modul unitar în timp discret din cea de a doua relaţie, substituind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_0</a:t>
            </a:r>
            <a:r>
              <a:rPr lang="ro-RO" altLang="ro-RO"/>
              <a:t> cu </a:t>
            </a:r>
            <a:r>
              <a:rPr lang="ro-RO" altLang="ro-RO">
                <a:latin typeface="Cambria Math" panose="02040503050406030204" pitchFamily="18" charset="0"/>
              </a:rPr>
              <a:t>𝑘</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_0  </a:t>
            </a:r>
            <a:r>
              <a:rPr lang="ro-RO" altLang="ro-RO"/>
              <a:t>se obţine transformata Fourier în timp discret a exponenţialei complexe din expresia dezvoltării în serie Fourier a semnalului digital periodic considerat din cea de a treia relaţie. În consecinţă expresia transformatei Fourier în timp discret a semnalului digital periodic considerat este cea din cea de a patra ecuaţie. Ţinând seama de expresia distribuţiei Dirac periodice de perioadă </a:t>
            </a:r>
            <a:r>
              <a:rPr lang="ro-RO" altLang="ro-RO">
                <a:latin typeface="Cambria Math" panose="02040503050406030204" pitchFamily="18" charset="0"/>
              </a:rPr>
              <a:t>2</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t> se obţine cea de a doua ecuaţie, respectiv cea de a treia ecuaţie. Cu schimbarea de variabilă </a:t>
            </a:r>
            <a:r>
              <a:rPr lang="ro-RO" altLang="ro-RO">
                <a:latin typeface="Cambria Math" panose="02040503050406030204" pitchFamily="18" charset="0"/>
              </a:rPr>
              <a:t>𝑙</a:t>
            </a:r>
            <a:r>
              <a:rPr lang="en-US" altLang="ro-RO">
                <a:latin typeface="Cambria Math" panose="02040503050406030204" pitchFamily="18" charset="0"/>
              </a:rPr>
              <a:t>=𝑘+𝑚𝑁</a:t>
            </a:r>
            <a:r>
              <a:rPr lang="en-US" altLang="ro-RO"/>
              <a:t>, </a:t>
            </a:r>
            <a:r>
              <a:rPr lang="ro-RO" altLang="ro-RO"/>
              <a:t>ţinând seama de periodicitatea cu perioada N a secvenţei coeficienţilor Fourier, se obţine ecuaţia a patra, care reprezintă transformata Fourier în timp discret a semnalului digital periodic considerat. Deci, orice semnal periodic în timp discret are transformată Fourier în timp discret în sensul distribuţiilor. Se consideră exemplul semnalului digital în timp discret </a:t>
            </a:r>
            <a:r>
              <a:rPr lang="ro-RO" altLang="ro-RO">
                <a:latin typeface="Cambria Math" panose="02040503050406030204" pitchFamily="18" charset="0"/>
                <a:ea typeface="Cambria Math" panose="02040503050406030204" pitchFamily="18" charset="0"/>
                <a:cs typeface="Cambria Math" panose="02040503050406030204" pitchFamily="18" charset="0"/>
              </a:rPr>
              <a:t>𝛿</a:t>
            </a:r>
            <a:r>
              <a:rPr lang="ro-RO" altLang="ro-RO">
                <a:latin typeface="Cambria Math" panose="02040503050406030204" pitchFamily="18" charset="0"/>
              </a:rPr>
              <a:t>_𝑁 [𝑛]</a:t>
            </a:r>
            <a:r>
              <a:rPr lang="ro-RO" altLang="ro-RO"/>
              <a:t> care are valoarea 1 la momente de timp multipli de N şi valoarea 0 în rest, definit în ecuaţia a cincea. Coeficienţii săi Fourier sunt calculaţi cu ecuaţia a şasea şi au valoarea 1</a:t>
            </a:r>
            <a:r>
              <a:rPr lang="en-US" altLang="ro-RO"/>
              <a:t>/N, </a:t>
            </a:r>
            <a:r>
              <a:rPr lang="ro-RO" altLang="ro-RO"/>
              <a:t>în conformitate cu ecuaţia a şaptea. Înlocuind valorile acestor coeficienţi Fourier în ecuaţia a patra, se obţine transformata Fourier în timp discret din relaţia a unsprezecea. Deci spectrul semnalului </a:t>
            </a:r>
            <a:r>
              <a:rPr lang="ro-RO" altLang="ro-RO">
                <a:latin typeface="Cambria Math" panose="02040503050406030204" pitchFamily="18" charset="0"/>
                <a:ea typeface="Cambria Math" panose="02040503050406030204" pitchFamily="18" charset="0"/>
                <a:cs typeface="Cambria Math" panose="02040503050406030204" pitchFamily="18" charset="0"/>
              </a:rPr>
              <a:t>𝛿</a:t>
            </a:r>
            <a:r>
              <a:rPr lang="ro-RO" altLang="ro-RO">
                <a:latin typeface="Cambria Math" panose="02040503050406030204" pitchFamily="18" charset="0"/>
              </a:rPr>
              <a:t>_𝑁 [𝑛]</a:t>
            </a:r>
            <a:r>
              <a:rPr lang="ro-RO" altLang="ro-RO"/>
              <a:t> este proporţional cu distribuţia Dirac periodică de perioadă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_0</a:t>
            </a:r>
            <a:r>
              <a:rPr lang="ro-RO" altLang="ro-RO"/>
              <a:t>. </a:t>
            </a:r>
            <a:endParaRPr lang="en-US" altLang="ro-RO"/>
          </a:p>
        </p:txBody>
      </p:sp>
      <p:sp>
        <p:nvSpPr>
          <p:cNvPr id="65540" name="Slide Number Placeholder 3">
            <a:extLst>
              <a:ext uri="{FF2B5EF4-FFF2-40B4-BE49-F238E27FC236}">
                <a16:creationId xmlns:a16="http://schemas.microsoft.com/office/drawing/2014/main" id="{8002626E-4F62-4909-ACE8-953577437E5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39BA6E05-78E9-426A-83AD-A240AC6B7246}" type="slidenum">
              <a:rPr lang="en-US" altLang="ro-RO"/>
              <a:pPr/>
              <a:t>13</a:t>
            </a:fld>
            <a:endParaRPr lang="en-US" altLang="ro-RO"/>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a:extLst>
              <a:ext uri="{FF2B5EF4-FFF2-40B4-BE49-F238E27FC236}">
                <a16:creationId xmlns:a16="http://schemas.microsoft.com/office/drawing/2014/main" id="{5CBDF345-E7CC-4CD7-8C1B-93295C23F2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a:extLst>
              <a:ext uri="{FF2B5EF4-FFF2-40B4-BE49-F238E27FC236}">
                <a16:creationId xmlns:a16="http://schemas.microsoft.com/office/drawing/2014/main" id="{CD5FBBF2-D350-4593-AEFC-862C83B294E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ro-RO" altLang="ro-RO"/>
              <a:t>În figura de sus este prezentată forma de undă a semnalului </a:t>
            </a:r>
            <a:r>
              <a:rPr lang="ro-RO" altLang="ro-RO">
                <a:latin typeface="Cambria Math" panose="02040503050406030204" pitchFamily="18" charset="0"/>
                <a:ea typeface="Cambria Math" panose="02040503050406030204" pitchFamily="18" charset="0"/>
                <a:cs typeface="Cambria Math" panose="02040503050406030204" pitchFamily="18" charset="0"/>
              </a:rPr>
              <a:t>𝛿</a:t>
            </a:r>
            <a:r>
              <a:rPr lang="ro-RO" altLang="ro-RO">
                <a:latin typeface="Cambria Math" panose="02040503050406030204" pitchFamily="18" charset="0"/>
              </a:rPr>
              <a:t>_𝑁 [𝑛]</a:t>
            </a:r>
            <a:r>
              <a:rPr lang="ro-RO" altLang="ro-RO"/>
              <a:t> iar în figura de jos transformata Fourier în timp discret a acestui semnal. Se observă că aceasta este o funcţie periodică de perioadă 2</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t> (o funcţie periodică de perioadă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_0</a:t>
            </a:r>
            <a:r>
              <a:rPr lang="ro-RO" altLang="ro-RO"/>
              <a:t> este periodică de orice multiplu întreg (N) al acestei perioade, </a:t>
            </a:r>
            <a:r>
              <a:rPr lang="ro-RO" altLang="ro-RO">
                <a:latin typeface="Cambria Math" panose="02040503050406030204" pitchFamily="18" charset="0"/>
              </a:rPr>
              <a:t>2</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en-US" altLang="ro-RO">
                <a:latin typeface="Cambria Math" panose="02040503050406030204" pitchFamily="18" charset="0"/>
                <a:ea typeface="Cambria Math" panose="02040503050406030204" pitchFamily="18" charset="0"/>
                <a:cs typeface="Cambria Math" panose="02040503050406030204" pitchFamily="18" charset="0"/>
              </a:rPr>
              <a:t>=𝑁</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en-US" altLang="ro-RO">
                <a:latin typeface="Cambria Math" panose="02040503050406030204" pitchFamily="18" charset="0"/>
                <a:ea typeface="Cambria Math" panose="02040503050406030204" pitchFamily="18" charset="0"/>
                <a:cs typeface="Cambria Math" panose="02040503050406030204" pitchFamily="18" charset="0"/>
              </a:rPr>
              <a:t>_0</a:t>
            </a:r>
            <a:r>
              <a:rPr lang="ro-RO" altLang="ro-RO"/>
              <a:t> ). Alte exemple de transformate Fourier în timp discret ale unor semnale digitale folosite frecvent în practică se găsesc în tabelul 5.3, pe care puteţi, de asemenea, să-l folosiţi la examen. </a:t>
            </a:r>
            <a:endParaRPr lang="en-US" altLang="ro-RO"/>
          </a:p>
        </p:txBody>
      </p:sp>
      <p:sp>
        <p:nvSpPr>
          <p:cNvPr id="66564" name="Slide Number Placeholder 3">
            <a:extLst>
              <a:ext uri="{FF2B5EF4-FFF2-40B4-BE49-F238E27FC236}">
                <a16:creationId xmlns:a16="http://schemas.microsoft.com/office/drawing/2014/main" id="{3ABE42BF-6AEE-4825-96DA-CFEAA6CEB53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BCF737AA-7F28-4660-BC10-F6E36D71D99B}" type="slidenum">
              <a:rPr lang="en-US" altLang="ro-RO"/>
              <a:pPr/>
              <a:t>14</a:t>
            </a:fld>
            <a:endParaRPr lang="en-US" altLang="ro-RO"/>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5313D8B3-4685-4E25-A460-99C09EDB6C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7FE5C406-EA70-4DAB-B8F1-010C013AA92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ro-RO" altLang="ro-RO"/>
              <a:t>La fel ca şi transformata Fourier a semnalelor analogice şi transformata Fourier în timp discret poate fi folosită pentru analiza şi sinteza sistemelor liniare şi invariante în timp. În cazul transformatei Fourier este vorba despre sisteme analogice iar în cazul tranformatei Fourier în timp discret este vorba despre sisteme digitale. Un loc central în anliza şi sinteza sistemelor digitale îl ocupă răspunsul în frecvenţă al acestora, care reprezintă transformata Fourier în timp discret a răspunsului la impuls al sistemului. </a:t>
            </a:r>
            <a:endParaRPr lang="en-US" altLang="ro-RO"/>
          </a:p>
        </p:txBody>
      </p:sp>
      <p:sp>
        <p:nvSpPr>
          <p:cNvPr id="67588" name="Slide Number Placeholder 3">
            <a:extLst>
              <a:ext uri="{FF2B5EF4-FFF2-40B4-BE49-F238E27FC236}">
                <a16:creationId xmlns:a16="http://schemas.microsoft.com/office/drawing/2014/main" id="{98D9D4B5-9763-44F9-898A-A11490D55B3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6515C37-7FAB-4463-BD95-0C63F72D8194}" type="slidenum">
              <a:rPr lang="en-US" altLang="ro-RO"/>
              <a:pPr/>
              <a:t>15</a:t>
            </a:fld>
            <a:endParaRPr lang="en-US" altLang="ro-RO"/>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a:extLst>
              <a:ext uri="{FF2B5EF4-FFF2-40B4-BE49-F238E27FC236}">
                <a16:creationId xmlns:a16="http://schemas.microsoft.com/office/drawing/2014/main" id="{DAD1A93D-3ACE-46DD-BD14-0C32BE9ECF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a:extLst>
              <a:ext uri="{FF2B5EF4-FFF2-40B4-BE49-F238E27FC236}">
                <a16:creationId xmlns:a16="http://schemas.microsoft.com/office/drawing/2014/main" id="{A4A42CD8-8ADF-4FBA-8D75-4F3E0141E8E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altLang="ro-RO"/>
              <a:t>Orice sistem liniar </a:t>
            </a:r>
            <a:r>
              <a:rPr lang="ro-RO" altLang="ro-RO"/>
              <a:t>şi</a:t>
            </a:r>
            <a:r>
              <a:rPr lang="en-US" altLang="ro-RO"/>
              <a:t> invariant</a:t>
            </a:r>
            <a:r>
              <a:rPr lang="ro-RO" altLang="ro-RO"/>
              <a:t> în timp discret este descris printr-o ecuaţie cu diferenţe finite liniare şi cu coeficienţi constanţi. Forma generală a unei astfel de ecuaţii este prezentată în prima ecuaţie. Dacă coeficientul </a:t>
            </a:r>
            <a:r>
              <a:rPr lang="ro-RO" altLang="ro-RO">
                <a:latin typeface="Cambria Math" panose="02040503050406030204" pitchFamily="18" charset="0"/>
              </a:rPr>
              <a:t>𝑎_0</a:t>
            </a:r>
            <a:r>
              <a:rPr lang="ro-RO" altLang="ro-RO"/>
              <a:t> este diferit de zero atunci această ecuaţie descrie un sistem digital liniar şi invariant în timp de ordinul N. Cunoaşterea coeficienţilor acestei ecuaţii permite scrierea directă a răspunsului în frecvenţă al sistemului. Pentru a determina răspunsul în frecvenţă al sistemului se calculează transformata Fourier în timp discret a ambilor membri ai primei ecuaţii. Aplicând proprietatea de întârziere în timp a transformatei Fourier în timp discret şi dând factor comun în membrul stâng </a:t>
            </a:r>
            <a:r>
              <a:rPr lang="ro-RO" altLang="ro-RO">
                <a:latin typeface="Cambria Math" panose="02040503050406030204" pitchFamily="18" charset="0"/>
              </a:rPr>
              <a:t>𝑌(</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  </a:t>
            </a:r>
            <a:r>
              <a:rPr lang="ro-RO" altLang="ro-RO"/>
              <a:t>şi în membrul drept </a:t>
            </a:r>
            <a:r>
              <a:rPr lang="ro-RO" altLang="ro-RO">
                <a:latin typeface="Cambria Math" panose="02040503050406030204" pitchFamily="18" charset="0"/>
              </a:rPr>
              <a:t>𝑋(</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a:t>
            </a:r>
            <a:r>
              <a:rPr lang="ro-RO" altLang="ro-RO"/>
              <a:t> se obţine cea de a doua ecuaţie. Exprimând raportul dintre transformata Fourier în timp discret a semnalului de ieşire şi transformata Fourier în timp discret a semnalului de intrare, se obţine expresia răspunsului în frecvenţă al sistemului din ecuaţia a patra. Deci dacă se cunosc coeficienţii ecuaţiei diferenţiale se poate scrie automat expresia răspunsului în frecvenţă al sistemului. Se observă că răspunsul în frecvenţă al oricărui sistem liniar şi invariant în timp discret se exprimă printr-o funcţie raţională, ca raport a două polinoame de variabilă </a:t>
            </a:r>
            <a:r>
              <a:rPr lang="ro-RO" altLang="ro-RO">
                <a:latin typeface="Cambria Math" panose="02040503050406030204" pitchFamily="18" charset="0"/>
              </a:rPr>
              <a:t>𝑒^(−𝑗</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a:t>
            </a:r>
            <a:r>
              <a:rPr lang="ro-RO" altLang="ro-RO"/>
              <a:t>. </a:t>
            </a:r>
          </a:p>
          <a:p>
            <a:pPr eaLnBrk="1" hangingPunct="1"/>
            <a:endParaRPr lang="en-US" altLang="ro-RO"/>
          </a:p>
        </p:txBody>
      </p:sp>
      <p:sp>
        <p:nvSpPr>
          <p:cNvPr id="68612" name="Slide Number Placeholder 3">
            <a:extLst>
              <a:ext uri="{FF2B5EF4-FFF2-40B4-BE49-F238E27FC236}">
                <a16:creationId xmlns:a16="http://schemas.microsoft.com/office/drawing/2014/main" id="{221F1057-4D00-4ACB-9B5A-49ED858201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157FE5-F043-418C-A0CA-D3DE61B063B7}" type="slidenum">
              <a:rPr lang="en-US" altLang="ro-RO"/>
              <a:pPr/>
              <a:t>16</a:t>
            </a:fld>
            <a:endParaRPr lang="en-US" altLang="ro-RO"/>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AC4DBAF5-C26E-40B7-AFEC-4B258318E3E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2B61420B-4A11-4473-B85E-883A95C395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O categorie importantă de sisteme liniare şi invariante în timp discret este constituită din filtre transversale. Schema de implementare a unui filtru transversal este prezentată în figură. Acesta este compus din blocuri de întârziere, notate cu D, din amplificatoare cu amplificările </a:t>
            </a:r>
            <a:r>
              <a:rPr lang="ro-RO" altLang="ro-RO">
                <a:latin typeface="Cambria Math" panose="02040503050406030204" pitchFamily="18" charset="0"/>
              </a:rPr>
              <a:t>𝑏_0</a:t>
            </a:r>
            <a:r>
              <a:rPr lang="ro-RO" altLang="ro-RO"/>
              <a:t>, </a:t>
            </a:r>
            <a:r>
              <a:rPr lang="ro-RO" altLang="ro-RO">
                <a:latin typeface="Cambria Math" panose="02040503050406030204" pitchFamily="18" charset="0"/>
              </a:rPr>
              <a:t>𝑏_1,…, 𝑏_𝑀  </a:t>
            </a:r>
            <a:r>
              <a:rPr lang="ro-RO" altLang="ro-RO"/>
              <a:t>şi dintr-un sumator cu M intrări şi o ieşire. Întrucât amplificatoarele sunt reprezentate pe o direcţie perpendiculară pe direcţia blocurilor de întârziere, aceste filtre se numesc transversale. </a:t>
            </a:r>
            <a:r>
              <a:rPr lang="en-US" altLang="ro-RO"/>
              <a:t>Leg</a:t>
            </a:r>
            <a:r>
              <a:rPr lang="ro-RO" altLang="ro-RO"/>
              <a:t>ătura dintre semnalele de la ieşirea şi de la intrarea filtrului numeric transversal este dată de prima ecuaţie. În a doua ecuaţie este exprimată convoluţia dintre răspunsul la impuls şi semnalul de intrare în filtru. Prin identificare se obţine expresia răspunsului la impuls din cea de a treia ecuaţie. Se constată că filtrele numerice transversale au răspuns finit la impuls. Răspunsul în frecvenţă al filtrului numeric transversal se obţine calculând transformata Fourier în timp discret a răspunsului la impuls ca în ecuaţia a patra. </a:t>
            </a:r>
            <a:endParaRPr lang="en-US" altLang="ro-RO"/>
          </a:p>
        </p:txBody>
      </p:sp>
      <p:sp>
        <p:nvSpPr>
          <p:cNvPr id="69636" name="Slide Number Placeholder 3">
            <a:extLst>
              <a:ext uri="{FF2B5EF4-FFF2-40B4-BE49-F238E27FC236}">
                <a16:creationId xmlns:a16="http://schemas.microsoft.com/office/drawing/2014/main" id="{ED246E7F-3652-4B23-BFDD-A3C381198F7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71F6946-008C-4BFB-B7F1-157A754A90F5}" type="slidenum">
              <a:rPr lang="en-US" altLang="ro-RO"/>
              <a:pPr/>
              <a:t>17</a:t>
            </a:fld>
            <a:endParaRPr lang="en-US" altLang="ro-RO"/>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a:extLst>
              <a:ext uri="{FF2B5EF4-FFF2-40B4-BE49-F238E27FC236}">
                <a16:creationId xmlns:a16="http://schemas.microsoft.com/office/drawing/2014/main" id="{DD1C7333-AFC0-4A29-9F75-337E09CA53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a:extLst>
              <a:ext uri="{FF2B5EF4-FFF2-40B4-BE49-F238E27FC236}">
                <a16:creationId xmlns:a16="http://schemas.microsoft.com/office/drawing/2014/main" id="{8F1B3BB1-33B6-4527-814F-15DEDBB678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Mediatorul alunecător este un caz particular de filtru numeric transversal obţinut impunând ca toţi coeficienţii să aibă valoarea </a:t>
            </a:r>
            <a:r>
              <a:rPr lang="en-US" altLang="ro-RO"/>
              <a:t>1/(M+1). </a:t>
            </a:r>
            <a:r>
              <a:rPr lang="ro-RO" altLang="ro-RO"/>
              <a:t>Î</a:t>
            </a:r>
            <a:r>
              <a:rPr lang="en-US" altLang="ro-RO"/>
              <a:t>n acest</a:t>
            </a:r>
            <a:r>
              <a:rPr lang="ro-RO" altLang="ro-RO"/>
              <a:t> caz se obţine expresia răspunsului la impuls din ecuaţia a doua. Pentru M</a:t>
            </a:r>
            <a:r>
              <a:rPr lang="en-US" altLang="ro-RO"/>
              <a:t>=3, </a:t>
            </a:r>
            <a:r>
              <a:rPr lang="ro-RO" altLang="ro-RO"/>
              <a:t>se obţine reprezentarea grafică din figura din stânga. Calculând transformata Fourier în timp discret a răspunsului la impuls din cea de a doua ecuaţie se obţine expresia răspunsului în frecvenţă al mediatorului alunecător din cea de a treia ecuaţie. Modulul răspunsului în frecvenţă al mediatorului alunecător în cazul </a:t>
            </a:r>
            <a:r>
              <a:rPr lang="en-US" altLang="ro-RO"/>
              <a:t>M=3 </a:t>
            </a:r>
            <a:r>
              <a:rPr lang="ro-RO" altLang="ro-RO"/>
              <a:t>este reprezentat în figura din dreapta. Se observă că mediatorul alunecător este un filtru trece jos. </a:t>
            </a:r>
            <a:endParaRPr lang="en-US" altLang="ro-RO"/>
          </a:p>
        </p:txBody>
      </p:sp>
      <p:sp>
        <p:nvSpPr>
          <p:cNvPr id="70660" name="Slide Number Placeholder 3">
            <a:extLst>
              <a:ext uri="{FF2B5EF4-FFF2-40B4-BE49-F238E27FC236}">
                <a16:creationId xmlns:a16="http://schemas.microsoft.com/office/drawing/2014/main" id="{18B2156D-20E4-469D-BF44-8B53D91D58E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28CDB17-EE2F-4FB2-A188-AAD3C282824D}" type="slidenum">
              <a:rPr lang="en-US" altLang="ro-RO"/>
              <a:pPr/>
              <a:t>18</a:t>
            </a:fld>
            <a:endParaRPr lang="en-US" altLang="ro-RO"/>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9DE81747-7D0A-423C-90F1-EE70F22E4E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a:extLst>
              <a:ext uri="{FF2B5EF4-FFF2-40B4-BE49-F238E27FC236}">
                <a16:creationId xmlns:a16="http://schemas.microsoft.com/office/drawing/2014/main" id="{1310615A-ED8A-4AA8-A055-DE26023CB4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Cel de al doilea exemplu de sistem digital este un sistem de ordinul doi. Se porneşte de la ecuaţia cu diferenţe finite din prima </a:t>
            </a:r>
            <a:r>
              <a:rPr lang="en-US" altLang="ro-RO"/>
              <a:t>rel</a:t>
            </a:r>
            <a:r>
              <a:rPr lang="ro-RO" altLang="ro-RO"/>
              <a:t>aţie. Identificând coeficienţii : </a:t>
            </a:r>
            <a:r>
              <a:rPr lang="ro-RO" altLang="ro-RO">
                <a:latin typeface="Cambria Math" panose="02040503050406030204" pitchFamily="18" charset="0"/>
              </a:rPr>
              <a:t>𝑎_0</a:t>
            </a:r>
            <a:r>
              <a:rPr lang="en-US" altLang="ro-RO">
                <a:latin typeface="Cambria Math" panose="02040503050406030204" pitchFamily="18" charset="0"/>
              </a:rPr>
              <a:t>=1, 𝑎_1=−√2/2</a:t>
            </a:r>
            <a:r>
              <a:rPr lang="en-US" altLang="ro-RO"/>
              <a:t>, </a:t>
            </a:r>
            <a:r>
              <a:rPr lang="en-US" altLang="ro-RO">
                <a:latin typeface="Cambria Math" panose="02040503050406030204" pitchFamily="18" charset="0"/>
              </a:rPr>
              <a:t>𝑎_2=1/4</a:t>
            </a:r>
            <a:r>
              <a:rPr lang="en-US" altLang="ro-RO"/>
              <a:t>, </a:t>
            </a:r>
            <a:r>
              <a:rPr lang="en-US" altLang="ro-RO">
                <a:latin typeface="Cambria Math" panose="02040503050406030204" pitchFamily="18" charset="0"/>
              </a:rPr>
              <a:t>𝑏_0=1, 𝑏_1=−1</a:t>
            </a:r>
            <a:r>
              <a:rPr lang="en-US" altLang="ro-RO"/>
              <a:t>, se poate scrie direct r</a:t>
            </a:r>
            <a:r>
              <a:rPr lang="ro-RO" altLang="ro-RO"/>
              <a:t>ă</a:t>
            </a:r>
            <a:r>
              <a:rPr lang="en-US" altLang="ro-RO"/>
              <a:t>spunsul</a:t>
            </a:r>
            <a:r>
              <a:rPr lang="ro-RO" altLang="ro-RO"/>
              <a:t> în frecvenţă al sistemului din ecuaţia a doua. Rezolvând ecuaţia numitorul egal cu zero, se obţin cele două rădăcini complex conjugate din ecuaţia a patra, care pot fi puse în forma din ecuaţia a cincea. De aceea, răspunsul în frecvenţă al sistemului poate fi exprimat ca în ecuaţia a treia. Pentru a determina expresia răspunsului la impuls al sistemului se descompune răspunsul în frecvenţă al sistemului în fracţii simple, ca în ecuaţia a şasea. Valorile celor două constante pot fi determinate prin identificare, ca în ecuaţia a şaptea.  </a:t>
            </a:r>
            <a:r>
              <a:rPr lang="en-US" altLang="ro-RO"/>
              <a:t> </a:t>
            </a:r>
          </a:p>
        </p:txBody>
      </p:sp>
      <p:sp>
        <p:nvSpPr>
          <p:cNvPr id="71684" name="Slide Number Placeholder 3">
            <a:extLst>
              <a:ext uri="{FF2B5EF4-FFF2-40B4-BE49-F238E27FC236}">
                <a16:creationId xmlns:a16="http://schemas.microsoft.com/office/drawing/2014/main" id="{A668C5DF-2C94-4BD2-8583-A4A1E60606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DC21F33-4A35-4BEA-ADBD-EA2545AB336E}" type="slidenum">
              <a:rPr lang="en-US" altLang="ro-RO"/>
              <a:pPr/>
              <a:t>19</a:t>
            </a:fld>
            <a:endParaRPr lang="en-US" altLang="ro-RO"/>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9624A9E6-5FB1-409B-928D-700233FBEFE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a:extLst>
              <a:ext uri="{FF2B5EF4-FFF2-40B4-BE49-F238E27FC236}">
                <a16:creationId xmlns:a16="http://schemas.microsoft.com/office/drawing/2014/main" id="{502186BE-9E75-4433-A744-F753E5A403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Folosind tabelul 5.3. de perechi semnal transformată Fourier în timp discret pot fi determinate semnalele ce corespund celor două fracţii simple din expresia răspunsului în frecvenţă, pe care tocmai am determinat-o şi se poate calcula răspunsul la impuls al sistemului, obţinându-se prima ecuaţie. Înlocuind expresiile celor două constante </a:t>
            </a:r>
            <a:r>
              <a:rPr lang="ro-RO" altLang="ro-RO">
                <a:latin typeface="Cambria Math" panose="02040503050406030204" pitchFamily="18" charset="0"/>
              </a:rPr>
              <a:t>𝐴_1  </a:t>
            </a:r>
            <a:r>
              <a:rPr lang="ro-RO" altLang="ro-RO"/>
              <a:t>şi </a:t>
            </a:r>
            <a:r>
              <a:rPr lang="ro-RO" altLang="ro-RO">
                <a:latin typeface="Cambria Math" panose="02040503050406030204" pitchFamily="18" charset="0"/>
              </a:rPr>
              <a:t>𝐴_2  </a:t>
            </a:r>
            <a:r>
              <a:rPr lang="ro-RO" altLang="ro-RO"/>
              <a:t>şi a celor două rădăcini </a:t>
            </a:r>
            <a:r>
              <a:rPr lang="ro-RO" altLang="ro-RO">
                <a:latin typeface="Cambria Math" panose="02040503050406030204" pitchFamily="18" charset="0"/>
                <a:ea typeface="Cambria Math" panose="02040503050406030204" pitchFamily="18" charset="0"/>
                <a:cs typeface="Cambria Math" panose="02040503050406030204" pitchFamily="18" charset="0"/>
              </a:rPr>
              <a:t>𝛼</a:t>
            </a:r>
            <a:r>
              <a:rPr lang="ro-RO" altLang="ro-RO">
                <a:latin typeface="Cambria Math" panose="02040503050406030204" pitchFamily="18" charset="0"/>
              </a:rPr>
              <a:t>_1</a:t>
            </a:r>
            <a:r>
              <a:rPr lang="ro-RO" altLang="ro-RO"/>
              <a:t> şi </a:t>
            </a:r>
            <a:r>
              <a:rPr lang="ro-RO" altLang="ro-RO">
                <a:latin typeface="Cambria Math" panose="02040503050406030204" pitchFamily="18" charset="0"/>
                <a:ea typeface="Cambria Math" panose="02040503050406030204" pitchFamily="18" charset="0"/>
                <a:cs typeface="Cambria Math" panose="02040503050406030204" pitchFamily="18" charset="0"/>
              </a:rPr>
              <a:t>𝛼</a:t>
            </a:r>
            <a:r>
              <a:rPr lang="ro-RO" altLang="ro-RO">
                <a:latin typeface="Cambria Math" panose="02040503050406030204" pitchFamily="18" charset="0"/>
              </a:rPr>
              <a:t>_2</a:t>
            </a:r>
            <a:r>
              <a:rPr lang="ro-RO" altLang="ro-RO"/>
              <a:t> se obţine cea de a doua ecuaţie. Efectuând calculele şi folosind relaţiile lui Euler rezultă cea de a treia ecuaţie, respectiv cea de a patra ecuaţie. În consecinţă, cu ajutorul transformatei Fourier în timp discret poate fi determinat răspunsul la impuls al unui sistem, pornind de la ecuaţia cu diferenţe finite care îl descrie. </a:t>
            </a:r>
            <a:endParaRPr lang="en-US" altLang="ro-RO"/>
          </a:p>
        </p:txBody>
      </p:sp>
      <p:sp>
        <p:nvSpPr>
          <p:cNvPr id="72708" name="Slide Number Placeholder 3">
            <a:extLst>
              <a:ext uri="{FF2B5EF4-FFF2-40B4-BE49-F238E27FC236}">
                <a16:creationId xmlns:a16="http://schemas.microsoft.com/office/drawing/2014/main" id="{4FBA8D12-80AC-4906-8ABC-6E558C07FA2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A367BE5-754F-4B99-8C37-59A7B5C127BA}" type="slidenum">
              <a:rPr lang="en-US" altLang="ro-RO"/>
              <a:pPr/>
              <a:t>20</a:t>
            </a:fld>
            <a:endParaRPr lang="en-US" altLang="ro-RO"/>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5E1AB9D4-8CF5-4006-9D19-57ED3A5D288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439565BA-C76B-4CAB-8E9E-4C3C0CFDC1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O formă particulară de răspuns al unui sistem digital liniar şi invariant în timp discret, des utilizată în practică, se obţine considerând că la intrarea sistemului se aduce semnalul treaptă unitate, </a:t>
            </a:r>
            <a:r>
              <a:rPr lang="ro-RO" altLang="ro-RO">
                <a:latin typeface="Cambria Math" panose="02040503050406030204" pitchFamily="18" charset="0"/>
                <a:ea typeface="Cambria Math" panose="02040503050406030204" pitchFamily="18" charset="0"/>
                <a:cs typeface="Cambria Math" panose="02040503050406030204" pitchFamily="18" charset="0"/>
              </a:rPr>
              <a:t>𝜎[𝑛]</a:t>
            </a:r>
            <a:r>
              <a:rPr lang="ro-RO" altLang="ro-RO"/>
              <a:t>. Acest semnal se numeşte răspuns indicial al sistemului şi se notează </a:t>
            </a:r>
            <a:r>
              <a:rPr lang="ro-RO" altLang="ro-RO">
                <a:latin typeface="Cambria Math" panose="02040503050406030204" pitchFamily="18" charset="0"/>
              </a:rPr>
              <a:t>𝑠[𝑛]</a:t>
            </a:r>
            <a:r>
              <a:rPr lang="ro-RO" altLang="ro-RO"/>
              <a:t>. El poate fi determinat cu ajutorul transformatei Fourier în timp discret, în trei paşi : 1) Se calculează transformata Fourier în timp discret a semnalului de intrare (</a:t>
            </a:r>
            <a:r>
              <a:rPr lang="ro-RO"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𝜎[𝑛]),  𝑋_𝜎 (</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ro-RO"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 </a:t>
            </a:r>
            <a:r>
              <a:rPr lang="ro-RO" altLang="ro-RO">
                <a:solidFill>
                  <a:srgbClr val="000000"/>
                </a:solidFill>
              </a:rPr>
              <a:t>2) Se calculează produsul dintre spectrul semnalului de intrare şi răspunsul în frecvenţă al sistemului, </a:t>
            </a:r>
            <a:r>
              <a:rPr lang="ro-RO" altLang="ro-RO">
                <a:solidFill>
                  <a:srgbClr val="000000"/>
                </a:solidFill>
                <a:latin typeface="Cambria Math" panose="02040503050406030204" pitchFamily="18" charset="0"/>
              </a:rPr>
              <a:t>𝑆(</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ro-RO" altLang="ro-RO">
                <a:solidFill>
                  <a:srgbClr val="000000"/>
                </a:solidFill>
                <a:latin typeface="Cambria Math" panose="02040503050406030204" pitchFamily="18" charset="0"/>
              </a:rPr>
              <a:t>)</a:t>
            </a:r>
            <a:r>
              <a:rPr lang="en-US" altLang="ro-RO">
                <a:solidFill>
                  <a:srgbClr val="000000"/>
                </a:solidFill>
                <a:latin typeface="Cambria Math" panose="02040503050406030204" pitchFamily="18" charset="0"/>
              </a:rPr>
              <a:t>=𝑋_</a:t>
            </a:r>
            <a:r>
              <a:rPr lang="en-US"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𝜎</a:t>
            </a:r>
            <a:r>
              <a:rPr lang="en-US" altLang="ro-RO">
                <a:solidFill>
                  <a:srgbClr val="000000"/>
                </a:solidFill>
                <a:latin typeface="Cambria Math" panose="02040503050406030204" pitchFamily="18" charset="0"/>
              </a:rPr>
              <a:t> (</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en-US" altLang="ro-RO">
                <a:solidFill>
                  <a:srgbClr val="000000"/>
                </a:solidFill>
                <a:latin typeface="Cambria Math" panose="02040503050406030204" pitchFamily="18" charset="0"/>
              </a:rPr>
              <a:t>)𝐻(</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en-US" altLang="ro-RO">
                <a:solidFill>
                  <a:srgbClr val="000000"/>
                </a:solidFill>
                <a:latin typeface="Cambria Math" panose="02040503050406030204" pitchFamily="18" charset="0"/>
              </a:rPr>
              <a:t>)</a:t>
            </a:r>
            <a:r>
              <a:rPr lang="ro-RO" altLang="ro-RO">
                <a:solidFill>
                  <a:srgbClr val="000000"/>
                </a:solidFill>
              </a:rPr>
              <a:t> (semnalul de la ieşirea unui sistem liniar şi invariant în timp este egal cu convoluţia dintre semnalul de la intrare şi răspunsul la impuls al sistemului iar pe baza proprietăţii P8 a transformării Fourier în timp discret, spectrul convoluţiei este egal cu produsul dintre spectrele celor două semnale care se convoluţionează); 3) se calculează transformata Fourier în timp discret inversă a spectrului semnalului de la ieşire</a:t>
            </a:r>
            <a:r>
              <a:rPr lang="en-US" altLang="ro-RO">
                <a:solidFill>
                  <a:srgbClr val="000000"/>
                </a:solidFill>
              </a:rPr>
              <a:t> </a:t>
            </a:r>
            <a:r>
              <a:rPr lang="en-US" altLang="ro-RO">
                <a:solidFill>
                  <a:srgbClr val="000000"/>
                </a:solidFill>
                <a:latin typeface="Cambria Math" panose="02040503050406030204" pitchFamily="18" charset="0"/>
              </a:rPr>
              <a:t>𝑆(</a:t>
            </a:r>
            <a:r>
              <a:rPr lang="el-GR" altLang="ro-RO">
                <a:solidFill>
                  <a:srgbClr val="000000"/>
                </a:solidFill>
                <a:latin typeface="Cambria Math" panose="02040503050406030204" pitchFamily="18" charset="0"/>
                <a:ea typeface="Cambria Math" panose="02040503050406030204" pitchFamily="18" charset="0"/>
                <a:cs typeface="Cambria Math" panose="02040503050406030204" pitchFamily="18" charset="0"/>
              </a:rPr>
              <a:t>Ω</a:t>
            </a:r>
            <a:r>
              <a:rPr lang="en-US" altLang="ro-RO">
                <a:solidFill>
                  <a:srgbClr val="000000"/>
                </a:solidFill>
                <a:latin typeface="Cambria Math" panose="02040503050406030204" pitchFamily="18" charset="0"/>
              </a:rPr>
              <a:t>)</a:t>
            </a:r>
            <a:r>
              <a:rPr lang="ro-RO" altLang="ro-RO">
                <a:solidFill>
                  <a:srgbClr val="000000"/>
                </a:solidFill>
              </a:rPr>
              <a:t>. </a:t>
            </a:r>
            <a:endParaRPr lang="en-US" altLang="ro-RO">
              <a:solidFill>
                <a:srgbClr val="000000"/>
              </a:solidFill>
            </a:endParaRPr>
          </a:p>
          <a:p>
            <a:pPr>
              <a:buFontTx/>
              <a:buAutoNum type="arabicParenR"/>
            </a:pPr>
            <a:r>
              <a:rPr lang="en-US" altLang="ro-RO">
                <a:solidFill>
                  <a:srgbClr val="000000"/>
                </a:solidFill>
              </a:rPr>
              <a:t>Proprietatea de </a:t>
            </a:r>
            <a:r>
              <a:rPr lang="ro-RO" altLang="ro-RO">
                <a:solidFill>
                  <a:srgbClr val="000000"/>
                </a:solidFill>
              </a:rPr>
              <a:t>însumare în domeniul timp (P9) a transformatei Fourier este prezentată în prima relaţie. Membrul stâng al acestei relaţii exprimă răspunsul unui sistem de însumare la semnalul de intrare </a:t>
            </a:r>
            <a:r>
              <a:rPr lang="ro-RO" altLang="ro-RO">
                <a:solidFill>
                  <a:srgbClr val="000000"/>
                </a:solidFill>
                <a:latin typeface="Cambria Math" panose="02040503050406030204" pitchFamily="18" charset="0"/>
              </a:rPr>
              <a:t>𝑥[𝑘]</a:t>
            </a:r>
            <a:r>
              <a:rPr lang="ro-RO" altLang="ro-RO"/>
              <a:t>. Dacă particularizăm semnalul </a:t>
            </a:r>
            <a:r>
              <a:rPr lang="ro-RO" altLang="ro-RO">
                <a:latin typeface="Cambria Math" panose="02040503050406030204" pitchFamily="18" charset="0"/>
              </a:rPr>
              <a:t>𝑥[𝑛]</a:t>
            </a:r>
            <a:r>
              <a:rPr lang="ro-RO" altLang="ro-RO"/>
              <a:t> la impulsul unitate </a:t>
            </a:r>
            <a:r>
              <a:rPr lang="ro-RO" altLang="ro-RO">
                <a:latin typeface="Cambria Math" panose="02040503050406030204" pitchFamily="18" charset="0"/>
                <a:ea typeface="Cambria Math" panose="02040503050406030204" pitchFamily="18" charset="0"/>
                <a:cs typeface="Cambria Math" panose="02040503050406030204" pitchFamily="18" charset="0"/>
              </a:rPr>
              <a:t>𝛿[𝑛]  </a:t>
            </a:r>
            <a:r>
              <a:rPr lang="ro-RO" altLang="ro-RO"/>
              <a:t>atunci semnalul de la ieşirea sistemului de însumare devine chiar semnalul treaptă unitate în timp discret (</a:t>
            </a:r>
            <a:r>
              <a:rPr lang="ro-RO" altLang="ro-RO">
                <a:latin typeface="Cambria Math" panose="02040503050406030204" pitchFamily="18" charset="0"/>
                <a:ea typeface="Cambria Math" panose="02040503050406030204" pitchFamily="18" charset="0"/>
                <a:cs typeface="Cambria Math" panose="02040503050406030204" pitchFamily="18" charset="0"/>
              </a:rPr>
              <a:t>𝜎[𝑛]</a:t>
            </a:r>
            <a:r>
              <a:rPr lang="en-US" altLang="ro-RO">
                <a:latin typeface="Cambria Math" panose="02040503050406030204" pitchFamily="18" charset="0"/>
                <a:ea typeface="Cambria Math" panose="02040503050406030204" pitchFamily="18" charset="0"/>
                <a:cs typeface="Cambria Math" panose="02040503050406030204" pitchFamily="18" charset="0"/>
              </a:rPr>
              <a:t>=∑24_(𝑘=−∞)^𝑛▒𝛿[𝑘] </a:t>
            </a:r>
            <a:r>
              <a:rPr lang="ro-RO" altLang="ro-RO"/>
              <a:t>)</a:t>
            </a:r>
            <a:r>
              <a:rPr lang="en-US" altLang="ro-RO"/>
              <a:t>. Dar transformata Fourier </a:t>
            </a:r>
            <a:r>
              <a:rPr lang="ro-RO" altLang="ro-RO"/>
              <a:t>în timp discret </a:t>
            </a:r>
            <a:r>
              <a:rPr lang="en-US" altLang="ro-RO"/>
              <a:t>a impulsului unitar poate fi calculat</a:t>
            </a:r>
            <a:r>
              <a:rPr lang="ro-RO" altLang="ro-RO"/>
              <a:t>ă cu uşurinţă (ca în relaţia a doua) şi este egală cu 1 la orice frecvenţă (</a:t>
            </a:r>
            <a:r>
              <a:rPr lang="ro-RO" altLang="ro-RO">
                <a:latin typeface="Cambria Math" panose="02040503050406030204" pitchFamily="18" charset="0"/>
              </a:rPr>
              <a:t>𝑋(</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a:t>
            </a:r>
            <a:r>
              <a:rPr lang="en-US" altLang="ro-RO">
                <a:latin typeface="Cambria Math" panose="02040503050406030204" pitchFamily="18" charset="0"/>
              </a:rPr>
              <a:t>=1)</a:t>
            </a:r>
            <a:r>
              <a:rPr lang="en-US" altLang="ro-RO"/>
              <a:t>. </a:t>
            </a:r>
            <a:r>
              <a:rPr lang="ro-RO" altLang="ro-RO"/>
              <a:t>În consecinţă transformata Fourier în timp discret a semnalului treaptă unitate în timp discret este cea din ecuaţia a doua.</a:t>
            </a:r>
          </a:p>
          <a:p>
            <a:pPr>
              <a:buFontTx/>
              <a:buAutoNum type="arabicParenR"/>
            </a:pPr>
            <a:r>
              <a:rPr lang="ro-RO" altLang="ro-RO"/>
              <a:t>Spectrul răspunsului indicial este exprimat în ecuaţia a treia. Să considerăm, de exemplu, că răspunsul în frecvenţă al sistemului are forma din ecuaţia a patra. Atunci, spectrul răspunsului indicial este cel prezentat în ecuaţia a cincea. </a:t>
            </a:r>
          </a:p>
          <a:p>
            <a:pPr>
              <a:buFontTx/>
              <a:buAutoNum type="arabicParenR"/>
            </a:pPr>
            <a:r>
              <a:rPr lang="ro-RO" altLang="ro-RO"/>
              <a:t>Pentru a calcula transformata Fourier inversă în timp discret a spectrului răspunsului indicial trebuie să-l descompunem în fracţii simple. În urma efectuării calculelor se obţine ecuaţia a şasea. Folosind tabelul de perechi semnal transformată Fourier în timp discret se inversează fiecare fracţie simplă şi se obţine expresia răspunsului indicial din ecuaţiile a şaptea şi respectiv a opta.</a:t>
            </a:r>
            <a:endParaRPr lang="en-US" altLang="ro-RO"/>
          </a:p>
        </p:txBody>
      </p:sp>
      <p:sp>
        <p:nvSpPr>
          <p:cNvPr id="73732" name="Slide Number Placeholder 3">
            <a:extLst>
              <a:ext uri="{FF2B5EF4-FFF2-40B4-BE49-F238E27FC236}">
                <a16:creationId xmlns:a16="http://schemas.microsoft.com/office/drawing/2014/main" id="{9E63E796-6B61-4E66-BEAB-A464D38ACD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E4609F1-16DE-41A5-BF16-F09DF140A7B8}" type="slidenum">
              <a:rPr lang="en-US" altLang="ro-RO"/>
              <a:pPr/>
              <a:t>21</a:t>
            </a:fld>
            <a:endParaRPr lang="en-US" altLang="ro-RO"/>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a:extLst>
              <a:ext uri="{FF2B5EF4-FFF2-40B4-BE49-F238E27FC236}">
                <a16:creationId xmlns:a16="http://schemas.microsoft.com/office/drawing/2014/main" id="{583BDCD7-F4D5-4A27-AA03-69FD794CDE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a:extLst>
              <a:ext uri="{FF2B5EF4-FFF2-40B4-BE49-F238E27FC236}">
                <a16:creationId xmlns:a16="http://schemas.microsoft.com/office/drawing/2014/main" id="{69A0D7C0-FF9F-4D2D-AA3F-37A7C4DEF2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gn="just"/>
            <a:r>
              <a:rPr lang="ro-RO" altLang="ro-RO"/>
              <a:t>Aşa după cum s-a arătat când s-au studiat ecuaţiile cu diferenţe finite liniare şi cu coeficienţi constanţi, răspunsul în frecvenţă al unui sistem liniar şi invariant în timp discret se exprimă ca şi o funcţie raţională de variabilă </a:t>
            </a:r>
            <a:r>
              <a:rPr lang="ro-RO" altLang="ro-RO">
                <a:latin typeface="Cambria Math" panose="02040503050406030204" pitchFamily="18" charset="0"/>
              </a:rPr>
              <a:t>𝑒^(−𝑗</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  </a:t>
            </a:r>
            <a:r>
              <a:rPr lang="ro-RO" altLang="ro-RO"/>
              <a:t>ca în prima ecuaţie. Polinoamele de la numărător şi de la numitor pot fi factorizate ca produse de polinoame de ordinul doi respectiv de ordinul întâi (deoarece au coeficienţi reali) ca în ecuaţia a doua. Polinoamele de ordinul doi de la numitor descriu sisteme liniare şi invariante în timp discret de ordinul doi iar polinoamele de ordinul întâi de la numitor descriu sisteme liniare şi invariante în timp discret de ordinul întâi. Întrucât răspunsul în frecvenţă al sistemului considerat se exprimă ca produs de răspunsuri în frecvenţă de sisteme de ordinul întâi şi doi rezultă că sistemul considerat poate fi implementat prin conectarea în serie a unor sisteme de ordinul întâi şi doi (răspunsul la impuls al sistemului considerat se exprimă ca şi convoluţie a răspunsurilor la impuls ale sistemelor de ordinul întâi şi doi, răspunsul în frecvenţă reprezintă transformata Fourier în timp discret a răspunsului la impuls şi în conformitate cu proprietatea P8 a transformatei Fourier, convoluţiei în domeniul timp îi corespunde înmulţirea în domeniul frecvenţă). Deci orice sistem liniar şi invariant în timp discret poate fi implementat prin conectarea în serie a unor sisteme de ordinul întâi şi a unor sisteme de ordinul doi. De aceea este foarte important studiul sistemelor de ordinul întâi şi de ordinul doi. În cazul particular când gradul numărătorului răspunsului în frecvenţă al sistemului, M este egal cu gradul numitorului răspunsului în frecvenţă N (ecuaţia a treia), răspunsul în frecvenţă poate fi descompus în fracţii simple ca în ecuaţia a patra. Cel de al doilea termen din membrul drept al acestei ecuaţii reprezintă o sumă de răspunsuri în frecvenţă de sisteme de ordinul doi, iar cel de al treilea termen reprezintă o sumă de răspunsuri în frecvenţă de sisteme de ordinul întâi. Întrucât răspunsul la impuls al unui sistem format prin conectarea în paralel a unor sisteme liniare şi invariante în timp discret se exprimă ca şi suma răspunsurilor la impuls a acestor sisteme şi întrucât transformata Fourier în timp discret este liniară (răspunsul în frecvenţă al sistemului format prin conectarea în paralel a unor sisteme liniare şi invariante în timp discret este egal cu suma răspunsurilor în frecvenţă ale acestor sisteme) rezultă că orice sistem liniar şi invariant în timp discret poate fi construit prin conectarea în paralele a unor siteme de ordinul întâi şi a unor siteme de ordinul doi.</a:t>
            </a:r>
          </a:p>
          <a:p>
            <a:pPr algn="just"/>
            <a:r>
              <a:rPr lang="ro-RO" altLang="ro-RO"/>
              <a:t>Deci orice sistem liniar şi invariant în timp poate fi contruit prin conectarea în serie sau în paralel a unor sisteme de ordinul întâi şi a unor sisteme de ordinul doi. De aceea este foarte importantă cunoaşterea sistemelor de ordinul întâi şi de ordinul doi (ecuaţie cu diferenţe finite, răspuns la impuls, răspuns în frecvenţă, răspuns indicial). </a:t>
            </a:r>
            <a:endParaRPr lang="en-US" altLang="ro-RO"/>
          </a:p>
        </p:txBody>
      </p:sp>
      <p:sp>
        <p:nvSpPr>
          <p:cNvPr id="74756" name="Slide Number Placeholder 3">
            <a:extLst>
              <a:ext uri="{FF2B5EF4-FFF2-40B4-BE49-F238E27FC236}">
                <a16:creationId xmlns:a16="http://schemas.microsoft.com/office/drawing/2014/main" id="{460BC02B-040C-4953-B1CC-C30B69C17F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0857422-C51E-450D-B6C4-D4D743249B7E}" type="slidenum">
              <a:rPr lang="en-US" altLang="ro-RO"/>
              <a:pPr/>
              <a:t>22</a:t>
            </a:fld>
            <a:endParaRPr lang="en-US" altLang="ro-RO"/>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a:extLst>
              <a:ext uri="{FF2B5EF4-FFF2-40B4-BE49-F238E27FC236}">
                <a16:creationId xmlns:a16="http://schemas.microsoft.com/office/drawing/2014/main" id="{D326BE5A-244D-4B90-A22E-7C77DBB888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a:extLst>
              <a:ext uri="{FF2B5EF4-FFF2-40B4-BE49-F238E27FC236}">
                <a16:creationId xmlns:a16="http://schemas.microsoft.com/office/drawing/2014/main" id="{EA93FC57-851C-4AE2-9D41-A8FE145EC2D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Prima ecuaţie cu diferenţe finite cu coeficienţi constanţi descrie un sistem liniar şi invariant în timp discret de ordinul întâi. Vom considera cazul în care modulul coeficientului a este mai mic decât 1. Coeficienţii acestei ecuaţii sunt </a:t>
            </a:r>
            <a:r>
              <a:rPr lang="ro-RO" altLang="ro-RO">
                <a:latin typeface="Cambria Math" panose="02040503050406030204" pitchFamily="18" charset="0"/>
              </a:rPr>
              <a:t>𝑎_0</a:t>
            </a:r>
            <a:r>
              <a:rPr lang="en-US" altLang="ro-RO">
                <a:latin typeface="Cambria Math" panose="02040503050406030204" pitchFamily="18" charset="0"/>
              </a:rPr>
              <a:t>=1, 𝑎_1=−𝑎 </a:t>
            </a:r>
            <a:r>
              <a:rPr lang="ro-RO" altLang="ro-RO">
                <a:latin typeface="Cambria Math" panose="02040503050406030204" pitchFamily="18" charset="0"/>
              </a:rPr>
              <a:t>şi  𝑏_0</a:t>
            </a:r>
            <a:r>
              <a:rPr lang="en-US" altLang="ro-RO">
                <a:latin typeface="Cambria Math" panose="02040503050406030204" pitchFamily="18" charset="0"/>
              </a:rPr>
              <a:t>=1. </a:t>
            </a:r>
            <a:r>
              <a:rPr lang="ro-RO" altLang="ro-RO"/>
              <a:t> În consecinţă expresia răspunsului în frecvenţă al sistemului este cea din cea de a doua ecuaţie. Se observă că acest răspuns în frecvenţă coincide cu cel folosit la exemplificarea conceptului de răspuns indicial al unui sistem. Inversând această transformată Fourier în timp discret (cu ajutorul tabelului 5.3 de perechi semnal transformată Fourier în timp discret) se obţine răspunsul la impuls din cea de a treia ecuaţie. Răspunsul indicial al acestui sistem a fost deja calculat atunci când s-a prezentat conceptul de răspuns indicial al unui sistem liniar şi invariant în timp discret şi are forma din ecuaţia a patra. În cele două figuri sunt reprezentate răspunsurile la impuls (sus) şi indicial (jos) ale sistemului considerat în cazurile particulare în care parametrul a ia valoarea ¾</a:t>
            </a:r>
            <a:r>
              <a:rPr lang="en-US" altLang="ro-RO"/>
              <a:t> </a:t>
            </a:r>
            <a:r>
              <a:rPr lang="ro-RO" altLang="ro-RO"/>
              <a:t>(stânga) şi </a:t>
            </a:r>
            <a:r>
              <a:rPr lang="en-US" altLang="ro-RO"/>
              <a:t>-3/4 </a:t>
            </a:r>
            <a:r>
              <a:rPr lang="ro-RO" altLang="ro-RO"/>
              <a:t>(dreapta). Se observă că în cazul în care </a:t>
            </a:r>
            <a:r>
              <a:rPr lang="en-US" altLang="ro-RO">
                <a:latin typeface="Cambria Math" panose="02040503050406030204" pitchFamily="18" charset="0"/>
              </a:rPr>
              <a:t>𝑎=−3/4</a:t>
            </a:r>
            <a:r>
              <a:rPr lang="ro-RO" altLang="ro-RO"/>
              <a:t> </a:t>
            </a:r>
            <a:r>
              <a:rPr lang="en-US" altLang="ro-RO"/>
              <a:t>, r</a:t>
            </a:r>
            <a:r>
              <a:rPr lang="ro-RO" altLang="ro-RO"/>
              <a:t>ăspunsul la impuls descreşte de la valoarea 1 spre valoarea 0 şi că răspunsul indicial creşte de la valoarea 0 tinzând asimptotic la valoarea 4. În cazul în care </a:t>
            </a:r>
            <a:r>
              <a:rPr lang="ro-RO" altLang="ro-RO">
                <a:latin typeface="Cambria Math" panose="02040503050406030204" pitchFamily="18" charset="0"/>
              </a:rPr>
              <a:t>𝑎</a:t>
            </a:r>
            <a:r>
              <a:rPr lang="en-US" altLang="ro-RO">
                <a:latin typeface="Cambria Math" panose="02040503050406030204" pitchFamily="18" charset="0"/>
              </a:rPr>
              <a:t>=−3/4</a:t>
            </a:r>
            <a:r>
              <a:rPr lang="en-US" altLang="ro-RO"/>
              <a:t>, at</a:t>
            </a:r>
            <a:r>
              <a:rPr lang="ro-RO" altLang="ro-RO"/>
              <a:t>ât răspunsul la impuls cât şi răspunsul indicial au o evoluţie oscilantă în timp cu asimptote orizontale axa timpului în cazul răspunsului la impuls şi constanta 4</a:t>
            </a:r>
            <a:r>
              <a:rPr lang="en-US" altLang="ro-RO"/>
              <a:t>/7 </a:t>
            </a:r>
            <a:r>
              <a:rPr lang="ro-RO" altLang="ro-RO"/>
              <a:t>în cazul răspunsului indicial. </a:t>
            </a:r>
            <a:endParaRPr lang="en-US" altLang="ro-RO"/>
          </a:p>
        </p:txBody>
      </p:sp>
      <p:sp>
        <p:nvSpPr>
          <p:cNvPr id="75780" name="Slide Number Placeholder 3">
            <a:extLst>
              <a:ext uri="{FF2B5EF4-FFF2-40B4-BE49-F238E27FC236}">
                <a16:creationId xmlns:a16="http://schemas.microsoft.com/office/drawing/2014/main" id="{E1C822FA-BD20-4C94-A08E-EE8AF29F174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E9CC67C-C244-43C2-8434-ACAAAC87D22B}" type="slidenum">
              <a:rPr lang="en-US" altLang="ro-RO"/>
              <a:pPr/>
              <a:t>23</a:t>
            </a:fld>
            <a:endParaRPr lang="en-US" altLang="ro-RO"/>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a:extLst>
              <a:ext uri="{FF2B5EF4-FFF2-40B4-BE49-F238E27FC236}">
                <a16:creationId xmlns:a16="http://schemas.microsoft.com/office/drawing/2014/main" id="{CEE0E0D3-B6CF-453A-A64F-F66A6E4208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a:extLst>
              <a:ext uri="{FF2B5EF4-FFF2-40B4-BE49-F238E27FC236}">
                <a16:creationId xmlns:a16="http://schemas.microsoft.com/office/drawing/2014/main" id="{677EDB27-B358-47EC-8B80-EFE7D3CA19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În continuare trasăm caracteristicile de frecvenţă ale acestui sistem de ordinul întâi. Expresia răspunsului său în frecvenţă este dată în prima ecuaţie. Modulul acestei funcţii raţionale este egal cu raportul dintre modulul numărătorului şi modulul numitorului (a doua ecuaţie) sau exprimând exponenţiala complexă în coordonate carteziene (a treia ecuaţie) şi aplicând definiţia modulului unui număr complex (a patra ecuaţie) se obţine dependenţa de frecvenţă a modulului din cea de a cincea ecuaţie. La frecvenţă nulă </a:t>
            </a:r>
            <a:r>
              <a:rPr lang="en-US" altLang="ro-RO"/>
              <a:t>(</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en-US" altLang="ro-RO">
                <a:latin typeface="Cambria Math" panose="02040503050406030204" pitchFamily="18" charset="0"/>
                <a:ea typeface="Cambria Math" panose="02040503050406030204" pitchFamily="18" charset="0"/>
                <a:cs typeface="Cambria Math" panose="02040503050406030204" pitchFamily="18" charset="0"/>
              </a:rPr>
              <a:t>=0</a:t>
            </a:r>
            <a:r>
              <a:rPr lang="en-US" altLang="ro-RO"/>
              <a:t>) </a:t>
            </a:r>
            <a:r>
              <a:rPr lang="ro-RO" altLang="ro-RO"/>
              <a:t>se obţine valoarea răspunsului în frecvenţă de </a:t>
            </a:r>
            <a:r>
              <a:rPr lang="en-US" altLang="ro-RO"/>
              <a:t>1/(1-a). Aceast</a:t>
            </a:r>
            <a:r>
              <a:rPr lang="ro-RO" altLang="ro-RO"/>
              <a:t>ă valoare este egală cu </a:t>
            </a:r>
            <a:r>
              <a:rPr lang="en-US" altLang="ro-RO">
                <a:latin typeface="Cambria Math" panose="02040503050406030204" pitchFamily="18" charset="0"/>
              </a:rPr>
              <a:t>1</a:t>
            </a:r>
            <a:r>
              <a:rPr lang="ro-RO" altLang="ro-RO">
                <a:latin typeface="Cambria Math" panose="02040503050406030204" pitchFamily="18" charset="0"/>
              </a:rPr>
              <a:t>/(1</a:t>
            </a:r>
            <a:r>
              <a:rPr lang="en-US" altLang="ro-RO">
                <a:latin typeface="Cambria Math" panose="02040503050406030204" pitchFamily="18" charset="0"/>
              </a:rPr>
              <a:t>−|𝑎|</a:t>
            </a:r>
            <a:r>
              <a:rPr lang="ro-RO" altLang="ro-RO">
                <a:latin typeface="Cambria Math" panose="02040503050406030204" pitchFamily="18" charset="0"/>
              </a:rPr>
              <a:t> )</a:t>
            </a:r>
            <a:r>
              <a:rPr lang="en-US" altLang="ro-RO"/>
              <a:t> pentru a pozitiv </a:t>
            </a:r>
            <a:r>
              <a:rPr lang="ro-RO" altLang="ro-RO"/>
              <a:t>şi cu </a:t>
            </a:r>
            <a:r>
              <a:rPr lang="en-US" altLang="ro-RO">
                <a:latin typeface="Cambria Math" panose="02040503050406030204" pitchFamily="18" charset="0"/>
              </a:rPr>
              <a:t>1</a:t>
            </a:r>
            <a:r>
              <a:rPr lang="ro-RO" altLang="ro-RO">
                <a:latin typeface="Cambria Math" panose="02040503050406030204" pitchFamily="18" charset="0"/>
              </a:rPr>
              <a:t>/(1</a:t>
            </a:r>
            <a:r>
              <a:rPr lang="en-US" altLang="ro-RO">
                <a:latin typeface="Cambria Math" panose="02040503050406030204" pitchFamily="18" charset="0"/>
              </a:rPr>
              <a:t>+|𝑎|</a:t>
            </a:r>
            <a:r>
              <a:rPr lang="ro-RO" altLang="ro-RO">
                <a:latin typeface="Cambria Math" panose="02040503050406030204" pitchFamily="18" charset="0"/>
              </a:rPr>
              <a:t> )</a:t>
            </a:r>
            <a:r>
              <a:rPr lang="en-US" altLang="ro-RO"/>
              <a:t> pentru a negativ. La frecven</a:t>
            </a:r>
            <a:r>
              <a:rPr lang="ro-RO" altLang="ro-RO"/>
              <a:t>ţa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en-US" altLang="ro-RO">
                <a:latin typeface="Cambria Math" panose="02040503050406030204" pitchFamily="18" charset="0"/>
                <a:ea typeface="Cambria Math" panose="02040503050406030204" pitchFamily="18" charset="0"/>
                <a:cs typeface="Cambria Math" panose="02040503050406030204" pitchFamily="18" charset="0"/>
              </a:rPr>
              <a:t>=𝜋/2</a:t>
            </a:r>
            <a:r>
              <a:rPr lang="en-US" altLang="ro-RO"/>
              <a:t> se ob</a:t>
            </a:r>
            <a:r>
              <a:rPr lang="ro-RO" altLang="ro-RO"/>
              <a:t>ţine valoarea </a:t>
            </a:r>
            <a:r>
              <a:rPr lang="ro-RO" altLang="ro-RO">
                <a:latin typeface="Cambria Math" panose="02040503050406030204" pitchFamily="18" charset="0"/>
              </a:rPr>
              <a:t>|𝐻(</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latin typeface="Cambria Math" panose="02040503050406030204" pitchFamily="18" charset="0"/>
              </a:rPr>
              <a:t>/2)|</a:t>
            </a:r>
            <a:r>
              <a:rPr lang="en-US" altLang="ro-RO">
                <a:latin typeface="Cambria Math" panose="02040503050406030204" pitchFamily="18" charset="0"/>
              </a:rPr>
              <a:t>=1/√(1+𝑎^2 )</a:t>
            </a:r>
            <a:r>
              <a:rPr lang="en-US" altLang="ro-RO"/>
              <a:t> care este cuprins</a:t>
            </a:r>
            <a:r>
              <a:rPr lang="ro-RO" altLang="ro-RO"/>
              <a:t>ă între </a:t>
            </a:r>
            <a:r>
              <a:rPr lang="en-US" altLang="ro-RO">
                <a:latin typeface="Cambria Math" panose="02040503050406030204" pitchFamily="18" charset="0"/>
              </a:rPr>
              <a:t>1</a:t>
            </a:r>
            <a:r>
              <a:rPr lang="ro-RO" altLang="ro-RO">
                <a:latin typeface="Cambria Math" panose="02040503050406030204" pitchFamily="18" charset="0"/>
              </a:rPr>
              <a:t>/(1</a:t>
            </a:r>
            <a:r>
              <a:rPr lang="en-US" altLang="ro-RO">
                <a:latin typeface="Cambria Math" panose="02040503050406030204" pitchFamily="18" charset="0"/>
              </a:rPr>
              <a:t>−|𝑎|</a:t>
            </a:r>
            <a:r>
              <a:rPr lang="ro-RO" altLang="ro-RO">
                <a:latin typeface="Cambria Math" panose="02040503050406030204" pitchFamily="18" charset="0"/>
              </a:rPr>
              <a:t> )</a:t>
            </a:r>
            <a:r>
              <a:rPr lang="en-US" altLang="ro-RO">
                <a:latin typeface="Cambria Math" panose="02040503050406030204" pitchFamily="18" charset="0"/>
              </a:rPr>
              <a:t>  </a:t>
            </a:r>
            <a:r>
              <a:rPr lang="ro-RO" altLang="ro-RO">
                <a:latin typeface="Cambria Math" panose="02040503050406030204" pitchFamily="18" charset="0"/>
              </a:rPr>
              <a:t>şi </a:t>
            </a:r>
            <a:r>
              <a:rPr lang="en-US" altLang="ro-RO">
                <a:latin typeface="Cambria Math" panose="02040503050406030204" pitchFamily="18" charset="0"/>
              </a:rPr>
              <a:t> 1</a:t>
            </a:r>
            <a:r>
              <a:rPr lang="ro-RO" altLang="ro-RO">
                <a:latin typeface="Cambria Math" panose="02040503050406030204" pitchFamily="18" charset="0"/>
              </a:rPr>
              <a:t>/(</a:t>
            </a:r>
            <a:r>
              <a:rPr lang="en-US" altLang="ro-RO">
                <a:latin typeface="Cambria Math" panose="02040503050406030204" pitchFamily="18" charset="0"/>
              </a:rPr>
              <a:t>1+|𝑎|</a:t>
            </a:r>
            <a:r>
              <a:rPr lang="ro-RO" altLang="ro-RO">
                <a:latin typeface="Cambria Math" panose="02040503050406030204" pitchFamily="18" charset="0"/>
              </a:rPr>
              <a:t> )</a:t>
            </a:r>
            <a:r>
              <a:rPr lang="en-US" altLang="ro-RO"/>
              <a:t>. La frecven</a:t>
            </a:r>
            <a:r>
              <a:rPr lang="ro-RO" altLang="ro-RO"/>
              <a:t>ţa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en-US" altLang="ro-RO">
                <a:latin typeface="Cambria Math" panose="02040503050406030204" pitchFamily="18" charset="0"/>
                <a:ea typeface="Cambria Math" panose="02040503050406030204" pitchFamily="18" charset="0"/>
                <a:cs typeface="Cambria Math" panose="02040503050406030204" pitchFamily="18" charset="0"/>
              </a:rPr>
              <a:t>=𝜋</a:t>
            </a:r>
            <a:r>
              <a:rPr lang="en-US" altLang="ro-RO"/>
              <a:t> se </a:t>
            </a:r>
            <a:r>
              <a:rPr lang="ro-RO" altLang="ro-RO"/>
              <a:t>obţine valoarea</a:t>
            </a:r>
            <a:r>
              <a:rPr lang="en-US" altLang="ro-RO"/>
              <a:t> </a:t>
            </a:r>
            <a:r>
              <a:rPr lang="en-US" altLang="ro-RO">
                <a:latin typeface="Cambria Math" panose="02040503050406030204" pitchFamily="18" charset="0"/>
              </a:rPr>
              <a:t>|𝐻(</a:t>
            </a:r>
            <a:r>
              <a:rPr lang="en-US" altLang="ro-RO">
                <a:latin typeface="Cambria Math" panose="02040503050406030204" pitchFamily="18" charset="0"/>
                <a:ea typeface="Cambria Math" panose="02040503050406030204" pitchFamily="18" charset="0"/>
                <a:cs typeface="Cambria Math" panose="02040503050406030204" pitchFamily="18" charset="0"/>
              </a:rPr>
              <a:t>𝜋</a:t>
            </a:r>
            <a:r>
              <a:rPr lang="en-US" altLang="ro-RO">
                <a:latin typeface="Cambria Math" panose="02040503050406030204" pitchFamily="18" charset="0"/>
              </a:rPr>
              <a:t>)|=1/(1+𝑎)</a:t>
            </a:r>
            <a:r>
              <a:rPr lang="en-US" altLang="ro-RO"/>
              <a:t> care este egal</a:t>
            </a:r>
            <a:r>
              <a:rPr lang="ro-RO" altLang="ro-RO"/>
              <a:t>ă cu </a:t>
            </a:r>
            <a:r>
              <a:rPr lang="en-US" altLang="ro-RO">
                <a:latin typeface="Cambria Math" panose="02040503050406030204" pitchFamily="18" charset="0"/>
              </a:rPr>
              <a:t>1</a:t>
            </a:r>
            <a:r>
              <a:rPr lang="ro-RO" altLang="ro-RO">
                <a:latin typeface="Cambria Math" panose="02040503050406030204" pitchFamily="18" charset="0"/>
              </a:rPr>
              <a:t>/(1</a:t>
            </a:r>
            <a:r>
              <a:rPr lang="en-US" altLang="ro-RO">
                <a:latin typeface="Cambria Math" panose="02040503050406030204" pitchFamily="18" charset="0"/>
              </a:rPr>
              <a:t>+|𝑎|</a:t>
            </a:r>
            <a:r>
              <a:rPr lang="ro-RO" altLang="ro-RO">
                <a:latin typeface="Cambria Math" panose="02040503050406030204" pitchFamily="18" charset="0"/>
              </a:rPr>
              <a:t> )</a:t>
            </a:r>
            <a:r>
              <a:rPr lang="ro-RO" altLang="ro-RO"/>
              <a:t> pentru a pozitiv şi cu </a:t>
            </a:r>
            <a:r>
              <a:rPr lang="en-US" altLang="ro-RO">
                <a:latin typeface="Cambria Math" panose="02040503050406030204" pitchFamily="18" charset="0"/>
              </a:rPr>
              <a:t>1</a:t>
            </a:r>
            <a:r>
              <a:rPr lang="ro-RO" altLang="ro-RO">
                <a:latin typeface="Cambria Math" panose="02040503050406030204" pitchFamily="18" charset="0"/>
              </a:rPr>
              <a:t>/(1</a:t>
            </a:r>
            <a:r>
              <a:rPr lang="en-US" altLang="ro-RO">
                <a:latin typeface="Cambria Math" panose="02040503050406030204" pitchFamily="18" charset="0"/>
              </a:rPr>
              <a:t>−|𝑎|</a:t>
            </a:r>
            <a:r>
              <a:rPr lang="ro-RO" altLang="ro-RO">
                <a:latin typeface="Cambria Math" panose="02040503050406030204" pitchFamily="18" charset="0"/>
              </a:rPr>
              <a:t> )</a:t>
            </a:r>
            <a:r>
              <a:rPr lang="en-US" altLang="ro-RO"/>
              <a:t> pentru a negativ. </a:t>
            </a:r>
            <a:r>
              <a:rPr lang="ro-RO" altLang="ro-RO"/>
              <a:t>Caracteristica de modul a sistemului de ordinul întâi considerat este trasată în figura de sus în două cazuri </a:t>
            </a:r>
            <a:r>
              <a:rPr lang="ro-RO" altLang="ro-RO">
                <a:latin typeface="Cambria Math" panose="02040503050406030204" pitchFamily="18" charset="0"/>
              </a:rPr>
              <a:t>𝑎</a:t>
            </a:r>
            <a:r>
              <a:rPr lang="en-US" altLang="ro-RO">
                <a:latin typeface="Cambria Math" panose="02040503050406030204" pitchFamily="18" charset="0"/>
              </a:rPr>
              <a:t>&gt;0</a:t>
            </a:r>
            <a:r>
              <a:rPr lang="en-US" altLang="ro-RO"/>
              <a:t> </a:t>
            </a:r>
            <a:r>
              <a:rPr lang="ro-RO" altLang="ro-RO"/>
              <a:t>(cu culoare neagră) şi </a:t>
            </a:r>
            <a:r>
              <a:rPr lang="ro-RO" altLang="ro-RO">
                <a:latin typeface="Cambria Math" panose="02040503050406030204" pitchFamily="18" charset="0"/>
              </a:rPr>
              <a:t>𝑎</a:t>
            </a:r>
            <a:r>
              <a:rPr lang="en-US" altLang="ro-RO">
                <a:latin typeface="Cambria Math" panose="02040503050406030204" pitchFamily="18" charset="0"/>
              </a:rPr>
              <a:t>&lt;0</a:t>
            </a:r>
            <a:r>
              <a:rPr lang="en-US" altLang="ro-RO"/>
              <a:t> </a:t>
            </a:r>
            <a:r>
              <a:rPr lang="ro-RO" altLang="ro-RO"/>
              <a:t>(cu culoare roşie). Î</a:t>
            </a:r>
            <a:r>
              <a:rPr lang="en-US" altLang="ro-RO"/>
              <a:t>n</a:t>
            </a:r>
            <a:r>
              <a:rPr lang="ro-RO" altLang="ro-RO"/>
              <a:t> cazul </a:t>
            </a:r>
            <a:r>
              <a:rPr lang="ro-RO" altLang="ro-RO">
                <a:latin typeface="Cambria Math" panose="02040503050406030204" pitchFamily="18" charset="0"/>
              </a:rPr>
              <a:t>𝑎</a:t>
            </a:r>
            <a:r>
              <a:rPr lang="en-US" altLang="ro-RO">
                <a:latin typeface="Cambria Math" panose="02040503050406030204" pitchFamily="18" charset="0"/>
              </a:rPr>
              <a:t>&gt;0</a:t>
            </a:r>
            <a:r>
              <a:rPr lang="en-US" altLang="ro-RO"/>
              <a:t>, sistemul de ordinul </a:t>
            </a:r>
            <a:r>
              <a:rPr lang="ro-RO" altLang="ro-RO"/>
              <a:t>întâi considerat este un filtru de tip trece-jos (amplifică componentele de frecvenţă joasă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ea typeface="Cambria Math" panose="02040503050406030204" pitchFamily="18" charset="0"/>
                <a:cs typeface="Cambria Math" panose="02040503050406030204" pitchFamily="18" charset="0"/>
              </a:rPr>
              <a:t>0</a:t>
            </a:r>
            <a:r>
              <a:rPr lang="ro-RO" altLang="ro-RO"/>
              <a:t>), caracteristica de modul este descrescătoare şi atenuează frecvenţele înalte (</a:t>
            </a:r>
            <a:r>
              <a:rPr lang="el-GR" altLang="ro-RO">
                <a:latin typeface="Cambria Math" panose="02040503050406030204" pitchFamily="18" charset="0"/>
                <a:ea typeface="Cambria Math" panose="02040503050406030204" pitchFamily="18" charset="0"/>
                <a:cs typeface="Cambria Math" panose="02040503050406030204" pitchFamily="18" charset="0"/>
              </a:rPr>
              <a:t>Ω≅𝜋</a:t>
            </a:r>
            <a:r>
              <a:rPr lang="ro-RO" altLang="ro-RO"/>
              <a:t>). În cazul </a:t>
            </a:r>
            <a:r>
              <a:rPr lang="ro-RO" altLang="ro-RO">
                <a:latin typeface="Cambria Math" panose="02040503050406030204" pitchFamily="18" charset="0"/>
              </a:rPr>
              <a:t>𝑎</a:t>
            </a:r>
            <a:r>
              <a:rPr lang="en-US" altLang="ro-RO">
                <a:latin typeface="Cambria Math" panose="02040503050406030204" pitchFamily="18" charset="0"/>
              </a:rPr>
              <a:t>&lt;0</a:t>
            </a:r>
            <a:r>
              <a:rPr lang="en-US" altLang="ro-RO"/>
              <a:t>, sistemul de ordinul </a:t>
            </a:r>
            <a:r>
              <a:rPr lang="ro-RO" altLang="ro-RO"/>
              <a:t>întâi este un filtru de tip trece-sus, atenuează frecvenţele joase, caracteristica de modul este crescătoare şi amplifică frecvenţele înalte. </a:t>
            </a:r>
            <a:r>
              <a:rPr lang="en-US" altLang="ro-RO"/>
              <a:t> </a:t>
            </a:r>
            <a:endParaRPr lang="ro-RO" altLang="ro-RO"/>
          </a:p>
          <a:p>
            <a:r>
              <a:rPr lang="ro-RO" altLang="ro-RO"/>
              <a:t>Argumentul răspunsului în frecvenţă al sistemului de ordinul întâi considerat este egal cu diferenţa dintre argumentul numărătorului şi argumentul numitorului (ecuaţia a şasea). Întrucât 1 este număr real şi pozitiv, argumentul său este egal cu zero. Ţinând seama de faptul că modulul lui a fost considerat mai mic decât 1 şi că valoarea maximă a lui </a:t>
            </a:r>
            <a:r>
              <a:rPr lang="ro-RO" altLang="ro-RO">
                <a:latin typeface="Cambria Math" panose="02040503050406030204" pitchFamily="18" charset="0"/>
              </a:rPr>
              <a:t>𝑎 cos⁡</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  </a:t>
            </a:r>
            <a:r>
              <a:rPr lang="ro-RO" altLang="ro-RO"/>
              <a:t>este </a:t>
            </a:r>
            <a:r>
              <a:rPr lang="ro-RO" altLang="ro-RO">
                <a:latin typeface="Cambria Math" panose="02040503050406030204" pitchFamily="18" charset="0"/>
              </a:rPr>
              <a:t>𝑎</a:t>
            </a:r>
            <a:r>
              <a:rPr lang="ro-RO" altLang="ro-RO"/>
              <a:t> rezultă că </a:t>
            </a:r>
            <a:r>
              <a:rPr lang="ro-RO" altLang="ro-RO">
                <a:latin typeface="Cambria Math" panose="02040503050406030204" pitchFamily="18" charset="0"/>
              </a:rPr>
              <a:t>1−𝑎 cos⁡</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t> este pozitiv pentru orice valoare a lui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ea typeface="Cambria Math" panose="02040503050406030204" pitchFamily="18" charset="0"/>
                <a:cs typeface="Cambria Math" panose="02040503050406030204" pitchFamily="18" charset="0"/>
              </a:rPr>
              <a:t> </a:t>
            </a:r>
            <a:r>
              <a:rPr lang="ro-RO" altLang="ro-RO"/>
              <a:t>şi în consecinţă argumentul răspunsului în frecvenţă se exprimă ca în cea de a şaptea ecuaţie. Pentru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en-US" altLang="ro-RO">
                <a:latin typeface="Cambria Math" panose="02040503050406030204" pitchFamily="18" charset="0"/>
                <a:ea typeface="Cambria Math" panose="02040503050406030204" pitchFamily="18" charset="0"/>
                <a:cs typeface="Cambria Math" panose="02040503050406030204" pitchFamily="18" charset="0"/>
              </a:rPr>
              <a:t>=0,</a:t>
            </a:r>
            <a:r>
              <a:rPr lang="en-US" altLang="ro-RO"/>
              <a:t> argumentul arctangentei este egal cu zero </a:t>
            </a:r>
            <a:r>
              <a:rPr lang="ro-RO" altLang="ro-RO"/>
              <a:t>şi deci argumentul răspunsului în frecvenţă este egal cu zero. Pentru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en-US" altLang="ro-RO">
                <a:latin typeface="Cambria Math" panose="02040503050406030204" pitchFamily="18" charset="0"/>
                <a:ea typeface="Cambria Math" panose="02040503050406030204" pitchFamily="18" charset="0"/>
                <a:cs typeface="Cambria Math" panose="02040503050406030204" pitchFamily="18" charset="0"/>
              </a:rPr>
              <a:t>=𝜋/2</a:t>
            </a:r>
            <a:r>
              <a:rPr lang="en-US" altLang="ro-RO"/>
              <a:t>, se ob</a:t>
            </a:r>
            <a:r>
              <a:rPr lang="ro-RO" altLang="ro-RO"/>
              <a:t>ţine </a:t>
            </a:r>
            <a:r>
              <a:rPr lang="ro-RO" altLang="ro-RO">
                <a:latin typeface="Cambria Math" panose="02040503050406030204" pitchFamily="18" charset="0"/>
              </a:rPr>
              <a:t>𝑎𝑟𝑔{𝐻(</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latin typeface="Cambria Math" panose="02040503050406030204" pitchFamily="18" charset="0"/>
              </a:rPr>
              <a:t>/2)}</a:t>
            </a:r>
            <a:r>
              <a:rPr lang="en-US" altLang="ro-RO">
                <a:latin typeface="Cambria Math" panose="02040503050406030204" pitchFamily="18" charset="0"/>
              </a:rPr>
              <a:t>=−𝑎𝑟𝑐𝑡𝑔 𝑎/1</a:t>
            </a:r>
            <a:r>
              <a:rPr lang="en-US" altLang="ro-RO"/>
              <a:t> care pentru a pozitiv are o valoare negativ</a:t>
            </a:r>
            <a:r>
              <a:rPr lang="ro-RO" altLang="ro-RO"/>
              <a:t>ă iar pentru a negativ are o valoare pozitivă. Pentru </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en-US" altLang="ro-RO">
                <a:latin typeface="Cambria Math" panose="02040503050406030204" pitchFamily="18" charset="0"/>
                <a:ea typeface="Cambria Math" panose="02040503050406030204" pitchFamily="18" charset="0"/>
                <a:cs typeface="Cambria Math" panose="02040503050406030204" pitchFamily="18" charset="0"/>
              </a:rPr>
              <a:t>=𝜋</a:t>
            </a:r>
            <a:r>
              <a:rPr lang="en-US" altLang="ro-RO"/>
              <a:t> se ob</a:t>
            </a:r>
            <a:r>
              <a:rPr lang="ro-RO" altLang="ro-RO"/>
              <a:t>ţine </a:t>
            </a:r>
            <a:r>
              <a:rPr lang="ro-RO" altLang="ro-RO">
                <a:latin typeface="Cambria Math" panose="02040503050406030204" pitchFamily="18" charset="0"/>
              </a:rPr>
              <a:t>𝑎𝑟𝑔{𝐻(</a:t>
            </a:r>
            <a:r>
              <a:rPr lang="ro-RO" altLang="ro-RO">
                <a:latin typeface="Cambria Math" panose="02040503050406030204" pitchFamily="18" charset="0"/>
                <a:ea typeface="Cambria Math" panose="02040503050406030204" pitchFamily="18" charset="0"/>
                <a:cs typeface="Cambria Math" panose="02040503050406030204" pitchFamily="18" charset="0"/>
              </a:rPr>
              <a:t>𝜋</a:t>
            </a:r>
            <a:r>
              <a:rPr lang="ro-RO" altLang="ro-RO">
                <a:latin typeface="Cambria Math" panose="02040503050406030204" pitchFamily="18" charset="0"/>
              </a:rPr>
              <a:t>)}</a:t>
            </a:r>
            <a:r>
              <a:rPr lang="en-US" altLang="ro-RO">
                <a:latin typeface="Cambria Math" panose="02040503050406030204" pitchFamily="18" charset="0"/>
              </a:rPr>
              <a:t>=0</a:t>
            </a:r>
            <a:r>
              <a:rPr lang="en-US" altLang="ro-RO"/>
              <a:t>. Caracteristica de fa</a:t>
            </a:r>
            <a:r>
              <a:rPr lang="ro-RO" altLang="ro-RO"/>
              <a:t>ză a sistemului considerat este reprezentată în figura de jos cu negru în cazul a pozitiv şi cu roşu în cazul a negativ. </a:t>
            </a:r>
            <a:endParaRPr lang="en-US" altLang="ro-RO"/>
          </a:p>
        </p:txBody>
      </p:sp>
      <p:sp>
        <p:nvSpPr>
          <p:cNvPr id="76804" name="Slide Number Placeholder 3">
            <a:extLst>
              <a:ext uri="{FF2B5EF4-FFF2-40B4-BE49-F238E27FC236}">
                <a16:creationId xmlns:a16="http://schemas.microsoft.com/office/drawing/2014/main" id="{7AC8BFA8-7D59-45BA-968C-D63371A5BF9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4D034F8-1235-44B4-B2DA-38CFD63A7A21}" type="slidenum">
              <a:rPr lang="en-US" altLang="ro-RO"/>
              <a:pPr/>
              <a:t>24</a:t>
            </a:fld>
            <a:endParaRPr lang="en-US" altLang="ro-RO"/>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804EFAA0-A933-4653-B0EE-03647D2A62E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EE2AE3F5-8152-461F-9271-3980158ADE2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Ecuaţiile cu diferenţe finite care caracterizează sistemele numerice de ordinul doi au doi parametri, </a:t>
            </a:r>
            <a:r>
              <a:rPr lang="el-GR" altLang="ro-RO"/>
              <a:t>ρ</a:t>
            </a:r>
            <a:r>
              <a:rPr lang="ro-RO" altLang="ro-RO"/>
              <a:t> şi </a:t>
            </a:r>
            <a:r>
              <a:rPr lang="el-GR" altLang="ro-RO"/>
              <a:t>θ</a:t>
            </a:r>
            <a:r>
              <a:rPr lang="ro-RO" altLang="ro-RO"/>
              <a:t> care iau valori între 0 şi 1 şi respectiv între 0 şi </a:t>
            </a:r>
            <a:r>
              <a:rPr lang="el-GR" altLang="ro-RO"/>
              <a:t>π</a:t>
            </a:r>
            <a:r>
              <a:rPr lang="ro-RO" altLang="ro-RO"/>
              <a:t>. Un exemplu este prezentat în prima ecuaţie. Identificând coeficienţii ecuaţiei cu diferenţe finite se obţine : </a:t>
            </a:r>
            <a:r>
              <a:rPr lang="ro-RO" altLang="ro-RO">
                <a:latin typeface="Cambria Math" panose="02040503050406030204" pitchFamily="18" charset="0"/>
              </a:rPr>
              <a:t>𝑎_0</a:t>
            </a:r>
            <a:r>
              <a:rPr lang="en-US" altLang="ro-RO">
                <a:latin typeface="Cambria Math" panose="02040503050406030204" pitchFamily="18" charset="0"/>
              </a:rPr>
              <a:t>=1, 𝑎_1=−2</a:t>
            </a:r>
            <a:r>
              <a:rPr lang="en-US" altLang="ro-RO">
                <a:latin typeface="Cambria Math" panose="02040503050406030204" pitchFamily="18" charset="0"/>
                <a:ea typeface="Cambria Math" panose="02040503050406030204" pitchFamily="18" charset="0"/>
                <a:cs typeface="Cambria Math" panose="02040503050406030204" pitchFamily="18" charset="0"/>
              </a:rPr>
              <a:t>𝜌 cos⁡𝜃, 𝑎_2=𝜌^2, 𝑏_0=</a:t>
            </a:r>
            <a:r>
              <a:rPr lang="ro-RO" altLang="ro-RO">
                <a:latin typeface="Cambria Math" panose="02040503050406030204" pitchFamily="18" charset="0"/>
                <a:ea typeface="Cambria Math" panose="02040503050406030204" pitchFamily="18" charset="0"/>
                <a:cs typeface="Cambria Math" panose="02040503050406030204" pitchFamily="18" charset="0"/>
              </a:rPr>
              <a:t>1 </a:t>
            </a:r>
            <a:r>
              <a:rPr lang="ro-RO" altLang="ro-RO"/>
              <a:t>şi răspunsul în frecvenţă cu expresia din ecuaţia a doua. Se observă că numitorul răspunsului în frecvenţă se poate factoriza în forma din ecuaţia a treia. Această expresie poate fi descompusă în fracţii simple, care pot fi inversate pe baza tabelului 5.3 de perechi semnal transformată Fourier în timp discret, rezultând răspunsul la impuls din ecuaţia a patra. Această formulă nu este valabilă în cazurile particulare </a:t>
            </a:r>
            <a:r>
              <a:rPr lang="ro-RO" altLang="ro-RO">
                <a:latin typeface="Cambria Math" panose="02040503050406030204" pitchFamily="18" charset="0"/>
                <a:ea typeface="Cambria Math" panose="02040503050406030204" pitchFamily="18" charset="0"/>
                <a:cs typeface="Cambria Math" panose="02040503050406030204" pitchFamily="18" charset="0"/>
              </a:rPr>
              <a:t>𝜃</a:t>
            </a:r>
            <a:r>
              <a:rPr lang="en-US" altLang="ro-RO">
                <a:latin typeface="Cambria Math" panose="02040503050406030204" pitchFamily="18" charset="0"/>
                <a:ea typeface="Cambria Math" panose="02040503050406030204" pitchFamily="18" charset="0"/>
                <a:cs typeface="Cambria Math" panose="02040503050406030204" pitchFamily="18" charset="0"/>
              </a:rPr>
              <a:t>=0</a:t>
            </a:r>
            <a:r>
              <a:rPr lang="en-US" altLang="ro-RO"/>
              <a:t> </a:t>
            </a:r>
            <a:r>
              <a:rPr lang="ro-RO" altLang="ro-RO"/>
              <a:t>şi </a:t>
            </a:r>
            <a:r>
              <a:rPr lang="ro-RO" altLang="ro-RO">
                <a:latin typeface="Cambria Math" panose="02040503050406030204" pitchFamily="18" charset="0"/>
                <a:ea typeface="Cambria Math" panose="02040503050406030204" pitchFamily="18" charset="0"/>
                <a:cs typeface="Cambria Math" panose="02040503050406030204" pitchFamily="18" charset="0"/>
              </a:rPr>
              <a:t>𝜃</a:t>
            </a:r>
            <a:r>
              <a:rPr lang="en-US" altLang="ro-RO">
                <a:latin typeface="Cambria Math" panose="02040503050406030204" pitchFamily="18" charset="0"/>
                <a:ea typeface="Cambria Math" panose="02040503050406030204" pitchFamily="18" charset="0"/>
                <a:cs typeface="Cambria Math" panose="02040503050406030204" pitchFamily="18" charset="0"/>
              </a:rPr>
              <a:t>=𝜋</a:t>
            </a:r>
            <a:r>
              <a:rPr lang="en-US" altLang="ro-RO"/>
              <a:t>, c</a:t>
            </a:r>
            <a:r>
              <a:rPr lang="ro-RO" altLang="ro-RO"/>
              <a:t>ând numitorul răspunsului la impuls din ultima ecuaţie se anulează. </a:t>
            </a:r>
          </a:p>
          <a:p>
            <a:r>
              <a:rPr lang="ro-RO" altLang="ro-RO"/>
              <a:t>Spectrul răspunsului indicial al sistemului de ordinul doi considerat se obţine înmulţind </a:t>
            </a:r>
            <a:r>
              <a:rPr lang="ro-RO" altLang="ro-RO">
                <a:latin typeface="Cambria Math" panose="02040503050406030204" pitchFamily="18" charset="0"/>
              </a:rPr>
              <a:t>𝐻(</a:t>
            </a:r>
            <a:r>
              <a:rPr lang="el-GR" altLang="ro-RO">
                <a:latin typeface="Cambria Math" panose="02040503050406030204" pitchFamily="18" charset="0"/>
                <a:ea typeface="Cambria Math" panose="02040503050406030204" pitchFamily="18" charset="0"/>
                <a:cs typeface="Cambria Math" panose="02040503050406030204" pitchFamily="18" charset="0"/>
              </a:rPr>
              <a:t>Ω</a:t>
            </a:r>
            <a:r>
              <a:rPr lang="ro-RO" altLang="ro-RO">
                <a:latin typeface="Cambria Math" panose="02040503050406030204" pitchFamily="18" charset="0"/>
              </a:rPr>
              <a:t>)  </a:t>
            </a:r>
            <a:r>
              <a:rPr lang="ro-RO" altLang="ro-RO"/>
              <a:t>cu transformata Fourier în timp discret a treptei unitate, calculată anterior. Inversând această transformată Fourier în timp discret se poate obţine expresia răspunsului indicial.</a:t>
            </a:r>
            <a:endParaRPr lang="en-US" altLang="ro-RO"/>
          </a:p>
        </p:txBody>
      </p:sp>
      <p:sp>
        <p:nvSpPr>
          <p:cNvPr id="77828" name="Slide Number Placeholder 3">
            <a:extLst>
              <a:ext uri="{FF2B5EF4-FFF2-40B4-BE49-F238E27FC236}">
                <a16:creationId xmlns:a16="http://schemas.microsoft.com/office/drawing/2014/main" id="{7E502AE1-1242-4E6D-BAEE-FEF0CE5BC2A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D9A414-363C-4998-8B68-7300CEB8D70B}" type="slidenum">
              <a:rPr lang="en-US" altLang="ro-RO"/>
              <a:pPr/>
              <a:t>25</a:t>
            </a:fld>
            <a:endParaRPr lang="en-US" altLang="ro-RO"/>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a:extLst>
              <a:ext uri="{FF2B5EF4-FFF2-40B4-BE49-F238E27FC236}">
                <a16:creationId xmlns:a16="http://schemas.microsoft.com/office/drawing/2014/main" id="{0BB52E5E-6A67-4EFB-9D14-052CE674F39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a:extLst>
              <a:ext uri="{FF2B5EF4-FFF2-40B4-BE49-F238E27FC236}">
                <a16:creationId xmlns:a16="http://schemas.microsoft.com/office/drawing/2014/main" id="{D61DA25A-708B-4A45-A4BF-721AAD9D2D2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În figură sunt prezentate răspunsurile la impuls ale sistemului de ordinul doi considerat în trei cazuri particulare. În graficul de sus este reprezentat cazul </a:t>
            </a:r>
            <a:r>
              <a:rPr lang="ro-RO" altLang="ro-RO">
                <a:latin typeface="Cambria Math" panose="02040503050406030204" pitchFamily="18" charset="0"/>
                <a:ea typeface="Cambria Math" panose="02040503050406030204" pitchFamily="18" charset="0"/>
                <a:cs typeface="Cambria Math" panose="02040503050406030204" pitchFamily="18" charset="0"/>
              </a:rPr>
              <a:t>𝜌</a:t>
            </a:r>
            <a:r>
              <a:rPr lang="en-US" altLang="ro-RO">
                <a:latin typeface="Cambria Math" panose="02040503050406030204" pitchFamily="18" charset="0"/>
                <a:ea typeface="Cambria Math" panose="02040503050406030204" pitchFamily="18" charset="0"/>
                <a:cs typeface="Cambria Math" panose="02040503050406030204" pitchFamily="18" charset="0"/>
              </a:rPr>
              <a:t>=0 </a:t>
            </a:r>
            <a:r>
              <a:rPr lang="ro-RO" altLang="ro-RO">
                <a:latin typeface="Cambria Math" panose="02040503050406030204" pitchFamily="18" charset="0"/>
                <a:ea typeface="Cambria Math" panose="02040503050406030204" pitchFamily="18" charset="0"/>
                <a:cs typeface="Cambria Math" panose="02040503050406030204" pitchFamily="18" charset="0"/>
              </a:rPr>
              <a:t>şi </a:t>
            </a:r>
            <a:r>
              <a:rPr lang="el-GR" altLang="ro-RO">
                <a:latin typeface="Cambria Math" panose="02040503050406030204" pitchFamily="18" charset="0"/>
                <a:ea typeface="Cambria Math" panose="02040503050406030204" pitchFamily="18" charset="0"/>
                <a:cs typeface="Cambria Math" panose="02040503050406030204" pitchFamily="18" charset="0"/>
              </a:rPr>
              <a:t>θ</a:t>
            </a:r>
            <a:r>
              <a:rPr lang="en-US" altLang="ro-RO">
                <a:latin typeface="Cambria Math" panose="02040503050406030204" pitchFamily="18" charset="0"/>
                <a:ea typeface="Cambria Math" panose="02040503050406030204" pitchFamily="18" charset="0"/>
                <a:cs typeface="Cambria Math" panose="02040503050406030204" pitchFamily="18" charset="0"/>
              </a:rPr>
              <a:t>=𝜋/2</a:t>
            </a:r>
            <a:r>
              <a:rPr lang="en-US" altLang="ro-RO"/>
              <a:t>. </a:t>
            </a:r>
            <a:r>
              <a:rPr lang="ro-RO" altLang="ro-RO"/>
              <a:t>În acest caz expresia generală a răspunsului la impuls al filtrului din prima ecuaţie ia forma din cea de a doua ecuaţie. Se observă că eşantioanele răspunsului la impuls corespunzătoare momentelor de timp negative au valoarea zero. Deci sistemul de ordinul doi considerat este cauzal. De asemenea se observă că eşantioanele corespunzătoare momentelor de timp impare (1, 3, 5,...) au valoarea zero. De asemenea, poate fi remarcat că modulul răspunsului la impuls este o funcţie descrescătoare de timp. </a:t>
            </a:r>
          </a:p>
          <a:p>
            <a:r>
              <a:rPr lang="ro-RO" altLang="ro-RO"/>
              <a:t>În cel de al doilea grafic este reprezentat răspunsul la impuls al sistemului de ordinul doi pentru cazul </a:t>
            </a:r>
            <a:r>
              <a:rPr lang="ro-RO" altLang="ro-RO">
                <a:latin typeface="Cambria Math" panose="02040503050406030204" pitchFamily="18" charset="0"/>
                <a:ea typeface="Cambria Math" panose="02040503050406030204" pitchFamily="18" charset="0"/>
                <a:cs typeface="Cambria Math" panose="02040503050406030204" pitchFamily="18" charset="0"/>
              </a:rPr>
              <a:t>𝜌</a:t>
            </a:r>
            <a:r>
              <a:rPr lang="en-US" altLang="ro-RO">
                <a:latin typeface="Cambria Math" panose="02040503050406030204" pitchFamily="18" charset="0"/>
                <a:ea typeface="Cambria Math" panose="02040503050406030204" pitchFamily="18" charset="0"/>
                <a:cs typeface="Cambria Math" panose="02040503050406030204" pitchFamily="18" charset="0"/>
              </a:rPr>
              <a:t>=3/4</a:t>
            </a:r>
            <a:r>
              <a:rPr lang="en-US" altLang="ro-RO"/>
              <a:t>, </a:t>
            </a:r>
            <a:r>
              <a:rPr lang="en-US" altLang="ro-RO">
                <a:latin typeface="Cambria Math" panose="02040503050406030204" pitchFamily="18" charset="0"/>
                <a:ea typeface="Cambria Math" panose="02040503050406030204" pitchFamily="18" charset="0"/>
                <a:cs typeface="Cambria Math" panose="02040503050406030204" pitchFamily="18" charset="0"/>
              </a:rPr>
              <a:t>𝜃=0</a:t>
            </a:r>
            <a:r>
              <a:rPr lang="en-US" altLang="ro-RO"/>
              <a:t>. </a:t>
            </a:r>
            <a:r>
              <a:rPr lang="ro-RO" altLang="ro-RO"/>
              <a:t>În acest caz expresia răspunsului în frecvenţă al sistemului de ordinul doi considerat ia forma din cea de a treia ecuaţie. Se constată că acest răspuns în frecvenţă are forma pătratului răspunsului în frecvenţă al unui sistem de ordinul întâi trece-jos. De aceea putem afirma că în acest caz sistemul de ordinul doi considerat este un filtru trece-jos. Expresia răspunsului la impuls a acestui sistem poate fi determinată prin calculul transformatei Fourier în timp discret inversă a răspunsului în frecvenţă din ecuaţia a treia. Folosind tabelul 5.3 de perechi semnal transformată Fourier în timp discret se obţine expresia răspunsului la impuls din ecuaţia a cincea. Acesta este un produs dintre o funcţie crescătoare, </a:t>
            </a:r>
            <a:r>
              <a:rPr lang="en-US" altLang="ro-RO">
                <a:latin typeface="Cambria Math" panose="02040503050406030204" pitchFamily="18" charset="0"/>
              </a:rPr>
              <a:t>𝑛+1</a:t>
            </a:r>
            <a:r>
              <a:rPr lang="en-US" altLang="ro-RO"/>
              <a:t> </a:t>
            </a:r>
            <a:r>
              <a:rPr lang="ro-RO" altLang="ro-RO"/>
              <a:t>şi o funcţie descrescătoare </a:t>
            </a:r>
            <a:r>
              <a:rPr lang="ro-RO" altLang="ro-RO">
                <a:latin typeface="Cambria Math" panose="02040503050406030204" pitchFamily="18" charset="0"/>
                <a:ea typeface="Cambria Math" panose="02040503050406030204" pitchFamily="18" charset="0"/>
                <a:cs typeface="Cambria Math" panose="02040503050406030204" pitchFamily="18" charset="0"/>
              </a:rPr>
              <a:t>𝜌</a:t>
            </a:r>
            <a:r>
              <a:rPr lang="ro-RO" altLang="ro-RO">
                <a:latin typeface="Cambria Math" panose="02040503050406030204" pitchFamily="18" charset="0"/>
              </a:rPr>
              <a:t>^𝑛</a:t>
            </a:r>
            <a:r>
              <a:rPr lang="ro-RO" altLang="ro-RO"/>
              <a:t>. La valori mici ale lui n (n</a:t>
            </a:r>
            <a:r>
              <a:rPr lang="en-US" altLang="ro-RO"/>
              <a:t>=0, 1, 2) </a:t>
            </a:r>
            <a:r>
              <a:rPr lang="ro-RO" altLang="ro-RO"/>
              <a:t>este dominantă funcţia crescătoare iar la valori mari ale lui n este dominantă funcţia descrescătoare. De aceea acest răspuns la impuls are un maxim care se poate observa în cel de al doilea grafic.</a:t>
            </a:r>
          </a:p>
          <a:p>
            <a:r>
              <a:rPr lang="ro-RO" altLang="ro-RO"/>
              <a:t>În sfârşit, în cel de al treilea caz, valorile parametrilor sunt </a:t>
            </a:r>
            <a:r>
              <a:rPr lang="ro-RO" altLang="ro-RO">
                <a:latin typeface="Cambria Math" panose="02040503050406030204" pitchFamily="18" charset="0"/>
                <a:ea typeface="Cambria Math" panose="02040503050406030204" pitchFamily="18" charset="0"/>
                <a:cs typeface="Cambria Math" panose="02040503050406030204" pitchFamily="18" charset="0"/>
              </a:rPr>
              <a:t>𝜌</a:t>
            </a:r>
            <a:r>
              <a:rPr lang="en-US" altLang="ro-RO">
                <a:latin typeface="Cambria Math" panose="02040503050406030204" pitchFamily="18" charset="0"/>
                <a:ea typeface="Cambria Math" panose="02040503050406030204" pitchFamily="18" charset="0"/>
                <a:cs typeface="Cambria Math" panose="02040503050406030204" pitchFamily="18" charset="0"/>
              </a:rPr>
              <a:t>=3/4</a:t>
            </a:r>
            <a:r>
              <a:rPr lang="en-US" altLang="ro-RO"/>
              <a:t> </a:t>
            </a:r>
            <a:r>
              <a:rPr lang="ro-RO" altLang="ro-RO"/>
              <a:t>şi </a:t>
            </a:r>
            <a:r>
              <a:rPr lang="ro-RO" altLang="ro-RO">
                <a:latin typeface="Cambria Math" panose="02040503050406030204" pitchFamily="18" charset="0"/>
                <a:ea typeface="Cambria Math" panose="02040503050406030204" pitchFamily="18" charset="0"/>
                <a:cs typeface="Cambria Math" panose="02040503050406030204" pitchFamily="18" charset="0"/>
              </a:rPr>
              <a:t>𝜃</a:t>
            </a:r>
            <a:r>
              <a:rPr lang="en-US" altLang="ro-RO">
                <a:latin typeface="Cambria Math" panose="02040503050406030204" pitchFamily="18" charset="0"/>
                <a:ea typeface="Cambria Math" panose="02040503050406030204" pitchFamily="18" charset="0"/>
                <a:cs typeface="Cambria Math" panose="02040503050406030204" pitchFamily="18" charset="0"/>
              </a:rPr>
              <a:t>=𝜋</a:t>
            </a:r>
            <a:r>
              <a:rPr lang="en-US" altLang="ro-RO"/>
              <a:t> iar expresia r</a:t>
            </a:r>
            <a:r>
              <a:rPr lang="ro-RO" altLang="ro-RO"/>
              <a:t>ă</a:t>
            </a:r>
            <a:r>
              <a:rPr lang="en-US" altLang="ro-RO"/>
              <a:t>spunsului</a:t>
            </a:r>
            <a:r>
              <a:rPr lang="ro-RO" altLang="ro-RO"/>
              <a:t> în frecvenţă corespunzător este cea din ecuaţia a cincea.</a:t>
            </a:r>
            <a:r>
              <a:rPr lang="en-US" altLang="ro-RO"/>
              <a:t> </a:t>
            </a:r>
            <a:r>
              <a:rPr lang="ro-RO" altLang="ro-RO"/>
              <a:t>Întrucât această expresie este identică cu pătratul răspunsului în frecvenţă al unui filtru trece sus de ordinul întâi rezultă că acest sistem de ordinul doi corespunde unui filtru trece sus. Răspunsul său la impuls se obţine calculând transformata Fourier în timp discret inversă a răspunsului în frecvenţă din cea de a cincea ecuaţie şi are forma din cea de a şasea ecuaţie. </a:t>
            </a:r>
            <a:endParaRPr lang="en-US" altLang="ro-RO"/>
          </a:p>
        </p:txBody>
      </p:sp>
      <p:sp>
        <p:nvSpPr>
          <p:cNvPr id="78852" name="Slide Number Placeholder 3">
            <a:extLst>
              <a:ext uri="{FF2B5EF4-FFF2-40B4-BE49-F238E27FC236}">
                <a16:creationId xmlns:a16="http://schemas.microsoft.com/office/drawing/2014/main" id="{97F3B873-9EEC-4027-95AC-15EABD07ABD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F422E10-B481-43E1-8107-3BE82904165B}" type="slidenum">
              <a:rPr lang="en-US" altLang="ro-RO"/>
              <a:pPr/>
              <a:t>26</a:t>
            </a:fld>
            <a:endParaRPr lang="en-US" altLang="ro-RO"/>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a:extLst>
              <a:ext uri="{FF2B5EF4-FFF2-40B4-BE49-F238E27FC236}">
                <a16:creationId xmlns:a16="http://schemas.microsoft.com/office/drawing/2014/main" id="{E8DF2C10-B351-443C-AB92-091CCAA993E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a:extLst>
              <a:ext uri="{FF2B5EF4-FFF2-40B4-BE49-F238E27FC236}">
                <a16:creationId xmlns:a16="http://schemas.microsoft.com/office/drawing/2014/main" id="{748D6587-0BB1-4EAE-BA39-3D69AD675E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După cum se ştie, răspunsul unui sistem liniar şi invariant în timp, y</a:t>
            </a:r>
            <a:r>
              <a:rPr lang="en-US" altLang="ro-RO"/>
              <a:t>[n],</a:t>
            </a:r>
            <a:r>
              <a:rPr lang="ro-RO" altLang="ro-RO"/>
              <a:t> la semnalul digital oarecare x</a:t>
            </a:r>
            <a:r>
              <a:rPr lang="en-US" altLang="ro-RO"/>
              <a:t>[n] se determin</a:t>
            </a:r>
            <a:r>
              <a:rPr lang="ro-RO" altLang="ro-RO"/>
              <a:t>ă calculând convoluţia </a:t>
            </a:r>
            <a:r>
              <a:rPr lang="en-US" altLang="ro-RO"/>
              <a:t>dintre acest semnal </a:t>
            </a:r>
            <a:r>
              <a:rPr lang="ro-RO" altLang="ro-RO"/>
              <a:t>şi răspunsul la impuls al sistemului h</a:t>
            </a:r>
            <a:r>
              <a:rPr lang="en-US" altLang="ro-RO"/>
              <a:t>[n], figura a). </a:t>
            </a:r>
            <a:r>
              <a:rPr lang="ro-RO" altLang="ro-RO"/>
              <a:t>Dificultatea a</a:t>
            </a:r>
            <a:r>
              <a:rPr lang="en-US" altLang="ro-RO"/>
              <a:t>ceast</a:t>
            </a:r>
            <a:r>
              <a:rPr lang="ro-RO" altLang="ro-RO"/>
              <a:t>ei proceduri rezidă în calculul convoluţiei, care poate fi laborios. Răspunsul sistemului la semnalul x</a:t>
            </a:r>
            <a:r>
              <a:rPr lang="en-US" altLang="ro-RO"/>
              <a:t>[n] poate fi determinat </a:t>
            </a:r>
            <a:r>
              <a:rPr lang="ro-RO" altLang="ro-RO"/>
              <a:t>şi în domeniul frecvenţă proedând ca în figura b). Această procedură are trei paşi : </a:t>
            </a:r>
          </a:p>
          <a:p>
            <a:r>
              <a:rPr lang="ro-RO" altLang="ro-RO"/>
              <a:t>i) Se determină expresia spectrului semnalului de intrare, X</a:t>
            </a:r>
            <a:r>
              <a:rPr lang="en-US" altLang="ro-RO"/>
              <a:t>(</a:t>
            </a:r>
            <a:r>
              <a:rPr lang="el-GR" altLang="ro-RO"/>
              <a:t>Ω</a:t>
            </a:r>
            <a:r>
              <a:rPr lang="en-US" altLang="ro-RO"/>
              <a:t>), calcu</a:t>
            </a:r>
            <a:r>
              <a:rPr lang="ro-RO" altLang="ro-RO"/>
              <a:t>lând transformata Fourier în timp discret a semnalului x</a:t>
            </a:r>
            <a:r>
              <a:rPr lang="en-US" altLang="ro-RO"/>
              <a:t>[n];</a:t>
            </a:r>
            <a:r>
              <a:rPr lang="ro-RO" altLang="ro-RO">
                <a:solidFill>
                  <a:srgbClr val="000000"/>
                </a:solidFill>
              </a:rPr>
              <a:t> </a:t>
            </a:r>
            <a:endParaRPr lang="en-US" altLang="ro-RO">
              <a:solidFill>
                <a:srgbClr val="000000"/>
              </a:solidFill>
            </a:endParaRPr>
          </a:p>
          <a:p>
            <a:r>
              <a:rPr lang="ro-RO" altLang="ro-RO">
                <a:solidFill>
                  <a:srgbClr val="000000"/>
                </a:solidFill>
              </a:rPr>
              <a:t>ii) Se determină expresia spectrului semnalului de i</a:t>
            </a:r>
            <a:r>
              <a:rPr lang="en-US" altLang="ro-RO">
                <a:solidFill>
                  <a:srgbClr val="000000"/>
                </a:solidFill>
              </a:rPr>
              <a:t>e</a:t>
            </a:r>
            <a:r>
              <a:rPr lang="ro-RO" altLang="ro-RO">
                <a:solidFill>
                  <a:srgbClr val="000000"/>
                </a:solidFill>
              </a:rPr>
              <a:t>şire, Y</a:t>
            </a:r>
            <a:r>
              <a:rPr lang="en-US" altLang="ro-RO">
                <a:solidFill>
                  <a:srgbClr val="000000"/>
                </a:solidFill>
              </a:rPr>
              <a:t>(</a:t>
            </a:r>
            <a:r>
              <a:rPr lang="el-GR" altLang="ro-RO">
                <a:solidFill>
                  <a:srgbClr val="000000"/>
                </a:solidFill>
              </a:rPr>
              <a:t>Ω</a:t>
            </a:r>
            <a:r>
              <a:rPr lang="en-US" altLang="ro-RO">
                <a:solidFill>
                  <a:srgbClr val="000000"/>
                </a:solidFill>
              </a:rPr>
              <a:t>), calcu</a:t>
            </a:r>
            <a:r>
              <a:rPr lang="ro-RO" altLang="ro-RO">
                <a:solidFill>
                  <a:srgbClr val="000000"/>
                </a:solidFill>
              </a:rPr>
              <a:t>lând produsul dintre spectrul semnalului de intrare şi răspunsul în frecvenţă al sistemului (H(</a:t>
            </a:r>
            <a:r>
              <a:rPr lang="el-GR" altLang="ro-RO">
                <a:solidFill>
                  <a:srgbClr val="000000"/>
                </a:solidFill>
              </a:rPr>
              <a:t>Ω</a:t>
            </a:r>
            <a:r>
              <a:rPr lang="ro-RO" altLang="ro-RO">
                <a:solidFill>
                  <a:srgbClr val="000000"/>
                </a:solidFill>
              </a:rPr>
              <a:t>) este transformata Fourier în timp discret a răspunsului la impuls al sistemului, h</a:t>
            </a:r>
            <a:r>
              <a:rPr lang="en-US" altLang="ro-RO">
                <a:solidFill>
                  <a:srgbClr val="000000"/>
                </a:solidFill>
              </a:rPr>
              <a:t>[n]</a:t>
            </a:r>
            <a:r>
              <a:rPr lang="ro-RO" altLang="ro-RO">
                <a:solidFill>
                  <a:srgbClr val="000000"/>
                </a:solidFill>
              </a:rPr>
              <a:t>)</a:t>
            </a:r>
            <a:r>
              <a:rPr lang="en-US" altLang="ro-RO">
                <a:solidFill>
                  <a:srgbClr val="000000"/>
                </a:solidFill>
              </a:rPr>
              <a:t> (</a:t>
            </a:r>
            <a:r>
              <a:rPr lang="ro-RO" altLang="ro-RO">
                <a:solidFill>
                  <a:srgbClr val="000000"/>
                </a:solidFill>
              </a:rPr>
              <a:t>operaţia de înmulţire este mult mai simplă decât convoluţia</a:t>
            </a:r>
            <a:r>
              <a:rPr lang="en-US" altLang="ro-RO">
                <a:solidFill>
                  <a:srgbClr val="000000"/>
                </a:solidFill>
              </a:rPr>
              <a:t>)</a:t>
            </a:r>
            <a:r>
              <a:rPr lang="ro-RO" altLang="ro-RO">
                <a:solidFill>
                  <a:srgbClr val="000000"/>
                </a:solidFill>
              </a:rPr>
              <a:t>;</a:t>
            </a:r>
          </a:p>
          <a:p>
            <a:r>
              <a:rPr lang="ro-RO" altLang="ro-RO">
                <a:solidFill>
                  <a:srgbClr val="000000"/>
                </a:solidFill>
              </a:rPr>
              <a:t>iii) Se descompune Y(</a:t>
            </a:r>
            <a:r>
              <a:rPr lang="el-GR" altLang="ro-RO">
                <a:solidFill>
                  <a:srgbClr val="000000"/>
                </a:solidFill>
              </a:rPr>
              <a:t>Ω</a:t>
            </a:r>
            <a:r>
              <a:rPr lang="ro-RO" altLang="ro-RO">
                <a:solidFill>
                  <a:srgbClr val="000000"/>
                </a:solidFill>
              </a:rPr>
              <a:t>) în fracţii simple şi se calculează transformata Fourier în timp discret inversă a fiecărei fracţii simple cu ajutorul tabelului 5.3.</a:t>
            </a:r>
            <a:endParaRPr lang="en-US" altLang="ro-RO"/>
          </a:p>
          <a:p>
            <a:pPr>
              <a:buFontTx/>
              <a:buAutoNum type="arabicParenR"/>
            </a:pPr>
            <a:endParaRPr lang="en-US" altLang="ro-RO"/>
          </a:p>
          <a:p>
            <a:pPr>
              <a:buFontTx/>
              <a:buAutoNum type="arabicParenR"/>
            </a:pPr>
            <a:endParaRPr lang="en-US" altLang="ro-RO"/>
          </a:p>
        </p:txBody>
      </p:sp>
      <p:sp>
        <p:nvSpPr>
          <p:cNvPr id="79876" name="Slide Number Placeholder 3">
            <a:extLst>
              <a:ext uri="{FF2B5EF4-FFF2-40B4-BE49-F238E27FC236}">
                <a16:creationId xmlns:a16="http://schemas.microsoft.com/office/drawing/2014/main" id="{2AE344AD-5B0E-4731-909D-6537C9DBBAF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87CA9D0-914F-4C48-A801-7C7DA68C0F24}" type="slidenum">
              <a:rPr lang="en-US" altLang="ro-RO"/>
              <a:pPr/>
              <a:t>27</a:t>
            </a:fld>
            <a:endParaRPr lang="en-US" altLang="ro-RO"/>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a:extLst>
              <a:ext uri="{FF2B5EF4-FFF2-40B4-BE49-F238E27FC236}">
                <a16:creationId xmlns:a16="http://schemas.microsoft.com/office/drawing/2014/main" id="{7356BA2F-8EB9-47B3-947F-FE1F92EA98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a:extLst>
              <a:ext uri="{FF2B5EF4-FFF2-40B4-BE49-F238E27FC236}">
                <a16:creationId xmlns:a16="http://schemas.microsoft.com/office/drawing/2014/main" id="{FA9DC43D-7CB0-406B-A2C3-25F916637A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Mai devreme s-a prezentat o metodă de determinare a răspunsului unui sistem digital liniar şi invariant în timp la un semnal periodic şi s-a particularizat această metodă în cazul semnalelor sinusoidale (armonice) prezentându-se metoda armonică. În continuare se demonstrează această metodă. Semnalul de intrare din prima ecuaţie se descompune în serie Fourier folosind relaţia a doua a lui Euler, ca în ecuaţia a doua. Coeficienţii Fourier ai semnalului de intrare sunt prezentaţi în ecuaţiile a treia, a patra şi a cincea. Coeficienţii Fourier ai semnalului de la ieşire se obţin înmulţind coeficienţii Fourier ai semnalului de intrare cu eşantioane ale răspunsului în frecvenţă </a:t>
            </a:r>
            <a:r>
              <a:rPr lang="ro-RO" altLang="ro-RO">
                <a:latin typeface="Cambria Math" panose="02040503050406030204" pitchFamily="18" charset="0"/>
              </a:rPr>
              <a:t>𝑐_𝑘 𝐻(𝑘</a:t>
            </a:r>
            <a:r>
              <a:rPr lang="ro-RO" altLang="ro-RO">
                <a:latin typeface="Cambria Math" panose="02040503050406030204" pitchFamily="18" charset="0"/>
                <a:ea typeface="Cambria Math" panose="02040503050406030204" pitchFamily="18" charset="0"/>
                <a:cs typeface="Cambria Math" panose="02040503050406030204" pitchFamily="18" charset="0"/>
              </a:rPr>
              <a:t>𝜔</a:t>
            </a:r>
            <a:r>
              <a:rPr lang="ro-RO" altLang="ro-RO">
                <a:latin typeface="Cambria Math" panose="02040503050406030204" pitchFamily="18" charset="0"/>
              </a:rPr>
              <a:t>_0 )</a:t>
            </a:r>
            <a:r>
              <a:rPr lang="ro-RO" altLang="ro-RO"/>
              <a:t>. Expresia dezvoltării în serie Fourier a semnalului de ieşire este prezentată în cea de a şasea ecuaţie. Considerând că răspunsul la impuls al sistemului considerat este o funcţie reală, în conformitate cu proprietăţile transformării Fourier în timp discret, modulul răspunsului în frecvenţă este funcţie pară de frecvenţă iar argumentul răspunsului în frecvenţă este funcţie impară de frecvenţă. De aceea, expresia răspunsului sistemului poate fi pusă în forma din ecuaţia a noua, respectiv în forma din ecuaţia a zecea. </a:t>
            </a:r>
          </a:p>
          <a:p>
            <a:r>
              <a:rPr lang="ro-RO" altLang="ro-RO"/>
              <a:t>transformării      F</a:t>
            </a:r>
            <a:endParaRPr lang="en-US" altLang="ro-RO"/>
          </a:p>
        </p:txBody>
      </p:sp>
      <p:sp>
        <p:nvSpPr>
          <p:cNvPr id="80900" name="Slide Number Placeholder 3">
            <a:extLst>
              <a:ext uri="{FF2B5EF4-FFF2-40B4-BE49-F238E27FC236}">
                <a16:creationId xmlns:a16="http://schemas.microsoft.com/office/drawing/2014/main" id="{3E1B452B-8BD2-482C-9E86-5F2A2DE042B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1052B6D-2678-4123-B86B-BFA6F9E3597C}" type="slidenum">
              <a:rPr lang="en-US" altLang="ro-RO"/>
              <a:pPr/>
              <a:t>28</a:t>
            </a:fld>
            <a:endParaRPr lang="en-US" altLang="ro-RO"/>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2BDD21A5-C6A9-4A4D-A6F6-D184F5F0945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a:extLst>
              <a:ext uri="{FF2B5EF4-FFF2-40B4-BE49-F238E27FC236}">
                <a16:creationId xmlns:a16="http://schemas.microsoft.com/office/drawing/2014/main" id="{4209F83D-899D-41B2-AFE0-1FDED0E6B72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Funcţia de intercorelaţie a două semnale măsoară gradul de asemănare dintre unul dintre aceste semnale şi variantele translatate în timp ale celuilalt semnal. </a:t>
            </a:r>
            <a:endParaRPr lang="en-US" altLang="ro-RO"/>
          </a:p>
        </p:txBody>
      </p:sp>
      <p:sp>
        <p:nvSpPr>
          <p:cNvPr id="81924" name="Slide Number Placeholder 3">
            <a:extLst>
              <a:ext uri="{FF2B5EF4-FFF2-40B4-BE49-F238E27FC236}">
                <a16:creationId xmlns:a16="http://schemas.microsoft.com/office/drawing/2014/main" id="{43C7C5EE-E26A-4E8B-9C03-9005B018091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D4846B6-CDED-4074-BA32-3D0C343E3804}" type="slidenum">
              <a:rPr lang="en-US" altLang="ro-RO"/>
              <a:pPr/>
              <a:t>29</a:t>
            </a:fld>
            <a:endParaRPr lang="en-US" altLang="ro-RO"/>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a:extLst>
              <a:ext uri="{FF2B5EF4-FFF2-40B4-BE49-F238E27FC236}">
                <a16:creationId xmlns:a16="http://schemas.microsoft.com/office/drawing/2014/main" id="{DCDB037A-9AC8-4B35-B583-FDB58CDA116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a:extLst>
              <a:ext uri="{FF2B5EF4-FFF2-40B4-BE49-F238E27FC236}">
                <a16:creationId xmlns:a16="http://schemas.microsoft.com/office/drawing/2014/main" id="{DDD77FE5-AE4E-4E44-8517-7C561DAE53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ro-RO"/>
              <a:t>Corelatoarele sunt sisteme liniare </a:t>
            </a:r>
            <a:r>
              <a:rPr lang="ro-RO" altLang="ro-RO"/>
              <a:t>şi</a:t>
            </a:r>
            <a:r>
              <a:rPr lang="en-US" altLang="ro-RO"/>
              <a:t> invariante</a:t>
            </a:r>
            <a:r>
              <a:rPr lang="ro-RO" altLang="ro-RO"/>
              <a:t> în timp discret care calculează funcţia de intercorelaţie a unor semnale. Cea mai importantă aplicaţie a corelatoarelor este recepţia semnalelor emise de sateliţi pentru localizarea autovehicolelor (prin sistemul GPS). </a:t>
            </a:r>
            <a:r>
              <a:rPr lang="en-US" altLang="ro-RO"/>
              <a:t> </a:t>
            </a:r>
          </a:p>
        </p:txBody>
      </p:sp>
      <p:sp>
        <p:nvSpPr>
          <p:cNvPr id="82948" name="Slide Number Placeholder 3">
            <a:extLst>
              <a:ext uri="{FF2B5EF4-FFF2-40B4-BE49-F238E27FC236}">
                <a16:creationId xmlns:a16="http://schemas.microsoft.com/office/drawing/2014/main" id="{D2BEA75E-F919-44DA-A0F4-249AEF03C2B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F9BBBFD-85A9-4FEB-9899-293A362C2C12}" type="slidenum">
              <a:rPr lang="en-US" altLang="ro-RO"/>
              <a:pPr/>
              <a:t>34</a:t>
            </a:fld>
            <a:endParaRPr lang="en-US" altLang="ro-RO"/>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a:extLst>
              <a:ext uri="{FF2B5EF4-FFF2-40B4-BE49-F238E27FC236}">
                <a16:creationId xmlns:a16="http://schemas.microsoft.com/office/drawing/2014/main" id="{0719DF70-B644-4CA1-9B21-6FFB2368B4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a:extLst>
              <a:ext uri="{FF2B5EF4-FFF2-40B4-BE49-F238E27FC236}">
                <a16:creationId xmlns:a16="http://schemas.microsoft.com/office/drawing/2014/main" id="{5F04CBEE-F4E9-4803-9EDD-D9528EDA82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ro-RO" altLang="ro-RO"/>
              <a:t>Transformata Fourier discretă este studiată în lucrarea de laborator nr. 4, </a:t>
            </a:r>
            <a:r>
              <a:rPr lang="en-US" altLang="ro-RO"/>
              <a:t>“Studiul transformatei Fourier discrete”. </a:t>
            </a:r>
          </a:p>
        </p:txBody>
      </p:sp>
      <p:sp>
        <p:nvSpPr>
          <p:cNvPr id="83972" name="Slide Number Placeholder 3">
            <a:extLst>
              <a:ext uri="{FF2B5EF4-FFF2-40B4-BE49-F238E27FC236}">
                <a16:creationId xmlns:a16="http://schemas.microsoft.com/office/drawing/2014/main" id="{7DCBA0B7-FFFA-4800-BBC9-548AD0A6036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56D38DD-E927-40D7-9938-4A1E11662436}" type="slidenum">
              <a:rPr lang="en-US" altLang="ro-RO"/>
              <a:pPr/>
              <a:t>35</a:t>
            </a:fld>
            <a:endParaRPr lang="en-US" altLang="ro-R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id="{926A6354-A5B2-47CF-9325-80AA685C1502}"/>
              </a:ext>
            </a:extLst>
          </p:cNvPr>
          <p:cNvSpPr>
            <a:spLocks noGrp="1" noChangeArrowheads="1"/>
          </p:cNvSpPr>
          <p:nvPr>
            <p:ph type="dt" sz="half" idx="10"/>
          </p:nvPr>
        </p:nvSpPr>
        <p:spPr>
          <a:ln/>
        </p:spPr>
        <p:txBody>
          <a:bodyPr/>
          <a:lstStyle>
            <a:lvl1pPr>
              <a:defRPr/>
            </a:lvl1pPr>
          </a:lstStyle>
          <a:p>
            <a:pPr>
              <a:defRPr/>
            </a:pPr>
            <a:endParaRPr lang="ro-RO"/>
          </a:p>
        </p:txBody>
      </p:sp>
      <p:sp>
        <p:nvSpPr>
          <p:cNvPr id="5" name="Rectangle 5">
            <a:extLst>
              <a:ext uri="{FF2B5EF4-FFF2-40B4-BE49-F238E27FC236}">
                <a16:creationId xmlns:a16="http://schemas.microsoft.com/office/drawing/2014/main" id="{F9FC6B60-DEA5-4D84-9D84-6CB024EF4E67}"/>
              </a:ext>
            </a:extLst>
          </p:cNvPr>
          <p:cNvSpPr>
            <a:spLocks noGrp="1" noChangeArrowheads="1"/>
          </p:cNvSpPr>
          <p:nvPr>
            <p:ph type="ftr" sz="quarter" idx="11"/>
          </p:nvPr>
        </p:nvSpPr>
        <p:spPr>
          <a:ln/>
        </p:spPr>
        <p:txBody>
          <a:bodyPr/>
          <a:lstStyle>
            <a:lvl1pPr>
              <a:defRPr/>
            </a:lvl1pPr>
          </a:lstStyle>
          <a:p>
            <a:pPr>
              <a:defRPr/>
            </a:pPr>
            <a:endParaRPr lang="ro-RO"/>
          </a:p>
        </p:txBody>
      </p:sp>
      <p:sp>
        <p:nvSpPr>
          <p:cNvPr id="6" name="Rectangle 6">
            <a:extLst>
              <a:ext uri="{FF2B5EF4-FFF2-40B4-BE49-F238E27FC236}">
                <a16:creationId xmlns:a16="http://schemas.microsoft.com/office/drawing/2014/main" id="{B7FE26EB-3C85-4D09-875C-4F92528E8EAF}"/>
              </a:ext>
            </a:extLst>
          </p:cNvPr>
          <p:cNvSpPr>
            <a:spLocks noGrp="1" noChangeArrowheads="1"/>
          </p:cNvSpPr>
          <p:nvPr>
            <p:ph type="sldNum" sz="quarter" idx="12"/>
          </p:nvPr>
        </p:nvSpPr>
        <p:spPr>
          <a:ln/>
        </p:spPr>
        <p:txBody>
          <a:bodyPr/>
          <a:lstStyle>
            <a:lvl1pPr>
              <a:defRPr/>
            </a:lvl1pPr>
          </a:lstStyle>
          <a:p>
            <a:fld id="{E39B3BDC-0CAF-4BD6-AEE5-F6DC09F555DD}" type="slidenum">
              <a:rPr lang="ro-RO" altLang="ro-RO"/>
              <a:pPr/>
              <a:t>‹#›</a:t>
            </a:fld>
            <a:endParaRPr lang="ro-RO" altLang="ro-RO"/>
          </a:p>
        </p:txBody>
      </p:sp>
    </p:spTree>
    <p:extLst>
      <p:ext uri="{BB962C8B-B14F-4D97-AF65-F5344CB8AC3E}">
        <p14:creationId xmlns:p14="http://schemas.microsoft.com/office/powerpoint/2010/main" val="2188844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48BAE661-7F80-47FA-8752-4B0485159B4C}"/>
              </a:ext>
            </a:extLst>
          </p:cNvPr>
          <p:cNvSpPr>
            <a:spLocks noGrp="1" noChangeArrowheads="1"/>
          </p:cNvSpPr>
          <p:nvPr>
            <p:ph type="dt" sz="half" idx="10"/>
          </p:nvPr>
        </p:nvSpPr>
        <p:spPr>
          <a:ln/>
        </p:spPr>
        <p:txBody>
          <a:bodyPr/>
          <a:lstStyle>
            <a:lvl1pPr>
              <a:defRPr/>
            </a:lvl1pPr>
          </a:lstStyle>
          <a:p>
            <a:pPr>
              <a:defRPr/>
            </a:pPr>
            <a:endParaRPr lang="ro-RO"/>
          </a:p>
        </p:txBody>
      </p:sp>
      <p:sp>
        <p:nvSpPr>
          <p:cNvPr id="5" name="Rectangle 5">
            <a:extLst>
              <a:ext uri="{FF2B5EF4-FFF2-40B4-BE49-F238E27FC236}">
                <a16:creationId xmlns:a16="http://schemas.microsoft.com/office/drawing/2014/main" id="{D7D0F5C2-F5A7-464A-8E0C-AEC532B2C13F}"/>
              </a:ext>
            </a:extLst>
          </p:cNvPr>
          <p:cNvSpPr>
            <a:spLocks noGrp="1" noChangeArrowheads="1"/>
          </p:cNvSpPr>
          <p:nvPr>
            <p:ph type="ftr" sz="quarter" idx="11"/>
          </p:nvPr>
        </p:nvSpPr>
        <p:spPr>
          <a:ln/>
        </p:spPr>
        <p:txBody>
          <a:bodyPr/>
          <a:lstStyle>
            <a:lvl1pPr>
              <a:defRPr/>
            </a:lvl1pPr>
          </a:lstStyle>
          <a:p>
            <a:pPr>
              <a:defRPr/>
            </a:pPr>
            <a:endParaRPr lang="ro-RO"/>
          </a:p>
        </p:txBody>
      </p:sp>
      <p:sp>
        <p:nvSpPr>
          <p:cNvPr id="6" name="Rectangle 6">
            <a:extLst>
              <a:ext uri="{FF2B5EF4-FFF2-40B4-BE49-F238E27FC236}">
                <a16:creationId xmlns:a16="http://schemas.microsoft.com/office/drawing/2014/main" id="{6F6E1ED9-32B4-4FCE-8827-5B11A1CA1AE6}"/>
              </a:ext>
            </a:extLst>
          </p:cNvPr>
          <p:cNvSpPr>
            <a:spLocks noGrp="1" noChangeArrowheads="1"/>
          </p:cNvSpPr>
          <p:nvPr>
            <p:ph type="sldNum" sz="quarter" idx="12"/>
          </p:nvPr>
        </p:nvSpPr>
        <p:spPr>
          <a:ln/>
        </p:spPr>
        <p:txBody>
          <a:bodyPr/>
          <a:lstStyle>
            <a:lvl1pPr>
              <a:defRPr/>
            </a:lvl1pPr>
          </a:lstStyle>
          <a:p>
            <a:fld id="{7F699919-EBD6-4247-9A2D-196743160E36}" type="slidenum">
              <a:rPr lang="ro-RO" altLang="ro-RO"/>
              <a:pPr/>
              <a:t>‹#›</a:t>
            </a:fld>
            <a:endParaRPr lang="ro-RO" altLang="ro-RO"/>
          </a:p>
        </p:txBody>
      </p:sp>
    </p:spTree>
    <p:extLst>
      <p:ext uri="{BB962C8B-B14F-4D97-AF65-F5344CB8AC3E}">
        <p14:creationId xmlns:p14="http://schemas.microsoft.com/office/powerpoint/2010/main" val="836413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6FF81A1-6A78-4011-B21B-ED51E0B6A208}"/>
              </a:ext>
            </a:extLst>
          </p:cNvPr>
          <p:cNvSpPr>
            <a:spLocks noGrp="1" noChangeArrowheads="1"/>
          </p:cNvSpPr>
          <p:nvPr>
            <p:ph type="dt" sz="half" idx="10"/>
          </p:nvPr>
        </p:nvSpPr>
        <p:spPr>
          <a:ln/>
        </p:spPr>
        <p:txBody>
          <a:bodyPr/>
          <a:lstStyle>
            <a:lvl1pPr>
              <a:defRPr/>
            </a:lvl1pPr>
          </a:lstStyle>
          <a:p>
            <a:pPr>
              <a:defRPr/>
            </a:pPr>
            <a:endParaRPr lang="ro-RO"/>
          </a:p>
        </p:txBody>
      </p:sp>
      <p:sp>
        <p:nvSpPr>
          <p:cNvPr id="5" name="Rectangle 5">
            <a:extLst>
              <a:ext uri="{FF2B5EF4-FFF2-40B4-BE49-F238E27FC236}">
                <a16:creationId xmlns:a16="http://schemas.microsoft.com/office/drawing/2014/main" id="{0D50B4C1-E484-4BF4-BD40-59BB750F5D74}"/>
              </a:ext>
            </a:extLst>
          </p:cNvPr>
          <p:cNvSpPr>
            <a:spLocks noGrp="1" noChangeArrowheads="1"/>
          </p:cNvSpPr>
          <p:nvPr>
            <p:ph type="ftr" sz="quarter" idx="11"/>
          </p:nvPr>
        </p:nvSpPr>
        <p:spPr>
          <a:ln/>
        </p:spPr>
        <p:txBody>
          <a:bodyPr/>
          <a:lstStyle>
            <a:lvl1pPr>
              <a:defRPr/>
            </a:lvl1pPr>
          </a:lstStyle>
          <a:p>
            <a:pPr>
              <a:defRPr/>
            </a:pPr>
            <a:endParaRPr lang="ro-RO"/>
          </a:p>
        </p:txBody>
      </p:sp>
      <p:sp>
        <p:nvSpPr>
          <p:cNvPr id="6" name="Rectangle 6">
            <a:extLst>
              <a:ext uri="{FF2B5EF4-FFF2-40B4-BE49-F238E27FC236}">
                <a16:creationId xmlns:a16="http://schemas.microsoft.com/office/drawing/2014/main" id="{3F42EDC0-1323-4688-AD1E-9FFF5D2F96FD}"/>
              </a:ext>
            </a:extLst>
          </p:cNvPr>
          <p:cNvSpPr>
            <a:spLocks noGrp="1" noChangeArrowheads="1"/>
          </p:cNvSpPr>
          <p:nvPr>
            <p:ph type="sldNum" sz="quarter" idx="12"/>
          </p:nvPr>
        </p:nvSpPr>
        <p:spPr>
          <a:ln/>
        </p:spPr>
        <p:txBody>
          <a:bodyPr/>
          <a:lstStyle>
            <a:lvl1pPr>
              <a:defRPr/>
            </a:lvl1pPr>
          </a:lstStyle>
          <a:p>
            <a:fld id="{E70D3FF6-1087-41B1-9652-9B277D54F596}" type="slidenum">
              <a:rPr lang="ro-RO" altLang="ro-RO"/>
              <a:pPr/>
              <a:t>‹#›</a:t>
            </a:fld>
            <a:endParaRPr lang="ro-RO" altLang="ro-RO"/>
          </a:p>
        </p:txBody>
      </p:sp>
    </p:spTree>
    <p:extLst>
      <p:ext uri="{BB962C8B-B14F-4D97-AF65-F5344CB8AC3E}">
        <p14:creationId xmlns:p14="http://schemas.microsoft.com/office/powerpoint/2010/main" val="2270158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CEFD4322-ECF6-47CB-9789-1337ABAD7C09}"/>
              </a:ext>
            </a:extLst>
          </p:cNvPr>
          <p:cNvSpPr>
            <a:spLocks noGrp="1" noChangeArrowheads="1"/>
          </p:cNvSpPr>
          <p:nvPr>
            <p:ph type="dt" sz="half" idx="10"/>
          </p:nvPr>
        </p:nvSpPr>
        <p:spPr>
          <a:ln/>
        </p:spPr>
        <p:txBody>
          <a:bodyPr/>
          <a:lstStyle>
            <a:lvl1pPr>
              <a:defRPr/>
            </a:lvl1pPr>
          </a:lstStyle>
          <a:p>
            <a:pPr>
              <a:defRPr/>
            </a:pPr>
            <a:endParaRPr lang="ro-RO"/>
          </a:p>
        </p:txBody>
      </p:sp>
      <p:sp>
        <p:nvSpPr>
          <p:cNvPr id="6" name="Rectangle 5">
            <a:extLst>
              <a:ext uri="{FF2B5EF4-FFF2-40B4-BE49-F238E27FC236}">
                <a16:creationId xmlns:a16="http://schemas.microsoft.com/office/drawing/2014/main" id="{6F0CB3B9-BA8D-4519-B470-FC4C3AE85C71}"/>
              </a:ext>
            </a:extLst>
          </p:cNvPr>
          <p:cNvSpPr>
            <a:spLocks noGrp="1" noChangeArrowheads="1"/>
          </p:cNvSpPr>
          <p:nvPr>
            <p:ph type="ftr" sz="quarter" idx="11"/>
          </p:nvPr>
        </p:nvSpPr>
        <p:spPr>
          <a:ln/>
        </p:spPr>
        <p:txBody>
          <a:bodyPr/>
          <a:lstStyle>
            <a:lvl1pPr>
              <a:defRPr/>
            </a:lvl1pPr>
          </a:lstStyle>
          <a:p>
            <a:pPr>
              <a:defRPr/>
            </a:pPr>
            <a:endParaRPr lang="ro-RO"/>
          </a:p>
        </p:txBody>
      </p:sp>
      <p:sp>
        <p:nvSpPr>
          <p:cNvPr id="7" name="Rectangle 6">
            <a:extLst>
              <a:ext uri="{FF2B5EF4-FFF2-40B4-BE49-F238E27FC236}">
                <a16:creationId xmlns:a16="http://schemas.microsoft.com/office/drawing/2014/main" id="{B9D39EDA-C671-4CAD-B4BA-B6B2D4BFD307}"/>
              </a:ext>
            </a:extLst>
          </p:cNvPr>
          <p:cNvSpPr>
            <a:spLocks noGrp="1" noChangeArrowheads="1"/>
          </p:cNvSpPr>
          <p:nvPr>
            <p:ph type="sldNum" sz="quarter" idx="12"/>
          </p:nvPr>
        </p:nvSpPr>
        <p:spPr>
          <a:ln/>
        </p:spPr>
        <p:txBody>
          <a:bodyPr/>
          <a:lstStyle>
            <a:lvl1pPr>
              <a:defRPr/>
            </a:lvl1pPr>
          </a:lstStyle>
          <a:p>
            <a:fld id="{510225AA-68FD-4049-AD6A-26602DFD98C2}" type="slidenum">
              <a:rPr lang="ro-RO" altLang="ro-RO"/>
              <a:pPr/>
              <a:t>‹#›</a:t>
            </a:fld>
            <a:endParaRPr lang="ro-RO" altLang="ro-RO"/>
          </a:p>
        </p:txBody>
      </p:sp>
    </p:spTree>
    <p:extLst>
      <p:ext uri="{BB962C8B-B14F-4D97-AF65-F5344CB8AC3E}">
        <p14:creationId xmlns:p14="http://schemas.microsoft.com/office/powerpoint/2010/main" val="3164120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0105664F-106F-4928-A899-413720615845}"/>
              </a:ext>
            </a:extLst>
          </p:cNvPr>
          <p:cNvSpPr>
            <a:spLocks noGrp="1" noChangeArrowheads="1"/>
          </p:cNvSpPr>
          <p:nvPr>
            <p:ph type="dt" sz="half" idx="10"/>
          </p:nvPr>
        </p:nvSpPr>
        <p:spPr>
          <a:ln/>
        </p:spPr>
        <p:txBody>
          <a:bodyPr/>
          <a:lstStyle>
            <a:lvl1pPr>
              <a:defRPr/>
            </a:lvl1pPr>
          </a:lstStyle>
          <a:p>
            <a:pPr>
              <a:defRPr/>
            </a:pPr>
            <a:endParaRPr lang="ro-RO"/>
          </a:p>
        </p:txBody>
      </p:sp>
      <p:sp>
        <p:nvSpPr>
          <p:cNvPr id="8" name="Rectangle 5">
            <a:extLst>
              <a:ext uri="{FF2B5EF4-FFF2-40B4-BE49-F238E27FC236}">
                <a16:creationId xmlns:a16="http://schemas.microsoft.com/office/drawing/2014/main" id="{382A3C85-AF0F-4588-BE01-6D1516C13345}"/>
              </a:ext>
            </a:extLst>
          </p:cNvPr>
          <p:cNvSpPr>
            <a:spLocks noGrp="1" noChangeArrowheads="1"/>
          </p:cNvSpPr>
          <p:nvPr>
            <p:ph type="ftr" sz="quarter" idx="11"/>
          </p:nvPr>
        </p:nvSpPr>
        <p:spPr>
          <a:ln/>
        </p:spPr>
        <p:txBody>
          <a:bodyPr/>
          <a:lstStyle>
            <a:lvl1pPr>
              <a:defRPr/>
            </a:lvl1pPr>
          </a:lstStyle>
          <a:p>
            <a:pPr>
              <a:defRPr/>
            </a:pPr>
            <a:endParaRPr lang="ro-RO"/>
          </a:p>
        </p:txBody>
      </p:sp>
      <p:sp>
        <p:nvSpPr>
          <p:cNvPr id="9" name="Rectangle 6">
            <a:extLst>
              <a:ext uri="{FF2B5EF4-FFF2-40B4-BE49-F238E27FC236}">
                <a16:creationId xmlns:a16="http://schemas.microsoft.com/office/drawing/2014/main" id="{B15133B5-8538-45B8-B9A0-FCD5293424C6}"/>
              </a:ext>
            </a:extLst>
          </p:cNvPr>
          <p:cNvSpPr>
            <a:spLocks noGrp="1" noChangeArrowheads="1"/>
          </p:cNvSpPr>
          <p:nvPr>
            <p:ph type="sldNum" sz="quarter" idx="12"/>
          </p:nvPr>
        </p:nvSpPr>
        <p:spPr>
          <a:ln/>
        </p:spPr>
        <p:txBody>
          <a:bodyPr/>
          <a:lstStyle>
            <a:lvl1pPr>
              <a:defRPr/>
            </a:lvl1pPr>
          </a:lstStyle>
          <a:p>
            <a:fld id="{1F34CD6C-292B-4DFF-BE4B-35C718098D95}" type="slidenum">
              <a:rPr lang="ro-RO" altLang="ro-RO"/>
              <a:pPr/>
              <a:t>‹#›</a:t>
            </a:fld>
            <a:endParaRPr lang="ro-RO" altLang="ro-RO"/>
          </a:p>
        </p:txBody>
      </p:sp>
    </p:spTree>
    <p:extLst>
      <p:ext uri="{BB962C8B-B14F-4D97-AF65-F5344CB8AC3E}">
        <p14:creationId xmlns:p14="http://schemas.microsoft.com/office/powerpoint/2010/main" val="698037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DF73FFDB-87D7-41CD-A13F-EB70751DAA05}"/>
              </a:ext>
            </a:extLst>
          </p:cNvPr>
          <p:cNvSpPr>
            <a:spLocks noGrp="1" noChangeArrowheads="1"/>
          </p:cNvSpPr>
          <p:nvPr>
            <p:ph type="dt" sz="half" idx="10"/>
          </p:nvPr>
        </p:nvSpPr>
        <p:spPr>
          <a:ln/>
        </p:spPr>
        <p:txBody>
          <a:bodyPr/>
          <a:lstStyle>
            <a:lvl1pPr>
              <a:defRPr/>
            </a:lvl1pPr>
          </a:lstStyle>
          <a:p>
            <a:pPr>
              <a:defRPr/>
            </a:pPr>
            <a:endParaRPr lang="ro-RO"/>
          </a:p>
        </p:txBody>
      </p:sp>
      <p:sp>
        <p:nvSpPr>
          <p:cNvPr id="4" name="Rectangle 5">
            <a:extLst>
              <a:ext uri="{FF2B5EF4-FFF2-40B4-BE49-F238E27FC236}">
                <a16:creationId xmlns:a16="http://schemas.microsoft.com/office/drawing/2014/main" id="{F990B920-0741-4632-B4DF-837539B8FACE}"/>
              </a:ext>
            </a:extLst>
          </p:cNvPr>
          <p:cNvSpPr>
            <a:spLocks noGrp="1" noChangeArrowheads="1"/>
          </p:cNvSpPr>
          <p:nvPr>
            <p:ph type="ftr" sz="quarter" idx="11"/>
          </p:nvPr>
        </p:nvSpPr>
        <p:spPr>
          <a:ln/>
        </p:spPr>
        <p:txBody>
          <a:bodyPr/>
          <a:lstStyle>
            <a:lvl1pPr>
              <a:defRPr/>
            </a:lvl1pPr>
          </a:lstStyle>
          <a:p>
            <a:pPr>
              <a:defRPr/>
            </a:pPr>
            <a:endParaRPr lang="ro-RO"/>
          </a:p>
        </p:txBody>
      </p:sp>
      <p:sp>
        <p:nvSpPr>
          <p:cNvPr id="5" name="Rectangle 6">
            <a:extLst>
              <a:ext uri="{FF2B5EF4-FFF2-40B4-BE49-F238E27FC236}">
                <a16:creationId xmlns:a16="http://schemas.microsoft.com/office/drawing/2014/main" id="{63CAFCC9-3616-4739-8F5D-7F719C8C0A6F}"/>
              </a:ext>
            </a:extLst>
          </p:cNvPr>
          <p:cNvSpPr>
            <a:spLocks noGrp="1" noChangeArrowheads="1"/>
          </p:cNvSpPr>
          <p:nvPr>
            <p:ph type="sldNum" sz="quarter" idx="12"/>
          </p:nvPr>
        </p:nvSpPr>
        <p:spPr>
          <a:ln/>
        </p:spPr>
        <p:txBody>
          <a:bodyPr/>
          <a:lstStyle>
            <a:lvl1pPr>
              <a:defRPr/>
            </a:lvl1pPr>
          </a:lstStyle>
          <a:p>
            <a:fld id="{7013FB2F-12DD-4150-AF97-19B88D00B403}" type="slidenum">
              <a:rPr lang="ro-RO" altLang="ro-RO"/>
              <a:pPr/>
              <a:t>‹#›</a:t>
            </a:fld>
            <a:endParaRPr lang="ro-RO" altLang="ro-RO"/>
          </a:p>
        </p:txBody>
      </p:sp>
    </p:spTree>
    <p:extLst>
      <p:ext uri="{BB962C8B-B14F-4D97-AF65-F5344CB8AC3E}">
        <p14:creationId xmlns:p14="http://schemas.microsoft.com/office/powerpoint/2010/main" val="2337690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51B37B9-FDE6-4A2B-9C61-48AA6A7E2C8E}"/>
              </a:ext>
            </a:extLst>
          </p:cNvPr>
          <p:cNvSpPr>
            <a:spLocks noGrp="1" noChangeArrowheads="1"/>
          </p:cNvSpPr>
          <p:nvPr>
            <p:ph type="dt" sz="half" idx="10"/>
          </p:nvPr>
        </p:nvSpPr>
        <p:spPr>
          <a:ln/>
        </p:spPr>
        <p:txBody>
          <a:bodyPr/>
          <a:lstStyle>
            <a:lvl1pPr>
              <a:defRPr/>
            </a:lvl1pPr>
          </a:lstStyle>
          <a:p>
            <a:pPr>
              <a:defRPr/>
            </a:pPr>
            <a:endParaRPr lang="ro-RO"/>
          </a:p>
        </p:txBody>
      </p:sp>
      <p:sp>
        <p:nvSpPr>
          <p:cNvPr id="3" name="Rectangle 5">
            <a:extLst>
              <a:ext uri="{FF2B5EF4-FFF2-40B4-BE49-F238E27FC236}">
                <a16:creationId xmlns:a16="http://schemas.microsoft.com/office/drawing/2014/main" id="{50B05B87-DE21-4A8A-AED7-3CCEDC063027}"/>
              </a:ext>
            </a:extLst>
          </p:cNvPr>
          <p:cNvSpPr>
            <a:spLocks noGrp="1" noChangeArrowheads="1"/>
          </p:cNvSpPr>
          <p:nvPr>
            <p:ph type="ftr" sz="quarter" idx="11"/>
          </p:nvPr>
        </p:nvSpPr>
        <p:spPr>
          <a:ln/>
        </p:spPr>
        <p:txBody>
          <a:bodyPr/>
          <a:lstStyle>
            <a:lvl1pPr>
              <a:defRPr/>
            </a:lvl1pPr>
          </a:lstStyle>
          <a:p>
            <a:pPr>
              <a:defRPr/>
            </a:pPr>
            <a:endParaRPr lang="ro-RO"/>
          </a:p>
        </p:txBody>
      </p:sp>
      <p:sp>
        <p:nvSpPr>
          <p:cNvPr id="4" name="Rectangle 6">
            <a:extLst>
              <a:ext uri="{FF2B5EF4-FFF2-40B4-BE49-F238E27FC236}">
                <a16:creationId xmlns:a16="http://schemas.microsoft.com/office/drawing/2014/main" id="{52B8B2C4-6D88-4DD2-9A62-E055C4F83049}"/>
              </a:ext>
            </a:extLst>
          </p:cNvPr>
          <p:cNvSpPr>
            <a:spLocks noGrp="1" noChangeArrowheads="1"/>
          </p:cNvSpPr>
          <p:nvPr>
            <p:ph type="sldNum" sz="quarter" idx="12"/>
          </p:nvPr>
        </p:nvSpPr>
        <p:spPr>
          <a:ln/>
        </p:spPr>
        <p:txBody>
          <a:bodyPr/>
          <a:lstStyle>
            <a:lvl1pPr>
              <a:defRPr/>
            </a:lvl1pPr>
          </a:lstStyle>
          <a:p>
            <a:fld id="{AD71A8E6-17C0-4B13-B79D-5B2B99296D36}" type="slidenum">
              <a:rPr lang="ro-RO" altLang="ro-RO"/>
              <a:pPr/>
              <a:t>‹#›</a:t>
            </a:fld>
            <a:endParaRPr lang="ro-RO" altLang="ro-RO"/>
          </a:p>
        </p:txBody>
      </p:sp>
    </p:spTree>
    <p:extLst>
      <p:ext uri="{BB962C8B-B14F-4D97-AF65-F5344CB8AC3E}">
        <p14:creationId xmlns:p14="http://schemas.microsoft.com/office/powerpoint/2010/main" val="1196161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4D9FA09-E48E-4845-9640-C4BFB6B96E73}"/>
              </a:ext>
            </a:extLst>
          </p:cNvPr>
          <p:cNvSpPr>
            <a:spLocks noGrp="1" noChangeArrowheads="1"/>
          </p:cNvSpPr>
          <p:nvPr>
            <p:ph type="dt" sz="half" idx="10"/>
          </p:nvPr>
        </p:nvSpPr>
        <p:spPr>
          <a:ln/>
        </p:spPr>
        <p:txBody>
          <a:bodyPr/>
          <a:lstStyle>
            <a:lvl1pPr>
              <a:defRPr/>
            </a:lvl1pPr>
          </a:lstStyle>
          <a:p>
            <a:pPr>
              <a:defRPr/>
            </a:pPr>
            <a:endParaRPr lang="ro-RO"/>
          </a:p>
        </p:txBody>
      </p:sp>
      <p:sp>
        <p:nvSpPr>
          <p:cNvPr id="6" name="Rectangle 5">
            <a:extLst>
              <a:ext uri="{FF2B5EF4-FFF2-40B4-BE49-F238E27FC236}">
                <a16:creationId xmlns:a16="http://schemas.microsoft.com/office/drawing/2014/main" id="{D208487A-1D5A-41EB-A78D-6B6A5CA48258}"/>
              </a:ext>
            </a:extLst>
          </p:cNvPr>
          <p:cNvSpPr>
            <a:spLocks noGrp="1" noChangeArrowheads="1"/>
          </p:cNvSpPr>
          <p:nvPr>
            <p:ph type="ftr" sz="quarter" idx="11"/>
          </p:nvPr>
        </p:nvSpPr>
        <p:spPr>
          <a:ln/>
        </p:spPr>
        <p:txBody>
          <a:bodyPr/>
          <a:lstStyle>
            <a:lvl1pPr>
              <a:defRPr/>
            </a:lvl1pPr>
          </a:lstStyle>
          <a:p>
            <a:pPr>
              <a:defRPr/>
            </a:pPr>
            <a:endParaRPr lang="ro-RO"/>
          </a:p>
        </p:txBody>
      </p:sp>
      <p:sp>
        <p:nvSpPr>
          <p:cNvPr id="7" name="Rectangle 6">
            <a:extLst>
              <a:ext uri="{FF2B5EF4-FFF2-40B4-BE49-F238E27FC236}">
                <a16:creationId xmlns:a16="http://schemas.microsoft.com/office/drawing/2014/main" id="{0256A6D6-BECA-4504-A07E-BC12E6F20F98}"/>
              </a:ext>
            </a:extLst>
          </p:cNvPr>
          <p:cNvSpPr>
            <a:spLocks noGrp="1" noChangeArrowheads="1"/>
          </p:cNvSpPr>
          <p:nvPr>
            <p:ph type="sldNum" sz="quarter" idx="12"/>
          </p:nvPr>
        </p:nvSpPr>
        <p:spPr>
          <a:ln/>
        </p:spPr>
        <p:txBody>
          <a:bodyPr/>
          <a:lstStyle>
            <a:lvl1pPr>
              <a:defRPr/>
            </a:lvl1pPr>
          </a:lstStyle>
          <a:p>
            <a:fld id="{6C485B1E-B67E-4CAD-A009-375501D53B3B}" type="slidenum">
              <a:rPr lang="ro-RO" altLang="ro-RO"/>
              <a:pPr/>
              <a:t>‹#›</a:t>
            </a:fld>
            <a:endParaRPr lang="ro-RO" altLang="ro-RO"/>
          </a:p>
        </p:txBody>
      </p:sp>
    </p:spTree>
    <p:extLst>
      <p:ext uri="{BB962C8B-B14F-4D97-AF65-F5344CB8AC3E}">
        <p14:creationId xmlns:p14="http://schemas.microsoft.com/office/powerpoint/2010/main" val="4281147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0518125-57DA-411C-AB08-F4D6B010BB6B}"/>
              </a:ext>
            </a:extLst>
          </p:cNvPr>
          <p:cNvSpPr>
            <a:spLocks noGrp="1" noChangeArrowheads="1"/>
          </p:cNvSpPr>
          <p:nvPr>
            <p:ph type="dt" sz="half" idx="10"/>
          </p:nvPr>
        </p:nvSpPr>
        <p:spPr>
          <a:ln/>
        </p:spPr>
        <p:txBody>
          <a:bodyPr/>
          <a:lstStyle>
            <a:lvl1pPr>
              <a:defRPr/>
            </a:lvl1pPr>
          </a:lstStyle>
          <a:p>
            <a:pPr>
              <a:defRPr/>
            </a:pPr>
            <a:endParaRPr lang="ro-RO"/>
          </a:p>
        </p:txBody>
      </p:sp>
      <p:sp>
        <p:nvSpPr>
          <p:cNvPr id="6" name="Rectangle 5">
            <a:extLst>
              <a:ext uri="{FF2B5EF4-FFF2-40B4-BE49-F238E27FC236}">
                <a16:creationId xmlns:a16="http://schemas.microsoft.com/office/drawing/2014/main" id="{0DB7D037-D6F0-4AD9-B2FE-B110933F916C}"/>
              </a:ext>
            </a:extLst>
          </p:cNvPr>
          <p:cNvSpPr>
            <a:spLocks noGrp="1" noChangeArrowheads="1"/>
          </p:cNvSpPr>
          <p:nvPr>
            <p:ph type="ftr" sz="quarter" idx="11"/>
          </p:nvPr>
        </p:nvSpPr>
        <p:spPr>
          <a:ln/>
        </p:spPr>
        <p:txBody>
          <a:bodyPr/>
          <a:lstStyle>
            <a:lvl1pPr>
              <a:defRPr/>
            </a:lvl1pPr>
          </a:lstStyle>
          <a:p>
            <a:pPr>
              <a:defRPr/>
            </a:pPr>
            <a:endParaRPr lang="ro-RO"/>
          </a:p>
        </p:txBody>
      </p:sp>
      <p:sp>
        <p:nvSpPr>
          <p:cNvPr id="7" name="Rectangle 6">
            <a:extLst>
              <a:ext uri="{FF2B5EF4-FFF2-40B4-BE49-F238E27FC236}">
                <a16:creationId xmlns:a16="http://schemas.microsoft.com/office/drawing/2014/main" id="{5D6C880F-2381-4008-9814-D892E244F2C6}"/>
              </a:ext>
            </a:extLst>
          </p:cNvPr>
          <p:cNvSpPr>
            <a:spLocks noGrp="1" noChangeArrowheads="1"/>
          </p:cNvSpPr>
          <p:nvPr>
            <p:ph type="sldNum" sz="quarter" idx="12"/>
          </p:nvPr>
        </p:nvSpPr>
        <p:spPr>
          <a:ln/>
        </p:spPr>
        <p:txBody>
          <a:bodyPr/>
          <a:lstStyle>
            <a:lvl1pPr>
              <a:defRPr/>
            </a:lvl1pPr>
          </a:lstStyle>
          <a:p>
            <a:fld id="{911233B8-0383-4DB2-A77F-CDD0A3D97DC1}" type="slidenum">
              <a:rPr lang="ro-RO" altLang="ro-RO"/>
              <a:pPr/>
              <a:t>‹#›</a:t>
            </a:fld>
            <a:endParaRPr lang="ro-RO" altLang="ro-RO"/>
          </a:p>
        </p:txBody>
      </p:sp>
    </p:spTree>
    <p:extLst>
      <p:ext uri="{BB962C8B-B14F-4D97-AF65-F5344CB8AC3E}">
        <p14:creationId xmlns:p14="http://schemas.microsoft.com/office/powerpoint/2010/main" val="18806964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068D9F8-AA9E-4138-BE36-514D5EC9E29E}"/>
              </a:ext>
            </a:extLst>
          </p:cNvPr>
          <p:cNvSpPr>
            <a:spLocks noGrp="1" noChangeArrowheads="1"/>
          </p:cNvSpPr>
          <p:nvPr>
            <p:ph type="dt" sz="half" idx="10"/>
          </p:nvPr>
        </p:nvSpPr>
        <p:spPr>
          <a:ln/>
        </p:spPr>
        <p:txBody>
          <a:bodyPr/>
          <a:lstStyle>
            <a:lvl1pPr>
              <a:defRPr/>
            </a:lvl1pPr>
          </a:lstStyle>
          <a:p>
            <a:pPr>
              <a:defRPr/>
            </a:pPr>
            <a:endParaRPr lang="ro-RO"/>
          </a:p>
        </p:txBody>
      </p:sp>
      <p:sp>
        <p:nvSpPr>
          <p:cNvPr id="5" name="Rectangle 5">
            <a:extLst>
              <a:ext uri="{FF2B5EF4-FFF2-40B4-BE49-F238E27FC236}">
                <a16:creationId xmlns:a16="http://schemas.microsoft.com/office/drawing/2014/main" id="{E8566188-4038-4F4B-9F9C-251BC28C8A75}"/>
              </a:ext>
            </a:extLst>
          </p:cNvPr>
          <p:cNvSpPr>
            <a:spLocks noGrp="1" noChangeArrowheads="1"/>
          </p:cNvSpPr>
          <p:nvPr>
            <p:ph type="ftr" sz="quarter" idx="11"/>
          </p:nvPr>
        </p:nvSpPr>
        <p:spPr>
          <a:ln/>
        </p:spPr>
        <p:txBody>
          <a:bodyPr/>
          <a:lstStyle>
            <a:lvl1pPr>
              <a:defRPr/>
            </a:lvl1pPr>
          </a:lstStyle>
          <a:p>
            <a:pPr>
              <a:defRPr/>
            </a:pPr>
            <a:endParaRPr lang="ro-RO"/>
          </a:p>
        </p:txBody>
      </p:sp>
      <p:sp>
        <p:nvSpPr>
          <p:cNvPr id="6" name="Rectangle 6">
            <a:extLst>
              <a:ext uri="{FF2B5EF4-FFF2-40B4-BE49-F238E27FC236}">
                <a16:creationId xmlns:a16="http://schemas.microsoft.com/office/drawing/2014/main" id="{34853701-B508-406D-9808-855EDA421F46}"/>
              </a:ext>
            </a:extLst>
          </p:cNvPr>
          <p:cNvSpPr>
            <a:spLocks noGrp="1" noChangeArrowheads="1"/>
          </p:cNvSpPr>
          <p:nvPr>
            <p:ph type="sldNum" sz="quarter" idx="12"/>
          </p:nvPr>
        </p:nvSpPr>
        <p:spPr>
          <a:ln/>
        </p:spPr>
        <p:txBody>
          <a:bodyPr/>
          <a:lstStyle>
            <a:lvl1pPr>
              <a:defRPr/>
            </a:lvl1pPr>
          </a:lstStyle>
          <a:p>
            <a:fld id="{F30A41DA-FDC0-4231-8BA9-FBC7EE0E162C}" type="slidenum">
              <a:rPr lang="ro-RO" altLang="ro-RO"/>
              <a:pPr/>
              <a:t>‹#›</a:t>
            </a:fld>
            <a:endParaRPr lang="ro-RO" altLang="ro-RO"/>
          </a:p>
        </p:txBody>
      </p:sp>
    </p:spTree>
    <p:extLst>
      <p:ext uri="{BB962C8B-B14F-4D97-AF65-F5344CB8AC3E}">
        <p14:creationId xmlns:p14="http://schemas.microsoft.com/office/powerpoint/2010/main" val="354614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3D8931E-6E33-4DCA-9F78-2302EE330E83}"/>
              </a:ext>
            </a:extLst>
          </p:cNvPr>
          <p:cNvSpPr>
            <a:spLocks noGrp="1" noChangeArrowheads="1"/>
          </p:cNvSpPr>
          <p:nvPr>
            <p:ph type="dt" sz="half" idx="10"/>
          </p:nvPr>
        </p:nvSpPr>
        <p:spPr>
          <a:ln/>
        </p:spPr>
        <p:txBody>
          <a:bodyPr/>
          <a:lstStyle>
            <a:lvl1pPr>
              <a:defRPr/>
            </a:lvl1pPr>
          </a:lstStyle>
          <a:p>
            <a:pPr>
              <a:defRPr/>
            </a:pPr>
            <a:endParaRPr lang="ro-RO"/>
          </a:p>
        </p:txBody>
      </p:sp>
      <p:sp>
        <p:nvSpPr>
          <p:cNvPr id="5" name="Rectangle 5">
            <a:extLst>
              <a:ext uri="{FF2B5EF4-FFF2-40B4-BE49-F238E27FC236}">
                <a16:creationId xmlns:a16="http://schemas.microsoft.com/office/drawing/2014/main" id="{C6E20A3B-E264-40DA-B9F6-12AB4E5B16B8}"/>
              </a:ext>
            </a:extLst>
          </p:cNvPr>
          <p:cNvSpPr>
            <a:spLocks noGrp="1" noChangeArrowheads="1"/>
          </p:cNvSpPr>
          <p:nvPr>
            <p:ph type="ftr" sz="quarter" idx="11"/>
          </p:nvPr>
        </p:nvSpPr>
        <p:spPr>
          <a:ln/>
        </p:spPr>
        <p:txBody>
          <a:bodyPr/>
          <a:lstStyle>
            <a:lvl1pPr>
              <a:defRPr/>
            </a:lvl1pPr>
          </a:lstStyle>
          <a:p>
            <a:pPr>
              <a:defRPr/>
            </a:pPr>
            <a:endParaRPr lang="ro-RO"/>
          </a:p>
        </p:txBody>
      </p:sp>
      <p:sp>
        <p:nvSpPr>
          <p:cNvPr id="6" name="Rectangle 6">
            <a:extLst>
              <a:ext uri="{FF2B5EF4-FFF2-40B4-BE49-F238E27FC236}">
                <a16:creationId xmlns:a16="http://schemas.microsoft.com/office/drawing/2014/main" id="{94A496C7-4ED2-4F37-96E9-94E0A94E1D39}"/>
              </a:ext>
            </a:extLst>
          </p:cNvPr>
          <p:cNvSpPr>
            <a:spLocks noGrp="1" noChangeArrowheads="1"/>
          </p:cNvSpPr>
          <p:nvPr>
            <p:ph type="sldNum" sz="quarter" idx="12"/>
          </p:nvPr>
        </p:nvSpPr>
        <p:spPr>
          <a:ln/>
        </p:spPr>
        <p:txBody>
          <a:bodyPr/>
          <a:lstStyle>
            <a:lvl1pPr>
              <a:defRPr/>
            </a:lvl1pPr>
          </a:lstStyle>
          <a:p>
            <a:fld id="{ADCAB5F1-243C-471D-985C-A9E55392461C}" type="slidenum">
              <a:rPr lang="ro-RO" altLang="ro-RO"/>
              <a:pPr/>
              <a:t>‹#›</a:t>
            </a:fld>
            <a:endParaRPr lang="ro-RO" altLang="ro-RO"/>
          </a:p>
        </p:txBody>
      </p:sp>
    </p:spTree>
    <p:extLst>
      <p:ext uri="{BB962C8B-B14F-4D97-AF65-F5344CB8AC3E}">
        <p14:creationId xmlns:p14="http://schemas.microsoft.com/office/powerpoint/2010/main" val="2565976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795A52A-B939-41C3-BF1C-5927218BB021}"/>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ro-RO" altLang="ro-RO"/>
              <a:t>Click to edit Master title style</a:t>
            </a:r>
          </a:p>
        </p:txBody>
      </p:sp>
      <p:sp>
        <p:nvSpPr>
          <p:cNvPr id="1027" name="Rectangle 3">
            <a:extLst>
              <a:ext uri="{FF2B5EF4-FFF2-40B4-BE49-F238E27FC236}">
                <a16:creationId xmlns:a16="http://schemas.microsoft.com/office/drawing/2014/main" id="{A922FA92-2770-4D66-88FD-F1CC280C19D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ro-RO" altLang="ro-RO"/>
              <a:t>Click to edit Master text styles</a:t>
            </a:r>
          </a:p>
          <a:p>
            <a:pPr lvl="1"/>
            <a:r>
              <a:rPr lang="ro-RO" altLang="ro-RO"/>
              <a:t>Second level</a:t>
            </a:r>
          </a:p>
          <a:p>
            <a:pPr lvl="2"/>
            <a:r>
              <a:rPr lang="ro-RO" altLang="ro-RO"/>
              <a:t>Third level</a:t>
            </a:r>
          </a:p>
          <a:p>
            <a:pPr lvl="3"/>
            <a:r>
              <a:rPr lang="ro-RO" altLang="ro-RO"/>
              <a:t>Fourth level</a:t>
            </a:r>
          </a:p>
          <a:p>
            <a:pPr lvl="4"/>
            <a:r>
              <a:rPr lang="ro-RO" altLang="ro-RO"/>
              <a:t>Fifth level</a:t>
            </a:r>
          </a:p>
        </p:txBody>
      </p:sp>
      <p:sp>
        <p:nvSpPr>
          <p:cNvPr id="1028" name="Rectangle 4">
            <a:extLst>
              <a:ext uri="{FF2B5EF4-FFF2-40B4-BE49-F238E27FC236}">
                <a16:creationId xmlns:a16="http://schemas.microsoft.com/office/drawing/2014/main" id="{0ED4508B-0718-4790-8FCA-F9351EEE5EBF}"/>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ro-RO"/>
          </a:p>
        </p:txBody>
      </p:sp>
      <p:sp>
        <p:nvSpPr>
          <p:cNvPr id="1029" name="Rectangle 5">
            <a:extLst>
              <a:ext uri="{FF2B5EF4-FFF2-40B4-BE49-F238E27FC236}">
                <a16:creationId xmlns:a16="http://schemas.microsoft.com/office/drawing/2014/main" id="{29952607-8EC3-47EC-AE3A-C1A3BD74B774}"/>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ro-RO"/>
          </a:p>
        </p:txBody>
      </p:sp>
      <p:sp>
        <p:nvSpPr>
          <p:cNvPr id="1030" name="Rectangle 6">
            <a:extLst>
              <a:ext uri="{FF2B5EF4-FFF2-40B4-BE49-F238E27FC236}">
                <a16:creationId xmlns:a16="http://schemas.microsoft.com/office/drawing/2014/main" id="{3D45C67A-287A-4BBF-8600-B8E5F11513D7}"/>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A0E27D93-66CC-486F-B6F5-6274CA886773}" type="slidenum">
              <a:rPr lang="ro-RO" altLang="ro-RO"/>
              <a:pPr/>
              <a:t>‹#›</a:t>
            </a:fld>
            <a:endParaRPr lang="ro-RO" altLang="ro-R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itunes.apple.com/us/app/audio-spectrum-analyzer-db-rta/id1281873790?mt=8"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8.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7.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6.xml"/><Relationship Id="rId7" Type="http://schemas.openxmlformats.org/officeDocument/2006/relationships/image" Target="../media/image10.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9.wmf"/><Relationship Id="rId10" Type="http://schemas.openxmlformats.org/officeDocument/2006/relationships/image" Target="../media/image12.png"/><Relationship Id="rId4" Type="http://schemas.openxmlformats.org/officeDocument/2006/relationships/oleObject" Target="../embeddings/oleObject3.bin"/><Relationship Id="rId9" Type="http://schemas.openxmlformats.org/officeDocument/2006/relationships/image" Target="../media/image11.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notesSlide" Target="../notesSlides/notesSlide7.xml"/><Relationship Id="rId7" Type="http://schemas.openxmlformats.org/officeDocument/2006/relationships/image" Target="../media/image14.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oleObject" Target="../embeddings/oleObject7.bin"/><Relationship Id="rId5" Type="http://schemas.openxmlformats.org/officeDocument/2006/relationships/image" Target="../media/image13.wmf"/><Relationship Id="rId4" Type="http://schemas.openxmlformats.org/officeDocument/2006/relationships/oleObject" Target="../embeddings/oleObject6.bin"/><Relationship Id="rId9" Type="http://schemas.openxmlformats.org/officeDocument/2006/relationships/image" Target="../media/image15.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notesSlide" Target="../notesSlides/notesSlide8.xml"/><Relationship Id="rId7" Type="http://schemas.openxmlformats.org/officeDocument/2006/relationships/image" Target="../media/image17.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10.bin"/><Relationship Id="rId5" Type="http://schemas.openxmlformats.org/officeDocument/2006/relationships/image" Target="../media/image16.wmf"/><Relationship Id="rId10" Type="http://schemas.openxmlformats.org/officeDocument/2006/relationships/image" Target="../media/image19.png"/><Relationship Id="rId4" Type="http://schemas.openxmlformats.org/officeDocument/2006/relationships/oleObject" Target="../embeddings/oleObject9.bin"/><Relationship Id="rId9" Type="http://schemas.openxmlformats.org/officeDocument/2006/relationships/image" Target="../media/image18.wmf"/></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21.w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image" Target="../media/image20.wmf"/><Relationship Id="rId4" Type="http://schemas.openxmlformats.org/officeDocument/2006/relationships/oleObject" Target="../embeddings/oleObject12.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image" Target="../media/image22.wmf"/><Relationship Id="rId4" Type="http://schemas.openxmlformats.org/officeDocument/2006/relationships/oleObject" Target="../embeddings/oleObject14.bin"/></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notesSlide" Target="../notesSlides/notesSlide11.xml"/><Relationship Id="rId7" Type="http://schemas.openxmlformats.org/officeDocument/2006/relationships/image" Target="../media/image25.png"/><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oleObject" Target="../embeddings/oleObject15.bin"/><Relationship Id="rId9"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image" Target="../media/image28.wmf"/><Relationship Id="rId4" Type="http://schemas.openxmlformats.org/officeDocument/2006/relationships/oleObject" Target="../embeddings/oleObject16.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33.wmf"/><Relationship Id="rId18" Type="http://schemas.openxmlformats.org/officeDocument/2006/relationships/oleObject" Target="../embeddings/oleObject24.bin"/><Relationship Id="rId26" Type="http://schemas.openxmlformats.org/officeDocument/2006/relationships/image" Target="../media/image39.wmf"/><Relationship Id="rId3" Type="http://schemas.openxmlformats.org/officeDocument/2006/relationships/notesSlide" Target="../notesSlides/notesSlide13.xml"/><Relationship Id="rId21" Type="http://schemas.openxmlformats.org/officeDocument/2006/relationships/oleObject" Target="../embeddings/oleObject26.bin"/><Relationship Id="rId7" Type="http://schemas.openxmlformats.org/officeDocument/2006/relationships/image" Target="../media/image30.wmf"/><Relationship Id="rId12" Type="http://schemas.openxmlformats.org/officeDocument/2006/relationships/oleObject" Target="../embeddings/oleObject21.bin"/><Relationship Id="rId17" Type="http://schemas.openxmlformats.org/officeDocument/2006/relationships/image" Target="../media/image35.wmf"/><Relationship Id="rId25" Type="http://schemas.openxmlformats.org/officeDocument/2006/relationships/oleObject" Target="../embeddings/oleObject28.bin"/><Relationship Id="rId2" Type="http://schemas.openxmlformats.org/officeDocument/2006/relationships/slideLayout" Target="../slideLayouts/slideLayout7.xml"/><Relationship Id="rId16" Type="http://schemas.openxmlformats.org/officeDocument/2006/relationships/oleObject" Target="../embeddings/oleObject23.bin"/><Relationship Id="rId20" Type="http://schemas.openxmlformats.org/officeDocument/2006/relationships/oleObject" Target="../embeddings/oleObject25.bin"/><Relationship Id="rId1" Type="http://schemas.openxmlformats.org/officeDocument/2006/relationships/vmlDrawing" Target="../drawings/vmlDrawing9.vml"/><Relationship Id="rId6" Type="http://schemas.openxmlformats.org/officeDocument/2006/relationships/oleObject" Target="../embeddings/oleObject18.bin"/><Relationship Id="rId11" Type="http://schemas.openxmlformats.org/officeDocument/2006/relationships/image" Target="../media/image32.wmf"/><Relationship Id="rId24" Type="http://schemas.openxmlformats.org/officeDocument/2006/relationships/image" Target="../media/image38.wmf"/><Relationship Id="rId5" Type="http://schemas.openxmlformats.org/officeDocument/2006/relationships/image" Target="../media/image29.wmf"/><Relationship Id="rId15" Type="http://schemas.openxmlformats.org/officeDocument/2006/relationships/image" Target="../media/image34.wmf"/><Relationship Id="rId23" Type="http://schemas.openxmlformats.org/officeDocument/2006/relationships/oleObject" Target="../embeddings/oleObject27.bin"/><Relationship Id="rId10" Type="http://schemas.openxmlformats.org/officeDocument/2006/relationships/oleObject" Target="../embeddings/oleObject20.bin"/><Relationship Id="rId19" Type="http://schemas.openxmlformats.org/officeDocument/2006/relationships/image" Target="../media/image36.wmf"/><Relationship Id="rId4" Type="http://schemas.openxmlformats.org/officeDocument/2006/relationships/oleObject" Target="../embeddings/oleObject17.bin"/><Relationship Id="rId9" Type="http://schemas.openxmlformats.org/officeDocument/2006/relationships/image" Target="../media/image31.wmf"/><Relationship Id="rId14" Type="http://schemas.openxmlformats.org/officeDocument/2006/relationships/oleObject" Target="../embeddings/oleObject22.bin"/><Relationship Id="rId22" Type="http://schemas.openxmlformats.org/officeDocument/2006/relationships/image" Target="../media/image37.wmf"/><Relationship Id="rId27" Type="http://schemas.openxmlformats.org/officeDocument/2006/relationships/image" Target="../media/image4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10.vml"/><Relationship Id="rId5" Type="http://schemas.openxmlformats.org/officeDocument/2006/relationships/image" Target="../media/image41.wmf"/><Relationship Id="rId4" Type="http://schemas.openxmlformats.org/officeDocument/2006/relationships/oleObject" Target="../embeddings/oleObject29.bin"/></Relationships>
</file>

<file path=ppt/slides/_rels/slide17.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notesSlide" Target="../notesSlides/notesSlide16.xml"/><Relationship Id="rId7" Type="http://schemas.openxmlformats.org/officeDocument/2006/relationships/image" Target="../media/image44.png"/><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3.png"/><Relationship Id="rId5" Type="http://schemas.openxmlformats.org/officeDocument/2006/relationships/image" Target="../media/image42.wmf"/><Relationship Id="rId4" Type="http://schemas.openxmlformats.org/officeDocument/2006/relationships/oleObject" Target="../embeddings/oleObject30.bin"/><Relationship Id="rId9" Type="http://schemas.openxmlformats.org/officeDocument/2006/relationships/image" Target="../media/image46.png"/></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9.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54.png"/><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53.png"/><Relationship Id="rId5" Type="http://schemas.openxmlformats.org/officeDocument/2006/relationships/image" Target="../media/image52.wmf"/><Relationship Id="rId4" Type="http://schemas.openxmlformats.org/officeDocument/2006/relationships/oleObject" Target="../embeddings/oleObject31.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6.png"/><Relationship Id="rId5" Type="http://schemas.openxmlformats.org/officeDocument/2006/relationships/image" Target="../media/image55.wmf"/><Relationship Id="rId4" Type="http://schemas.openxmlformats.org/officeDocument/2006/relationships/oleObject" Target="../embeddings/oleObject32.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oleObject" Target="../embeddings/oleObject33.bin"/></Relationships>
</file>

<file path=ppt/slides/_rels/slide24.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notesSlide" Target="../notesSlides/notesSlide23.xml"/><Relationship Id="rId7" Type="http://schemas.openxmlformats.org/officeDocument/2006/relationships/image" Target="../media/image61.png"/><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oleObject" Target="../embeddings/oleObject34.bin"/></Relationships>
</file>

<file path=ppt/slides/_rels/slide2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70.png"/><Relationship Id="rId3" Type="http://schemas.openxmlformats.org/officeDocument/2006/relationships/notesSlide" Target="../notesSlides/notesSlide25.xml"/><Relationship Id="rId7" Type="http://schemas.openxmlformats.org/officeDocument/2006/relationships/image" Target="../media/image65.wmf"/><Relationship Id="rId12" Type="http://schemas.openxmlformats.org/officeDocument/2006/relationships/image" Target="../media/image69.png"/><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36.bin"/><Relationship Id="rId11" Type="http://schemas.openxmlformats.org/officeDocument/2006/relationships/image" Target="../media/image68.png"/><Relationship Id="rId5" Type="http://schemas.openxmlformats.org/officeDocument/2006/relationships/image" Target="../media/image64.wmf"/><Relationship Id="rId10" Type="http://schemas.openxmlformats.org/officeDocument/2006/relationships/image" Target="../media/image67.png"/><Relationship Id="rId4" Type="http://schemas.openxmlformats.org/officeDocument/2006/relationships/oleObject" Target="../embeddings/oleObject35.bin"/><Relationship Id="rId9" Type="http://schemas.openxmlformats.org/officeDocument/2006/relationships/image" Target="../media/image66.wmf"/></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17.vml"/><Relationship Id="rId5" Type="http://schemas.openxmlformats.org/officeDocument/2006/relationships/image" Target="../media/image74.wmf"/><Relationship Id="rId4" Type="http://schemas.openxmlformats.org/officeDocument/2006/relationships/oleObject" Target="../embeddings/oleObject38.bin"/></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75.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7.xml"/><Relationship Id="rId1" Type="http://schemas.openxmlformats.org/officeDocument/2006/relationships/vmlDrawing" Target="../drawings/vmlDrawing19.vml"/><Relationship Id="rId4" Type="http://schemas.openxmlformats.org/officeDocument/2006/relationships/image" Target="../media/image76.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7.xml"/><Relationship Id="rId1" Type="http://schemas.openxmlformats.org/officeDocument/2006/relationships/vmlDrawing" Target="../drawings/vmlDrawing20.vml"/><Relationship Id="rId4" Type="http://schemas.openxmlformats.org/officeDocument/2006/relationships/image" Target="../media/image77.wmf"/></Relationships>
</file>

<file path=ppt/slides/_rels/slide3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vmlDrawing" Target="../drawings/vmlDrawing21.vml"/><Relationship Id="rId5" Type="http://schemas.openxmlformats.org/officeDocument/2006/relationships/image" Target="../media/image80.wmf"/><Relationship Id="rId4" Type="http://schemas.openxmlformats.org/officeDocument/2006/relationships/oleObject" Target="../embeddings/oleObject42.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notesSlide" Target="../notesSlides/notesSlide30.xml"/><Relationship Id="rId7" Type="http://schemas.openxmlformats.org/officeDocument/2006/relationships/image" Target="../media/image82.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oleObject" Target="../embeddings/oleObject44.bin"/><Relationship Id="rId11" Type="http://schemas.openxmlformats.org/officeDocument/2006/relationships/image" Target="../media/image84.wmf"/><Relationship Id="rId5" Type="http://schemas.openxmlformats.org/officeDocument/2006/relationships/image" Target="../media/image81.w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83.wmf"/></Relationships>
</file>

<file path=ppt/slides/_rels/slide36.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6.wmf"/><Relationship Id="rId5" Type="http://schemas.openxmlformats.org/officeDocument/2006/relationships/oleObject" Target="../embeddings/oleObject48.bin"/><Relationship Id="rId4" Type="http://schemas.openxmlformats.org/officeDocument/2006/relationships/image" Target="../media/image85.wmf"/><Relationship Id="rId9" Type="http://schemas.openxmlformats.org/officeDocument/2006/relationships/image" Target="../media/image8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24.vml"/><Relationship Id="rId4" Type="http://schemas.openxmlformats.org/officeDocument/2006/relationships/image" Target="../media/image89.wm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8" Type="http://schemas.openxmlformats.org/officeDocument/2006/relationships/image" Target="../media/image94.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93.wmf"/><Relationship Id="rId5" Type="http://schemas.openxmlformats.org/officeDocument/2006/relationships/oleObject" Target="../embeddings/oleObject52.bin"/><Relationship Id="rId10" Type="http://schemas.openxmlformats.org/officeDocument/2006/relationships/image" Target="../media/image95.wmf"/><Relationship Id="rId4" Type="http://schemas.openxmlformats.org/officeDocument/2006/relationships/image" Target="../media/image92.wmf"/><Relationship Id="rId9" Type="http://schemas.openxmlformats.org/officeDocument/2006/relationships/oleObject" Target="../embeddings/oleObject54.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96.wmf"/><Relationship Id="rId5" Type="http://schemas.openxmlformats.org/officeDocument/2006/relationships/oleObject" Target="../embeddings/oleObject56.bin"/><Relationship Id="rId4" Type="http://schemas.openxmlformats.org/officeDocument/2006/relationships/image" Target="../media/image95.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57.bin"/><Relationship Id="rId7" Type="http://schemas.openxmlformats.org/officeDocument/2006/relationships/image" Target="../media/image98.wmf"/><Relationship Id="rId2" Type="http://schemas.openxmlformats.org/officeDocument/2006/relationships/slideLayout" Target="../slideLayouts/slideLayout7.xml"/><Relationship Id="rId1" Type="http://schemas.openxmlformats.org/officeDocument/2006/relationships/vmlDrawing" Target="../drawings/vmlDrawing27.vml"/><Relationship Id="rId6" Type="http://schemas.openxmlformats.org/officeDocument/2006/relationships/oleObject" Target="../embeddings/oleObject58.bin"/><Relationship Id="rId5" Type="http://schemas.openxmlformats.org/officeDocument/2006/relationships/image" Target="../media/image99.png"/><Relationship Id="rId4" Type="http://schemas.openxmlformats.org/officeDocument/2006/relationships/image" Target="../media/image97.wmf"/></Relationships>
</file>

<file path=ppt/slides/_rels/slide4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image" Target="../media/image103.png"/><Relationship Id="rId5" Type="http://schemas.openxmlformats.org/officeDocument/2006/relationships/image" Target="../media/image101.wmf"/><Relationship Id="rId4" Type="http://schemas.openxmlformats.org/officeDocument/2006/relationships/oleObject" Target="../embeddings/oleObject59.bin"/></Relationships>
</file>

<file path=ppt/slides/_rels/slide46.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105.png"/><Relationship Id="rId5" Type="http://schemas.openxmlformats.org/officeDocument/2006/relationships/image" Target="../media/image104.wmf"/><Relationship Id="rId4" Type="http://schemas.openxmlformats.org/officeDocument/2006/relationships/oleObject" Target="../embeddings/oleObject60.bin"/></Relationships>
</file>

<file path=ppt/slides/_rels/slide47.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766B4182-CB26-4BE6-913D-F085FE8A3114}"/>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000">
                <a:solidFill>
                  <a:schemeClr val="tx2"/>
                </a:solidFill>
                <a:latin typeface="Times New Roman" panose="02020603050405020304" pitchFamily="18" charset="0"/>
                <a:cs typeface="Times New Roman" panose="02020603050405020304" pitchFamily="18" charset="0"/>
              </a:rPr>
              <a:t>Curs 10</a:t>
            </a:r>
          </a:p>
        </p:txBody>
      </p:sp>
      <p:sp>
        <p:nvSpPr>
          <p:cNvPr id="2051" name="Text Box 7">
            <a:extLst>
              <a:ext uri="{FF2B5EF4-FFF2-40B4-BE49-F238E27FC236}">
                <a16:creationId xmlns:a16="http://schemas.microsoft.com/office/drawing/2014/main" id="{05BD95DB-41DA-4353-8E86-161CA5DB73D8}"/>
              </a:ext>
            </a:extLst>
          </p:cNvPr>
          <p:cNvSpPr txBox="1">
            <a:spLocks noChangeArrowheads="1"/>
          </p:cNvSpPr>
          <p:nvPr/>
        </p:nvSpPr>
        <p:spPr bwMode="auto">
          <a:xfrm>
            <a:off x="457200" y="5105400"/>
            <a:ext cx="845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ltLang="ro-RO" sz="2400">
              <a:latin typeface="Times New Roman" panose="02020603050405020304" pitchFamily="18" charset="0"/>
            </a:endParaRPr>
          </a:p>
        </p:txBody>
      </p:sp>
      <p:sp>
        <p:nvSpPr>
          <p:cNvPr id="2052" name="TextBox 5">
            <a:extLst>
              <a:ext uri="{FF2B5EF4-FFF2-40B4-BE49-F238E27FC236}">
                <a16:creationId xmlns:a16="http://schemas.microsoft.com/office/drawing/2014/main" id="{B7B98A40-B4A5-4BB1-976E-8C8486401DDC}"/>
              </a:ext>
            </a:extLst>
          </p:cNvPr>
          <p:cNvSpPr txBox="1">
            <a:spLocks noChangeArrowheads="1"/>
          </p:cNvSpPr>
          <p:nvPr/>
        </p:nvSpPr>
        <p:spPr bwMode="auto">
          <a:xfrm>
            <a:off x="457200" y="1524000"/>
            <a:ext cx="4648200" cy="6462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en-US" altLang="ro-RO">
                <a:latin typeface="Times New Roman" panose="02020603050405020304" pitchFamily="18" charset="0"/>
                <a:cs typeface="Times New Roman" panose="02020603050405020304" pitchFamily="18" charset="0"/>
              </a:rPr>
              <a:t>Transformata Fourier </a:t>
            </a:r>
            <a:r>
              <a:rPr lang="ro-RO" altLang="ro-RO">
                <a:latin typeface="Times New Roman" panose="02020603050405020304" pitchFamily="18" charset="0"/>
                <a:cs typeface="Times New Roman" panose="02020603050405020304" pitchFamily="18" charset="0"/>
              </a:rPr>
              <a:t>în timp discret</a:t>
            </a:r>
          </a:p>
          <a:p>
            <a:pPr eaLnBrk="1" hangingPunct="1">
              <a:buFontTx/>
              <a:buChar char="•"/>
            </a:pPr>
            <a:r>
              <a:rPr lang="ro-RO" altLang="ro-RO">
                <a:latin typeface="Times New Roman" panose="02020603050405020304" pitchFamily="18" charset="0"/>
                <a:cs typeface="Times New Roman" panose="02020603050405020304" pitchFamily="18" charset="0"/>
              </a:rPr>
              <a:t>Răspunsul sistemelor discrete liniare şi invariante în timp discret la semnale armonice</a:t>
            </a:r>
            <a:endParaRPr lang="en-US" altLang="ro-RO">
              <a:latin typeface="Times New Roman" panose="02020603050405020304" pitchFamily="18" charset="0"/>
              <a:cs typeface="Times New Roman" panose="02020603050405020304" pitchFamily="18" charset="0"/>
            </a:endParaRPr>
          </a:p>
          <a:p>
            <a:pPr eaLnBrk="1" hangingPunct="1">
              <a:buFontTx/>
              <a:buChar char="•"/>
            </a:pPr>
            <a:r>
              <a:rPr lang="en-US" altLang="ro-RO">
                <a:latin typeface="Times New Roman" panose="02020603050405020304" pitchFamily="18" charset="0"/>
                <a:cs typeface="Times New Roman" panose="02020603050405020304" pitchFamily="18" charset="0"/>
              </a:rPr>
              <a:t>Propriet</a:t>
            </a:r>
            <a:r>
              <a:rPr lang="ro-RO" altLang="ro-RO">
                <a:latin typeface="Times New Roman" panose="02020603050405020304" pitchFamily="18" charset="0"/>
                <a:cs typeface="Times New Roman" panose="02020603050405020304" pitchFamily="18" charset="0"/>
              </a:rPr>
              <a:t>ăţile transformării Fourier în timp discret</a:t>
            </a:r>
          </a:p>
          <a:p>
            <a:pPr eaLnBrk="1" hangingPunct="1">
              <a:buFontTx/>
              <a:buChar char="•"/>
            </a:pPr>
            <a:r>
              <a:rPr lang="ro-RO" altLang="ro-RO">
                <a:latin typeface="Times New Roman" panose="02020603050405020304" pitchFamily="18" charset="0"/>
                <a:cs typeface="Times New Roman" panose="02020603050405020304" pitchFamily="18" charset="0"/>
              </a:rPr>
              <a:t>Densitatea spectrală de energie</a:t>
            </a:r>
          </a:p>
          <a:p>
            <a:pPr eaLnBrk="1" hangingPunct="1">
              <a:buFontTx/>
              <a:buChar char="•"/>
            </a:pPr>
            <a:r>
              <a:rPr lang="ro-RO" altLang="ro-RO">
                <a:latin typeface="Times New Roman" panose="02020603050405020304" pitchFamily="18" charset="0"/>
                <a:cs typeface="Times New Roman" panose="02020603050405020304" pitchFamily="18" charset="0"/>
              </a:rPr>
              <a:t>Transformata Fourier în timp discret pentru semnale discrete şi periodice</a:t>
            </a:r>
          </a:p>
          <a:p>
            <a:pPr eaLnBrk="1" hangingPunct="1">
              <a:buFontTx/>
              <a:buChar char="•"/>
            </a:pPr>
            <a:r>
              <a:rPr lang="ro-RO" altLang="ro-RO">
                <a:latin typeface="Times New Roman" panose="02020603050405020304" pitchFamily="18" charset="0"/>
                <a:cs typeface="Times New Roman" panose="02020603050405020304" pitchFamily="18" charset="0"/>
              </a:rPr>
              <a:t>Răspunsul în frecvenţă al sistemelor digitale liniare şi invariante în timp</a:t>
            </a:r>
          </a:p>
          <a:p>
            <a:pPr eaLnBrk="1" hangingPunct="1">
              <a:buFontTx/>
              <a:buChar char="•"/>
            </a:pPr>
            <a:r>
              <a:rPr lang="ro-RO" altLang="ro-RO">
                <a:latin typeface="Times New Roman" panose="02020603050405020304" pitchFamily="18" charset="0"/>
                <a:cs typeface="Times New Roman" panose="02020603050405020304" pitchFamily="18" charset="0"/>
              </a:rPr>
              <a:t>Sisteme digitale caracterizate de ecuaţii cu diferenţe finite liniare şi cu coeficienţi constanţi</a:t>
            </a:r>
          </a:p>
          <a:p>
            <a:pPr eaLnBrk="1" hangingPunct="1">
              <a:buFontTx/>
              <a:buChar char="•"/>
            </a:pPr>
            <a:r>
              <a:rPr lang="ro-RO" altLang="ro-RO">
                <a:latin typeface="Times New Roman" panose="02020603050405020304" pitchFamily="18" charset="0"/>
                <a:cs typeface="Times New Roman" panose="02020603050405020304" pitchFamily="18" charset="0"/>
              </a:rPr>
              <a:t>Exemplul 1. Filtre transversale</a:t>
            </a:r>
          </a:p>
          <a:p>
            <a:pPr eaLnBrk="1" hangingPunct="1">
              <a:buFontTx/>
              <a:buChar char="•"/>
            </a:pPr>
            <a:r>
              <a:rPr lang="ro-RO" altLang="ro-RO">
                <a:latin typeface="Times New Roman" panose="02020603050405020304" pitchFamily="18" charset="0"/>
                <a:cs typeface="Times New Roman" panose="02020603050405020304" pitchFamily="18" charset="0"/>
              </a:rPr>
              <a:t>Mediatorul alunecător</a:t>
            </a:r>
          </a:p>
          <a:p>
            <a:pPr eaLnBrk="1" hangingPunct="1">
              <a:buFontTx/>
              <a:buChar char="•"/>
            </a:pPr>
            <a:r>
              <a:rPr lang="ro-RO" altLang="ro-RO">
                <a:latin typeface="Times New Roman" panose="02020603050405020304" pitchFamily="18" charset="0"/>
                <a:cs typeface="Times New Roman" panose="02020603050405020304" pitchFamily="18" charset="0"/>
              </a:rPr>
              <a:t>Exemplul 2</a:t>
            </a: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en-US" altLang="ro-RO">
              <a:latin typeface="Times New Roman" panose="02020603050405020304" pitchFamily="18" charset="0"/>
              <a:cs typeface="Times New Roman" panose="02020603050405020304" pitchFamily="18" charset="0"/>
            </a:endParaRPr>
          </a:p>
        </p:txBody>
      </p:sp>
      <p:sp>
        <p:nvSpPr>
          <p:cNvPr id="2053" name="TextBox 1">
            <a:extLst>
              <a:ext uri="{FF2B5EF4-FFF2-40B4-BE49-F238E27FC236}">
                <a16:creationId xmlns:a16="http://schemas.microsoft.com/office/drawing/2014/main" id="{5E3F8C06-75A5-4FA0-918F-059B465ED54C}"/>
              </a:ext>
            </a:extLst>
          </p:cNvPr>
          <p:cNvSpPr txBox="1">
            <a:spLocks noChangeArrowheads="1"/>
          </p:cNvSpPr>
          <p:nvPr/>
        </p:nvSpPr>
        <p:spPr bwMode="auto">
          <a:xfrm>
            <a:off x="5181600" y="1524000"/>
            <a:ext cx="3733800" cy="507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buFontTx/>
              <a:buChar char="•"/>
            </a:pPr>
            <a:r>
              <a:rPr lang="ro-RO" altLang="ro-RO">
                <a:latin typeface="Times New Roman" panose="02020603050405020304" pitchFamily="18" charset="0"/>
                <a:cs typeface="Times New Roman" panose="02020603050405020304" pitchFamily="18" charset="0"/>
              </a:rPr>
              <a:t>Răspunsul indicial al sistemelor liniare şi invariante în timp discret</a:t>
            </a:r>
          </a:p>
          <a:p>
            <a:pPr eaLnBrk="1" hangingPunct="1">
              <a:buFontTx/>
              <a:buChar char="•"/>
            </a:pPr>
            <a:r>
              <a:rPr lang="ro-RO" altLang="ro-RO">
                <a:latin typeface="Times New Roman" panose="02020603050405020304" pitchFamily="18" charset="0"/>
                <a:cs typeface="Times New Roman" panose="02020603050405020304" pitchFamily="18" charset="0"/>
              </a:rPr>
              <a:t>Sisteme liniare şi invariante în timp de ordinul întâi şi doi</a:t>
            </a:r>
          </a:p>
          <a:p>
            <a:pPr eaLnBrk="1" hangingPunct="1">
              <a:buFontTx/>
              <a:buChar char="•"/>
            </a:pPr>
            <a:r>
              <a:rPr lang="ro-RO" altLang="ro-RO">
                <a:latin typeface="Times New Roman" panose="02020603050405020304" pitchFamily="18" charset="0"/>
                <a:cs typeface="Times New Roman" panose="02020603050405020304" pitchFamily="18" charset="0"/>
              </a:rPr>
              <a:t>Sistem de ordinul întâi</a:t>
            </a:r>
          </a:p>
          <a:p>
            <a:pPr eaLnBrk="1" hangingPunct="1">
              <a:buFontTx/>
              <a:buChar char="•"/>
            </a:pPr>
            <a:r>
              <a:rPr lang="ro-RO" altLang="ro-RO">
                <a:latin typeface="Times New Roman" panose="02020603050405020304" pitchFamily="18" charset="0"/>
                <a:cs typeface="Times New Roman" panose="02020603050405020304" pitchFamily="18" charset="0"/>
              </a:rPr>
              <a:t>Sisteme de ordinul doi</a:t>
            </a:r>
          </a:p>
          <a:p>
            <a:pPr eaLnBrk="1" hangingPunct="1">
              <a:buFontTx/>
              <a:buChar char="•"/>
            </a:pPr>
            <a:r>
              <a:rPr lang="ro-RO" altLang="ro-RO">
                <a:latin typeface="Times New Roman" panose="02020603050405020304" pitchFamily="18" charset="0"/>
                <a:cs typeface="Times New Roman" panose="02020603050405020304" pitchFamily="18" charset="0"/>
              </a:rPr>
              <a:t>Răspunsul unui sistem liniar şi invariant în timp discret la un semnal de intrare oarecare</a:t>
            </a:r>
          </a:p>
          <a:p>
            <a:pPr eaLnBrk="1" hangingPunct="1">
              <a:buFontTx/>
              <a:buChar char="•"/>
            </a:pPr>
            <a:r>
              <a:rPr lang="ro-RO" altLang="ro-RO">
                <a:latin typeface="Times New Roman" panose="02020603050405020304" pitchFamily="18" charset="0"/>
                <a:cs typeface="Times New Roman" panose="02020603050405020304" pitchFamily="18" charset="0"/>
              </a:rPr>
              <a:t>Metoda armonică-demonstraţie</a:t>
            </a:r>
          </a:p>
          <a:p>
            <a:pPr eaLnBrk="1" hangingPunct="1">
              <a:buFontTx/>
              <a:buChar char="•"/>
            </a:pPr>
            <a:r>
              <a:rPr lang="ro-RO" altLang="ro-RO">
                <a:latin typeface="Times New Roman" panose="02020603050405020304" pitchFamily="18" charset="0"/>
                <a:cs typeface="Times New Roman" panose="02020603050405020304" pitchFamily="18" charset="0"/>
              </a:rPr>
              <a:t>Funcţia de intercorelaţie pentru semnalele discrete de energie infinită dar de putere medie finită</a:t>
            </a: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ro-RO" altLang="ro-RO">
              <a:latin typeface="Times New Roman" panose="02020603050405020304" pitchFamily="18" charset="0"/>
              <a:cs typeface="Times New Roman" panose="02020603050405020304" pitchFamily="18" charset="0"/>
            </a:endParaRPr>
          </a:p>
          <a:p>
            <a:pPr eaLnBrk="1" hangingPunct="1">
              <a:buFontTx/>
              <a:buChar char="•"/>
            </a:pPr>
            <a:endParaRPr lang="en-US" altLang="ro-RO">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4">
            <a:extLst>
              <a:ext uri="{FF2B5EF4-FFF2-40B4-BE49-F238E27FC236}">
                <a16:creationId xmlns:a16="http://schemas.microsoft.com/office/drawing/2014/main" id="{00EC2D5A-940C-4E1F-B655-5B83483DE28C}"/>
              </a:ext>
            </a:extLst>
          </p:cNvPr>
          <p:cNvSpPr txBox="1">
            <a:spLocks noChangeArrowheads="1"/>
          </p:cNvSpPr>
          <p:nvPr/>
        </p:nvSpPr>
        <p:spPr bwMode="auto">
          <a:xfrm>
            <a:off x="457200" y="1447800"/>
            <a:ext cx="80010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rPr>
              <a:t>Apari</a:t>
            </a:r>
            <a:r>
              <a:rPr lang="ro-RO" altLang="ro-RO" sz="3200">
                <a:latin typeface="Times New Roman" panose="02020603050405020304" pitchFamily="18" charset="0"/>
              </a:rPr>
              <a:t>ţ</a:t>
            </a:r>
            <a:r>
              <a:rPr lang="en-GB" altLang="ro-RO" sz="3200">
                <a:latin typeface="Times New Roman" panose="02020603050405020304" pitchFamily="18" charset="0"/>
              </a:rPr>
              <a:t>ia, la mijlocul anilor '60 a </a:t>
            </a:r>
            <a:r>
              <a:rPr lang="en-GB" altLang="ro-RO" sz="3200">
                <a:solidFill>
                  <a:schemeClr val="accent2"/>
                </a:solidFill>
                <a:latin typeface="Times New Roman" panose="02020603050405020304" pitchFamily="18" charset="0"/>
              </a:rPr>
              <a:t>algoritmului</a:t>
            </a:r>
            <a:r>
              <a:rPr lang="en-US" altLang="ro-RO" sz="3200">
                <a:solidFill>
                  <a:schemeClr val="accent2"/>
                </a:solidFill>
                <a:latin typeface="Times New Roman" panose="02020603050405020304" pitchFamily="18" charset="0"/>
              </a:rPr>
              <a:t> </a:t>
            </a:r>
            <a:r>
              <a:rPr lang="en-GB" altLang="ro-RO" sz="3200">
                <a:solidFill>
                  <a:schemeClr val="accent2"/>
                </a:solidFill>
                <a:latin typeface="Times New Roman" panose="02020603050405020304" pitchFamily="18" charset="0"/>
              </a:rPr>
              <a:t>FFT</a:t>
            </a:r>
            <a:r>
              <a:rPr lang="en-GB" altLang="ro-RO" sz="3200">
                <a:latin typeface="Times New Roman" panose="02020603050405020304" pitchFamily="18" charset="0"/>
              </a:rPr>
              <a:t>, de transformare rapid</a:t>
            </a:r>
            <a:r>
              <a:rPr lang="ro-RO" altLang="ro-RO" sz="3200">
                <a:latin typeface="Times New Roman" panose="02020603050405020304" pitchFamily="18" charset="0"/>
              </a:rPr>
              <a:t>ă</a:t>
            </a:r>
            <a:r>
              <a:rPr lang="en-GB" altLang="ro-RO" sz="3200">
                <a:latin typeface="Times New Roman" panose="02020603050405020304" pitchFamily="18" charset="0"/>
              </a:rPr>
              <a:t>, a f</a:t>
            </a:r>
            <a:r>
              <a:rPr lang="ro-RO" altLang="ro-RO" sz="3200">
                <a:latin typeface="Times New Roman" panose="02020603050405020304" pitchFamily="18" charset="0"/>
              </a:rPr>
              <a:t>ă</a:t>
            </a:r>
            <a:r>
              <a:rPr lang="en-GB" altLang="ro-RO" sz="3200">
                <a:latin typeface="Times New Roman" panose="02020603050405020304" pitchFamily="18" charset="0"/>
              </a:rPr>
              <a:t>cut prelucrarea numeric</a:t>
            </a:r>
            <a:r>
              <a:rPr lang="ro-RO" altLang="ro-RO" sz="3200">
                <a:latin typeface="Times New Roman" panose="02020603050405020304" pitchFamily="18" charset="0"/>
              </a:rPr>
              <a:t>ă</a:t>
            </a:r>
            <a:r>
              <a:rPr lang="en-GB" altLang="ro-RO" sz="3200">
                <a:latin typeface="Times New Roman" panose="02020603050405020304" pitchFamily="18" charset="0"/>
              </a:rPr>
              <a:t> deosebit de eficient</a:t>
            </a:r>
            <a:r>
              <a:rPr lang="ro-RO" altLang="ro-RO" sz="3200">
                <a:latin typeface="Times New Roman" panose="02020603050405020304" pitchFamily="18" charset="0"/>
              </a:rPr>
              <a:t>ă</a:t>
            </a:r>
            <a:r>
              <a:rPr lang="en-GB" altLang="ro-RO" sz="3200">
                <a:latin typeface="Times New Roman" panose="02020603050405020304" pitchFamily="18" charset="0"/>
              </a:rPr>
              <a:t>.</a:t>
            </a:r>
            <a:endParaRPr lang="en-US" altLang="ro-RO" sz="3200">
              <a:latin typeface="Times New Roman" panose="02020603050405020304" pitchFamily="18" charset="0"/>
            </a:endParaRPr>
          </a:p>
          <a:p>
            <a:pPr eaLnBrk="1" hangingPunct="1">
              <a:spcBef>
                <a:spcPct val="50000"/>
              </a:spcBef>
            </a:pPr>
            <a:r>
              <a:rPr lang="en-GB" altLang="ro-RO" sz="3200">
                <a:latin typeface="Times New Roman" panose="02020603050405020304" pitchFamily="18" charset="0"/>
              </a:rPr>
              <a:t>Ast</a:t>
            </a:r>
            <a:r>
              <a:rPr lang="ro-RO" altLang="ro-RO" sz="3200">
                <a:latin typeface="Times New Roman" panose="02020603050405020304" pitchFamily="18" charset="0"/>
              </a:rPr>
              <a:t>ă</a:t>
            </a:r>
            <a:r>
              <a:rPr lang="en-GB" altLang="ro-RO" sz="3200">
                <a:latin typeface="Times New Roman" panose="02020603050405020304" pitchFamily="18" charset="0"/>
              </a:rPr>
              <a:t>zi, practic nu se poate concepe prelucrarea semnalelor f</a:t>
            </a:r>
            <a:r>
              <a:rPr lang="ro-RO" altLang="ro-RO" sz="3200">
                <a:latin typeface="Times New Roman" panose="02020603050405020304" pitchFamily="18" charset="0"/>
              </a:rPr>
              <a:t>ă</a:t>
            </a:r>
            <a:r>
              <a:rPr lang="en-GB" altLang="ro-RO" sz="3200">
                <a:latin typeface="Times New Roman" panose="02020603050405020304" pitchFamily="18" charset="0"/>
              </a:rPr>
              <a:t>r</a:t>
            </a:r>
            <a:r>
              <a:rPr lang="ro-RO" altLang="ro-RO" sz="3200">
                <a:latin typeface="Times New Roman" panose="02020603050405020304" pitchFamily="18" charset="0"/>
              </a:rPr>
              <a:t>ă</a:t>
            </a:r>
            <a:r>
              <a:rPr lang="en-GB" altLang="ro-RO" sz="3200">
                <a:latin typeface="Times New Roman" panose="02020603050405020304" pitchFamily="18" charset="0"/>
              </a:rPr>
              <a:t> ajutorul</a:t>
            </a:r>
            <a:r>
              <a:rPr lang="en-US" altLang="ro-RO" sz="3200">
                <a:latin typeface="Times New Roman" panose="02020603050405020304" pitchFamily="18" charset="0"/>
              </a:rPr>
              <a:t> </a:t>
            </a:r>
            <a:r>
              <a:rPr lang="en-GB" altLang="ro-RO" sz="3200">
                <a:latin typeface="Times New Roman" panose="02020603050405020304" pitchFamily="18" charset="0"/>
              </a:rPr>
              <a:t>calculatorului</a:t>
            </a:r>
            <a:r>
              <a:rPr lang="en-US" altLang="ro-RO" sz="3200">
                <a:latin typeface="Times New Roman" panose="02020603050405020304" pitchFamily="18" charset="0"/>
              </a:rPr>
              <a:t> </a:t>
            </a:r>
            <a:r>
              <a:rPr lang="en-GB" altLang="ro-RO" sz="3200">
                <a:latin typeface="Times New Roman" panose="02020603050405020304" pitchFamily="18" charset="0"/>
              </a:rPr>
              <a:t>electronic numeric, devenit mai mult "bun de larg consum" dec</a:t>
            </a:r>
            <a:r>
              <a:rPr lang="ro-RO" altLang="ro-RO" sz="3200">
                <a:latin typeface="Times New Roman" panose="02020603050405020304" pitchFamily="18" charset="0"/>
              </a:rPr>
              <a:t>â</a:t>
            </a:r>
            <a:r>
              <a:rPr lang="en-GB" altLang="ro-RO" sz="3200">
                <a:latin typeface="Times New Roman" panose="02020603050405020304" pitchFamily="18" charset="0"/>
              </a:rPr>
              <a:t>t un</a:t>
            </a:r>
            <a:r>
              <a:rPr lang="en-US" altLang="ro-RO" sz="3200">
                <a:latin typeface="Times New Roman" panose="02020603050405020304" pitchFamily="18" charset="0"/>
              </a:rPr>
              <a:t> </a:t>
            </a:r>
            <a:r>
              <a:rPr lang="en-GB" altLang="ro-RO" sz="3200">
                <a:latin typeface="Times New Roman" panose="02020603050405020304" pitchFamily="18" charset="0"/>
              </a:rPr>
              <a:t>instrument de cercetare teoretic</a:t>
            </a:r>
            <a:r>
              <a:rPr lang="ro-RO" altLang="ro-RO" sz="3200">
                <a:latin typeface="Times New Roman" panose="02020603050405020304" pitchFamily="18" charset="0"/>
              </a:rPr>
              <a:t>ă</a:t>
            </a:r>
            <a:r>
              <a:rPr lang="en-GB" altLang="ro-RO" sz="3200">
                <a:latin typeface="Times New Roman" panose="02020603050405020304" pitchFamily="18" charset="0"/>
              </a:rPr>
              <a:t>.</a:t>
            </a:r>
            <a:endParaRPr lang="en-GB" altLang="ro-RO" sz="2400">
              <a:latin typeface="Times New Roman" panose="02020603050405020304" pitchFamily="18" charset="0"/>
            </a:endParaRPr>
          </a:p>
        </p:txBody>
      </p:sp>
      <p:sp>
        <p:nvSpPr>
          <p:cNvPr id="3075" name="Rectangle 6">
            <a:extLst>
              <a:ext uri="{FF2B5EF4-FFF2-40B4-BE49-F238E27FC236}">
                <a16:creationId xmlns:a16="http://schemas.microsoft.com/office/drawing/2014/main" id="{4417B05B-53C7-4BD1-A342-C0E2202B6517}"/>
              </a:ext>
            </a:extLst>
          </p:cNvPr>
          <p:cNvSpPr>
            <a:spLocks noChangeArrowheads="1"/>
          </p:cNvSpPr>
          <p:nvPr/>
        </p:nvSpPr>
        <p:spPr bwMode="auto">
          <a:xfrm>
            <a:off x="685800" y="8382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chemeClr val="tx2"/>
                </a:solidFill>
                <a:latin typeface="Times New Roman" panose="02020603050405020304" pitchFamily="18" charset="0"/>
                <a:cs typeface="Times New Roman" panose="02020603050405020304" pitchFamily="18" charset="0"/>
              </a:rPr>
              <a:t>Transformata Fourier </a:t>
            </a:r>
            <a:r>
              <a:rPr lang="ro-RO" altLang="ro-RO" sz="4000">
                <a:solidFill>
                  <a:schemeClr val="tx2"/>
                </a:solidFill>
                <a:latin typeface="Times New Roman" panose="02020603050405020304" pitchFamily="18" charset="0"/>
                <a:cs typeface="Times New Roman" panose="02020603050405020304" pitchFamily="18" charset="0"/>
              </a:rPr>
              <a:t>î</a:t>
            </a:r>
            <a:r>
              <a:rPr lang="en-GB" altLang="ro-RO" sz="4000">
                <a:solidFill>
                  <a:schemeClr val="tx2"/>
                </a:solidFill>
                <a:latin typeface="Times New Roman" panose="02020603050405020304" pitchFamily="18" charset="0"/>
                <a:cs typeface="Times New Roman" panose="02020603050405020304" pitchFamily="18" charset="0"/>
              </a:rPr>
              <a:t>n timp discret</a:t>
            </a:r>
            <a:br>
              <a:rPr lang="en-GB" altLang="ro-RO" sz="4400">
                <a:solidFill>
                  <a:schemeClr val="tx2"/>
                </a:solidFill>
              </a:rPr>
            </a:br>
            <a:endParaRPr lang="en-US" altLang="ro-RO" sz="4400">
              <a:solidFill>
                <a:schemeClr val="tx2"/>
              </a:solidFill>
            </a:endParaRPr>
          </a:p>
        </p:txBody>
      </p:sp>
      <p:sp>
        <p:nvSpPr>
          <p:cNvPr id="3076" name="Rectangle 3">
            <a:extLst>
              <a:ext uri="{FF2B5EF4-FFF2-40B4-BE49-F238E27FC236}">
                <a16:creationId xmlns:a16="http://schemas.microsoft.com/office/drawing/2014/main" id="{F7F6D3E1-094A-49BE-A98E-95544C66F005}"/>
              </a:ext>
            </a:extLst>
          </p:cNvPr>
          <p:cNvSpPr>
            <a:spLocks noChangeArrowheads="1"/>
          </p:cNvSpPr>
          <p:nvPr/>
        </p:nvSpPr>
        <p:spPr bwMode="auto">
          <a:xfrm>
            <a:off x="-26988" y="5638800"/>
            <a:ext cx="8969376"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a:latin typeface="Times New Roman" panose="02020603050405020304" pitchFamily="18" charset="0"/>
                <a:hlinkClick r:id="rId3"/>
              </a:rPr>
              <a:t>https://itunes.apple.com/us/app/audio-spectrum-analyzer-db-rta/id1281873790?mt=8</a:t>
            </a:r>
            <a:endParaRPr lang="en-GB" altLang="ro-RO">
              <a:latin typeface="Times New Roman" panose="02020603050405020304" pitchFamily="18" charset="0"/>
            </a:endParaRPr>
          </a:p>
        </p:txBody>
      </p:sp>
      <p:sp>
        <p:nvSpPr>
          <p:cNvPr id="3077" name="TextBox 1">
            <a:extLst>
              <a:ext uri="{FF2B5EF4-FFF2-40B4-BE49-F238E27FC236}">
                <a16:creationId xmlns:a16="http://schemas.microsoft.com/office/drawing/2014/main" id="{843818B4-DF3F-471A-BCFE-29BE9B41D9C6}"/>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7">
            <a:extLst>
              <a:ext uri="{FF2B5EF4-FFF2-40B4-BE49-F238E27FC236}">
                <a16:creationId xmlns:a16="http://schemas.microsoft.com/office/drawing/2014/main" id="{4948F3EC-EBE5-46F6-B772-1A3E5F58516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850" y="1550988"/>
            <a:ext cx="5724525"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9" name="Rectangle 4">
            <a:extLst>
              <a:ext uri="{FF2B5EF4-FFF2-40B4-BE49-F238E27FC236}">
                <a16:creationId xmlns:a16="http://schemas.microsoft.com/office/drawing/2014/main" id="{EF892896-80AD-4494-A375-378C9C2A32E4}"/>
              </a:ext>
            </a:extLst>
          </p:cNvPr>
          <p:cNvSpPr>
            <a:spLocks noChangeArrowheads="1"/>
          </p:cNvSpPr>
          <p:nvPr/>
        </p:nvSpPr>
        <p:spPr bwMode="auto">
          <a:xfrm>
            <a:off x="76200" y="457200"/>
            <a:ext cx="8991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chemeClr val="tx2"/>
                </a:solidFill>
                <a:latin typeface="Times New Roman" panose="02020603050405020304" pitchFamily="18" charset="0"/>
                <a:cs typeface="Times New Roman" panose="02020603050405020304" pitchFamily="18" charset="0"/>
              </a:rPr>
              <a:t>R</a:t>
            </a:r>
            <a:r>
              <a:rPr lang="ro-RO" altLang="ro-RO" sz="4000">
                <a:solidFill>
                  <a:schemeClr val="tx2"/>
                </a:solidFill>
                <a:latin typeface="Times New Roman" panose="02020603050405020304" pitchFamily="18" charset="0"/>
                <a:cs typeface="Times New Roman" panose="02020603050405020304" pitchFamily="18" charset="0"/>
              </a:rPr>
              <a:t>ă</a:t>
            </a:r>
            <a:r>
              <a:rPr lang="en-GB" altLang="ro-RO" sz="4000">
                <a:solidFill>
                  <a:schemeClr val="tx2"/>
                </a:solidFill>
                <a:latin typeface="Times New Roman" panose="02020603050405020304" pitchFamily="18" charset="0"/>
                <a:cs typeface="Times New Roman" panose="02020603050405020304" pitchFamily="18" charset="0"/>
              </a:rPr>
              <a:t>spunsul sistemelor</a:t>
            </a:r>
            <a:r>
              <a:rPr lang="en-US" altLang="ro-RO" sz="4000">
                <a:solidFill>
                  <a:schemeClr val="tx2"/>
                </a:solidFill>
                <a:latin typeface="Times New Roman" panose="02020603050405020304" pitchFamily="18" charset="0"/>
                <a:cs typeface="Times New Roman" panose="02020603050405020304" pitchFamily="18" charset="0"/>
              </a:rPr>
              <a:t> </a:t>
            </a:r>
            <a:r>
              <a:rPr lang="en-GB" altLang="ro-RO" sz="4000">
                <a:solidFill>
                  <a:schemeClr val="tx2"/>
                </a:solidFill>
                <a:latin typeface="Times New Roman" panose="02020603050405020304" pitchFamily="18" charset="0"/>
                <a:cs typeface="Times New Roman" panose="02020603050405020304" pitchFamily="18" charset="0"/>
              </a:rPr>
              <a:t>discrete liniare </a:t>
            </a:r>
            <a:r>
              <a:rPr lang="ro-RO" altLang="ro-RO" sz="4000">
                <a:solidFill>
                  <a:schemeClr val="tx2"/>
                </a:solidFill>
                <a:latin typeface="Times New Roman" panose="02020603050405020304" pitchFamily="18" charset="0"/>
                <a:cs typeface="Times New Roman" panose="02020603050405020304" pitchFamily="18" charset="0"/>
              </a:rPr>
              <a:t>ş</a:t>
            </a:r>
            <a:r>
              <a:rPr lang="en-GB" altLang="ro-RO" sz="4000">
                <a:solidFill>
                  <a:schemeClr val="tx2"/>
                </a:solidFill>
                <a:latin typeface="Times New Roman" panose="02020603050405020304" pitchFamily="18" charset="0"/>
                <a:cs typeface="Times New Roman" panose="02020603050405020304" pitchFamily="18" charset="0"/>
              </a:rPr>
              <a:t>i invariante </a:t>
            </a:r>
            <a:r>
              <a:rPr lang="ro-RO" altLang="ro-RO" sz="4000">
                <a:solidFill>
                  <a:schemeClr val="tx2"/>
                </a:solidFill>
                <a:latin typeface="Times New Roman" panose="02020603050405020304" pitchFamily="18" charset="0"/>
                <a:cs typeface="Times New Roman" panose="02020603050405020304" pitchFamily="18" charset="0"/>
              </a:rPr>
              <a:t>î</a:t>
            </a:r>
            <a:r>
              <a:rPr lang="en-GB" altLang="ro-RO" sz="4000">
                <a:solidFill>
                  <a:schemeClr val="tx2"/>
                </a:solidFill>
                <a:latin typeface="Times New Roman" panose="02020603050405020304" pitchFamily="18" charset="0"/>
                <a:cs typeface="Times New Roman" panose="02020603050405020304" pitchFamily="18" charset="0"/>
              </a:rPr>
              <a:t>n timp la</a:t>
            </a:r>
            <a:r>
              <a:rPr lang="en-US" altLang="ro-RO" sz="4000">
                <a:solidFill>
                  <a:schemeClr val="tx2"/>
                </a:solidFill>
                <a:latin typeface="Times New Roman" panose="02020603050405020304" pitchFamily="18" charset="0"/>
                <a:cs typeface="Times New Roman" panose="02020603050405020304" pitchFamily="18" charset="0"/>
              </a:rPr>
              <a:t> </a:t>
            </a:r>
            <a:r>
              <a:rPr lang="ro-RO" altLang="ro-RO" sz="4000">
                <a:solidFill>
                  <a:schemeClr val="tx2"/>
                </a:solidFill>
                <a:latin typeface="Times New Roman" panose="02020603050405020304" pitchFamily="18" charset="0"/>
                <a:cs typeface="Times New Roman" panose="02020603050405020304" pitchFamily="18" charset="0"/>
              </a:rPr>
              <a:t>semnale armonice</a:t>
            </a:r>
            <a:br>
              <a:rPr lang="en-GB" altLang="ro-RO" sz="4400">
                <a:solidFill>
                  <a:schemeClr val="tx2"/>
                </a:solidFill>
              </a:rPr>
            </a:br>
            <a:endParaRPr lang="en-US" altLang="ro-RO" sz="4400">
              <a:solidFill>
                <a:schemeClr val="tx2"/>
              </a:solidFill>
            </a:endParaRPr>
          </a:p>
        </p:txBody>
      </p:sp>
      <p:sp>
        <p:nvSpPr>
          <p:cNvPr id="4100" name="TextBox 1">
            <a:extLst>
              <a:ext uri="{FF2B5EF4-FFF2-40B4-BE49-F238E27FC236}">
                <a16:creationId xmlns:a16="http://schemas.microsoft.com/office/drawing/2014/main" id="{DB82F8D0-8880-4C2D-9E2D-8DE6BF7E2034}"/>
              </a:ext>
            </a:extLst>
          </p:cNvPr>
          <p:cNvSpPr txBox="1">
            <a:spLocks noChangeArrowheads="1"/>
          </p:cNvSpPr>
          <p:nvPr/>
        </p:nvSpPr>
        <p:spPr bwMode="auto">
          <a:xfrm>
            <a:off x="6556375" y="4724400"/>
            <a:ext cx="2206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a:solidFill>
                  <a:srgbClr val="FF0000"/>
                </a:solidFill>
                <a:latin typeface="Times New Roman" panose="02020603050405020304" pitchFamily="18" charset="0"/>
                <a:cs typeface="Times New Roman" panose="02020603050405020304" pitchFamily="18" charset="0"/>
              </a:rPr>
              <a:t>Metoda armonică</a:t>
            </a:r>
            <a:endParaRPr lang="en-US" altLang="ro-RO">
              <a:solidFill>
                <a:srgbClr val="FF0000"/>
              </a:solidFill>
              <a:latin typeface="Times New Roman" panose="02020603050405020304" pitchFamily="18" charset="0"/>
              <a:cs typeface="Times New Roman" panose="02020603050405020304" pitchFamily="18" charset="0"/>
            </a:endParaRPr>
          </a:p>
        </p:txBody>
      </p:sp>
      <p:sp>
        <p:nvSpPr>
          <p:cNvPr id="4101" name="TextBox 5">
            <a:extLst>
              <a:ext uri="{FF2B5EF4-FFF2-40B4-BE49-F238E27FC236}">
                <a16:creationId xmlns:a16="http://schemas.microsoft.com/office/drawing/2014/main" id="{4FD8CFCA-63AF-4973-B82B-0DD6255E1629}"/>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a:t>
            </a:r>
            <a:endParaRPr lang="en-US" altLang="ro-RO" sz="1400">
              <a:latin typeface="Times New Roman" panose="02020603050405020304" pitchFamily="18" charset="0"/>
              <a:cs typeface="Times New Roman" panose="02020603050405020304" pitchFamily="18" charset="0"/>
            </a:endParaRPr>
          </a:p>
        </p:txBody>
      </p:sp>
      <p:pic>
        <p:nvPicPr>
          <p:cNvPr id="4102" name="Picture 1">
            <a:extLst>
              <a:ext uri="{FF2B5EF4-FFF2-40B4-BE49-F238E27FC236}">
                <a16:creationId xmlns:a16="http://schemas.microsoft.com/office/drawing/2014/main" id="{5DF0DB5C-95BB-4305-AA0A-DAC7998EA618}"/>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39825" y="3443288"/>
            <a:ext cx="6172200"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8">
            <a:extLst>
              <a:ext uri="{FF2B5EF4-FFF2-40B4-BE49-F238E27FC236}">
                <a16:creationId xmlns:a16="http://schemas.microsoft.com/office/drawing/2014/main" id="{5E0ECBDF-6DEE-4EE2-81A4-A78F9D82C5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25" y="623888"/>
            <a:ext cx="8286750" cy="561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3" name="TextBox 2">
            <a:extLst>
              <a:ext uri="{FF2B5EF4-FFF2-40B4-BE49-F238E27FC236}">
                <a16:creationId xmlns:a16="http://schemas.microsoft.com/office/drawing/2014/main" id="{44A9DD40-415C-4058-B76F-C87E8B4FB9D2}"/>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3</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ext Box 5">
            <a:extLst>
              <a:ext uri="{FF2B5EF4-FFF2-40B4-BE49-F238E27FC236}">
                <a16:creationId xmlns:a16="http://schemas.microsoft.com/office/drawing/2014/main" id="{F6BF02CB-2C20-493E-84E2-E97BBC5D75A6}"/>
              </a:ext>
            </a:extLst>
          </p:cNvPr>
          <p:cNvSpPr txBox="1">
            <a:spLocks noChangeArrowheads="1"/>
          </p:cNvSpPr>
          <p:nvPr/>
        </p:nvSpPr>
        <p:spPr bwMode="auto">
          <a:xfrm>
            <a:off x="250825" y="5257800"/>
            <a:ext cx="82296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solidFill>
                  <a:srgbClr val="FF3300"/>
                </a:solidFill>
                <a:latin typeface="Times New Roman" panose="02020603050405020304" pitchFamily="18" charset="0"/>
              </a:rPr>
              <a:t>Tem</a:t>
            </a:r>
            <a:r>
              <a:rPr lang="ro-RO" altLang="ro-RO" sz="2400">
                <a:solidFill>
                  <a:srgbClr val="FF3300"/>
                </a:solidFill>
                <a:latin typeface="Times New Roman" panose="02020603050405020304" pitchFamily="18" charset="0"/>
              </a:rPr>
              <a:t>ă</a:t>
            </a:r>
            <a:r>
              <a:rPr lang="en-US" altLang="ro-RO" sz="2400">
                <a:solidFill>
                  <a:srgbClr val="FF3300"/>
                </a:solidFill>
                <a:latin typeface="Times New Roman" panose="02020603050405020304" pitchFamily="18" charset="0"/>
              </a:rPr>
              <a:t> de curs</a:t>
            </a:r>
            <a:r>
              <a:rPr lang="ro-RO" altLang="ro-RO" sz="2400">
                <a:solidFill>
                  <a:srgbClr val="FF3300"/>
                </a:solidFill>
                <a:latin typeface="Times New Roman" panose="02020603050405020304" pitchFamily="18" charset="0"/>
              </a:rPr>
              <a:t> nr. 2</a:t>
            </a:r>
            <a:endParaRPr lang="en-US" altLang="ro-RO" sz="2400">
              <a:solidFill>
                <a:srgbClr val="FF3300"/>
              </a:solidFill>
              <a:latin typeface="Times New Roman" panose="02020603050405020304" pitchFamily="18" charset="0"/>
            </a:endParaRPr>
          </a:p>
          <a:p>
            <a:pPr eaLnBrk="1" hangingPunct="1">
              <a:spcBef>
                <a:spcPct val="50000"/>
              </a:spcBef>
            </a:pPr>
            <a:r>
              <a:rPr lang="en-US" altLang="ro-RO" sz="2400">
                <a:solidFill>
                  <a:srgbClr val="FF3300"/>
                </a:solidFill>
                <a:latin typeface="Times New Roman" panose="02020603050405020304" pitchFamily="18" charset="0"/>
              </a:rPr>
              <a:t>Reprezenta</a:t>
            </a:r>
            <a:r>
              <a:rPr lang="ro-RO" altLang="ro-RO" sz="2400">
                <a:solidFill>
                  <a:srgbClr val="FF3300"/>
                </a:solidFill>
                <a:latin typeface="Times New Roman" panose="02020603050405020304" pitchFamily="18" charset="0"/>
              </a:rPr>
              <a:t>ţ</a:t>
            </a:r>
            <a:r>
              <a:rPr lang="en-US" altLang="ro-RO" sz="2400">
                <a:solidFill>
                  <a:srgbClr val="FF3300"/>
                </a:solidFill>
                <a:latin typeface="Times New Roman" panose="02020603050405020304" pitchFamily="18" charset="0"/>
              </a:rPr>
              <a:t>i grafic spectrul ob</a:t>
            </a:r>
            <a:r>
              <a:rPr lang="ro-RO" altLang="ro-RO" sz="2400">
                <a:solidFill>
                  <a:srgbClr val="FF3300"/>
                </a:solidFill>
                <a:latin typeface="Times New Roman" panose="02020603050405020304" pitchFamily="18" charset="0"/>
              </a:rPr>
              <a:t>ţ</a:t>
            </a:r>
            <a:r>
              <a:rPr lang="en-US" altLang="ro-RO" sz="2400">
                <a:solidFill>
                  <a:srgbClr val="FF3300"/>
                </a:solidFill>
                <a:latin typeface="Times New Roman" panose="02020603050405020304" pitchFamily="18" charset="0"/>
              </a:rPr>
              <a:t>inut pentru </a:t>
            </a:r>
            <a:r>
              <a:rPr lang="en-US" altLang="ro-RO" sz="2400" i="1">
                <a:solidFill>
                  <a:srgbClr val="FF3300"/>
                </a:solidFill>
                <a:latin typeface="Times New Roman" panose="02020603050405020304" pitchFamily="18" charset="0"/>
              </a:rPr>
              <a:t>N</a:t>
            </a:r>
            <a:r>
              <a:rPr lang="en-US" altLang="ro-RO" sz="2400" baseline="-25000">
                <a:solidFill>
                  <a:srgbClr val="FF3300"/>
                </a:solidFill>
                <a:latin typeface="Times New Roman" panose="02020603050405020304" pitchFamily="18" charset="0"/>
              </a:rPr>
              <a:t>1</a:t>
            </a:r>
            <a:r>
              <a:rPr lang="en-US" altLang="ro-RO" sz="2400">
                <a:solidFill>
                  <a:srgbClr val="FF3300"/>
                </a:solidFill>
                <a:latin typeface="Times New Roman" panose="02020603050405020304" pitchFamily="18" charset="0"/>
              </a:rPr>
              <a:t>=3.</a:t>
            </a:r>
          </a:p>
        </p:txBody>
      </p:sp>
      <p:sp>
        <p:nvSpPr>
          <p:cNvPr id="6147" name="Text Box 6">
            <a:extLst>
              <a:ext uri="{FF2B5EF4-FFF2-40B4-BE49-F238E27FC236}">
                <a16:creationId xmlns:a16="http://schemas.microsoft.com/office/drawing/2014/main" id="{050339F1-BF39-4F66-BCEB-75056DD12354}"/>
              </a:ext>
            </a:extLst>
          </p:cNvPr>
          <p:cNvSpPr txBox="1">
            <a:spLocks noChangeArrowheads="1"/>
          </p:cNvSpPr>
          <p:nvPr/>
        </p:nvSpPr>
        <p:spPr bwMode="auto">
          <a:xfrm>
            <a:off x="533400" y="381000"/>
            <a:ext cx="7086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Exempl</a:t>
            </a:r>
            <a:r>
              <a:rPr lang="ro-RO" altLang="ro-RO" sz="2400">
                <a:latin typeface="Times New Roman" panose="02020603050405020304" pitchFamily="18" charset="0"/>
              </a:rPr>
              <a:t>u</a:t>
            </a:r>
            <a:endParaRPr lang="en-US" altLang="ro-RO" sz="2400">
              <a:latin typeface="Times New Roman" panose="02020603050405020304" pitchFamily="18" charset="0"/>
            </a:endParaRPr>
          </a:p>
        </p:txBody>
      </p:sp>
      <p:pic>
        <p:nvPicPr>
          <p:cNvPr id="6148" name="Picture 10">
            <a:extLst>
              <a:ext uri="{FF2B5EF4-FFF2-40B4-BE49-F238E27FC236}">
                <a16:creationId xmlns:a16="http://schemas.microsoft.com/office/drawing/2014/main" id="{98B07B5C-296E-4D85-B2BF-7F5085641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990600"/>
            <a:ext cx="3733800" cy="191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D694FC9-B00D-4C91-B3D1-96C8BC66C799}"/>
              </a:ext>
            </a:extLst>
          </p:cNvPr>
          <p:cNvSpPr txBox="1">
            <a:spLocks noRot="1" noChangeAspect="1" noMove="1" noResize="1" noEditPoints="1" noAdjustHandles="1" noChangeArrowheads="1" noChangeShapeType="1" noTextEdit="1"/>
          </p:cNvSpPr>
          <p:nvPr/>
        </p:nvSpPr>
        <p:spPr>
          <a:xfrm>
            <a:off x="136641" y="2743200"/>
            <a:ext cx="8457059" cy="904030"/>
          </a:xfrm>
          <a:prstGeom prst="rect">
            <a:avLst/>
          </a:prstGeom>
          <a:blipFill rotWithShape="1">
            <a:blip r:embed="rId4"/>
            <a:stretch>
              <a:fillRect r="-504"/>
            </a:stretch>
          </a:blipFill>
        </p:spPr>
        <p:txBody>
          <a:bodyPr/>
          <a:lstStyle/>
          <a:p>
            <a:pPr eaLnBrk="1" hangingPunct="1">
              <a:defRPr/>
            </a:pPr>
            <a:r>
              <a:rPr lang="en-US">
                <a:noFill/>
              </a:rPr>
              <a:t> </a:t>
            </a:r>
          </a:p>
        </p:txBody>
      </p:sp>
      <p:sp>
        <p:nvSpPr>
          <p:cNvPr id="9" name="TextBox 8">
            <a:extLst>
              <a:ext uri="{FF2B5EF4-FFF2-40B4-BE49-F238E27FC236}">
                <a16:creationId xmlns:a16="http://schemas.microsoft.com/office/drawing/2014/main" id="{3AA4A3A8-1D3C-460F-9078-ADFCFC673BEA}"/>
              </a:ext>
            </a:extLst>
          </p:cNvPr>
          <p:cNvSpPr txBox="1">
            <a:spLocks noRot="1" noChangeAspect="1" noMove="1" noResize="1" noEditPoints="1" noAdjustHandles="1" noChangeArrowheads="1" noChangeShapeType="1" noTextEdit="1"/>
          </p:cNvSpPr>
          <p:nvPr/>
        </p:nvSpPr>
        <p:spPr>
          <a:xfrm>
            <a:off x="136641" y="3886200"/>
            <a:ext cx="8963608" cy="1039067"/>
          </a:xfrm>
          <a:prstGeom prst="rect">
            <a:avLst/>
          </a:prstGeom>
          <a:blipFill rotWithShape="1">
            <a:blip r:embed="rId5"/>
            <a:stretch>
              <a:fillRect r="-476"/>
            </a:stretch>
          </a:blipFill>
        </p:spPr>
        <p:txBody>
          <a:bodyPr/>
          <a:lstStyle/>
          <a:p>
            <a:pPr eaLnBrk="1" hangingPunct="1">
              <a:defRPr/>
            </a:pPr>
            <a:r>
              <a:rPr lang="en-US">
                <a:noFill/>
              </a:rPr>
              <a:t> </a:t>
            </a:r>
          </a:p>
        </p:txBody>
      </p:sp>
      <p:sp>
        <p:nvSpPr>
          <p:cNvPr id="6151" name="TextBox 6">
            <a:extLst>
              <a:ext uri="{FF2B5EF4-FFF2-40B4-BE49-F238E27FC236}">
                <a16:creationId xmlns:a16="http://schemas.microsoft.com/office/drawing/2014/main" id="{774DE3C1-31FB-4C83-BFD1-0286551872CC}"/>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4</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A7D994A0-5B1A-43F9-8C5F-95320410B28B}"/>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chemeClr val="tx2"/>
                </a:solidFill>
                <a:latin typeface="Times New Roman" panose="02020603050405020304" pitchFamily="18" charset="0"/>
                <a:cs typeface="Times New Roman" panose="02020603050405020304" pitchFamily="18" charset="0"/>
              </a:rPr>
              <a:t>Propriet</a:t>
            </a:r>
            <a:r>
              <a:rPr lang="ro-RO" altLang="ro-RO" sz="4000">
                <a:solidFill>
                  <a:schemeClr val="tx2"/>
                </a:solidFill>
                <a:latin typeface="Times New Roman" panose="02020603050405020304" pitchFamily="18" charset="0"/>
                <a:cs typeface="Times New Roman" panose="02020603050405020304" pitchFamily="18" charset="0"/>
              </a:rPr>
              <a:t>ăţ</a:t>
            </a:r>
            <a:r>
              <a:rPr lang="en-GB" altLang="ro-RO" sz="4000">
                <a:solidFill>
                  <a:schemeClr val="tx2"/>
                </a:solidFill>
                <a:latin typeface="Times New Roman" panose="02020603050405020304" pitchFamily="18" charset="0"/>
                <a:cs typeface="Times New Roman" panose="02020603050405020304" pitchFamily="18" charset="0"/>
              </a:rPr>
              <a:t>ile transform</a:t>
            </a:r>
            <a:r>
              <a:rPr lang="ro-RO" altLang="ro-RO" sz="4000">
                <a:solidFill>
                  <a:schemeClr val="tx2"/>
                </a:solidFill>
                <a:latin typeface="Times New Roman" panose="02020603050405020304" pitchFamily="18" charset="0"/>
                <a:cs typeface="Times New Roman" panose="02020603050405020304" pitchFamily="18" charset="0"/>
              </a:rPr>
              <a:t>ă</a:t>
            </a:r>
            <a:r>
              <a:rPr lang="en-GB" altLang="ro-RO" sz="4000">
                <a:solidFill>
                  <a:schemeClr val="tx2"/>
                </a:solidFill>
                <a:latin typeface="Times New Roman" panose="02020603050405020304" pitchFamily="18" charset="0"/>
                <a:cs typeface="Times New Roman" panose="02020603050405020304" pitchFamily="18" charset="0"/>
              </a:rPr>
              <a:t>rii Fourier </a:t>
            </a:r>
            <a:r>
              <a:rPr lang="ro-RO" altLang="ro-RO" sz="4000">
                <a:solidFill>
                  <a:schemeClr val="tx2"/>
                </a:solidFill>
                <a:latin typeface="Times New Roman" panose="02020603050405020304" pitchFamily="18" charset="0"/>
                <a:cs typeface="Times New Roman" panose="02020603050405020304" pitchFamily="18" charset="0"/>
              </a:rPr>
              <a:t>î</a:t>
            </a:r>
            <a:r>
              <a:rPr lang="en-GB" altLang="ro-RO" sz="4000">
                <a:solidFill>
                  <a:schemeClr val="tx2"/>
                </a:solidFill>
                <a:latin typeface="Times New Roman" panose="02020603050405020304" pitchFamily="18" charset="0"/>
                <a:cs typeface="Times New Roman" panose="02020603050405020304" pitchFamily="18" charset="0"/>
              </a:rPr>
              <a:t>n timp discret</a:t>
            </a:r>
          </a:p>
        </p:txBody>
      </p:sp>
      <p:sp>
        <p:nvSpPr>
          <p:cNvPr id="7171" name="Text Box 5">
            <a:extLst>
              <a:ext uri="{FF2B5EF4-FFF2-40B4-BE49-F238E27FC236}">
                <a16:creationId xmlns:a16="http://schemas.microsoft.com/office/drawing/2014/main" id="{F15DD316-D280-48F7-86B9-DAC2D341F501}"/>
              </a:ext>
            </a:extLst>
          </p:cNvPr>
          <p:cNvSpPr txBox="1">
            <a:spLocks noChangeArrowheads="1"/>
          </p:cNvSpPr>
          <p:nvPr/>
        </p:nvSpPr>
        <p:spPr bwMode="auto">
          <a:xfrm>
            <a:off x="609600" y="2590800"/>
            <a:ext cx="6781800"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buFontTx/>
              <a:buAutoNum type="arabicPeriod"/>
            </a:pPr>
            <a:r>
              <a:rPr lang="en-GB" altLang="ro-RO" sz="3200" b="1">
                <a:latin typeface="Times New Roman" panose="02020603050405020304" pitchFamily="18" charset="0"/>
              </a:rPr>
              <a:t>Liniaritatea</a:t>
            </a:r>
            <a:endParaRPr lang="en-US" altLang="ro-RO" sz="3200" b="1">
              <a:latin typeface="Times New Roman" panose="02020603050405020304" pitchFamily="18" charset="0"/>
            </a:endParaRPr>
          </a:p>
          <a:p>
            <a:pPr eaLnBrk="1" hangingPunct="1">
              <a:spcBef>
                <a:spcPct val="50000"/>
              </a:spcBef>
              <a:buFontTx/>
              <a:buAutoNum type="arabicPeriod"/>
            </a:pPr>
            <a:endParaRPr lang="en-US" altLang="ro-RO" sz="3200">
              <a:latin typeface="Times New Roman" panose="02020603050405020304" pitchFamily="18" charset="0"/>
            </a:endParaRPr>
          </a:p>
          <a:p>
            <a:pPr eaLnBrk="1" hangingPunct="1">
              <a:spcBef>
                <a:spcPct val="50000"/>
              </a:spcBef>
              <a:buFontTx/>
              <a:buAutoNum type="arabicPeriod"/>
            </a:pPr>
            <a:r>
              <a:rPr lang="en-GB" altLang="ro-RO" sz="3200" b="1">
                <a:latin typeface="Times New Roman" panose="02020603050405020304" pitchFamily="18" charset="0"/>
              </a:rPr>
              <a:t>Transla</a:t>
            </a:r>
            <a:r>
              <a:rPr lang="ro-RO" altLang="ro-RO" sz="3200" b="1">
                <a:latin typeface="Times New Roman" panose="02020603050405020304" pitchFamily="18" charset="0"/>
              </a:rPr>
              <a:t>ţ</a:t>
            </a:r>
            <a:r>
              <a:rPr lang="en-GB" altLang="ro-RO" sz="3200" b="1">
                <a:latin typeface="Times New Roman" panose="02020603050405020304" pitchFamily="18" charset="0"/>
              </a:rPr>
              <a:t>ia </a:t>
            </a:r>
            <a:r>
              <a:rPr lang="ro-RO" altLang="ro-RO" sz="3200" b="1">
                <a:latin typeface="Times New Roman" panose="02020603050405020304" pitchFamily="18" charset="0"/>
              </a:rPr>
              <a:t>î</a:t>
            </a:r>
            <a:r>
              <a:rPr lang="en-GB" altLang="ro-RO" sz="3200" b="1">
                <a:latin typeface="Times New Roman" panose="02020603050405020304" pitchFamily="18" charset="0"/>
              </a:rPr>
              <a:t>n domeniul timp</a:t>
            </a:r>
            <a:endParaRPr lang="en-GB" altLang="ro-RO" sz="3200">
              <a:latin typeface="Times New Roman" panose="02020603050405020304" pitchFamily="18" charset="0"/>
            </a:endParaRPr>
          </a:p>
        </p:txBody>
      </p:sp>
      <p:graphicFrame>
        <p:nvGraphicFramePr>
          <p:cNvPr id="7172" name="Object 6">
            <a:extLst>
              <a:ext uri="{FF2B5EF4-FFF2-40B4-BE49-F238E27FC236}">
                <a16:creationId xmlns:a16="http://schemas.microsoft.com/office/drawing/2014/main" id="{184947FB-E288-4778-80FE-9FB9272D2594}"/>
              </a:ext>
            </a:extLst>
          </p:cNvPr>
          <p:cNvGraphicFramePr>
            <a:graphicFrameLocks noChangeAspect="1"/>
          </p:cNvGraphicFramePr>
          <p:nvPr/>
        </p:nvGraphicFramePr>
        <p:xfrm>
          <a:off x="2590800" y="3276600"/>
          <a:ext cx="4413250" cy="512763"/>
        </p:xfrm>
        <a:graphic>
          <a:graphicData uri="http://schemas.openxmlformats.org/presentationml/2006/ole">
            <mc:AlternateContent xmlns:mc="http://schemas.openxmlformats.org/markup-compatibility/2006">
              <mc:Choice xmlns:v="urn:schemas-microsoft-com:vml" Requires="v">
                <p:oleObj spid="_x0000_s7176" name="Equation" r:id="rId4" imgW="1968500" imgH="228600" progId="Equation.DSMT4">
                  <p:embed/>
                </p:oleObj>
              </mc:Choice>
              <mc:Fallback>
                <p:oleObj name="Equation" r:id="rId4" imgW="1968500" imgH="228600"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3276600"/>
                        <a:ext cx="4413250" cy="512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7">
            <a:extLst>
              <a:ext uri="{FF2B5EF4-FFF2-40B4-BE49-F238E27FC236}">
                <a16:creationId xmlns:a16="http://schemas.microsoft.com/office/drawing/2014/main" id="{E8D67D47-A9D3-441C-8B21-0D8D234E4595}"/>
              </a:ext>
            </a:extLst>
          </p:cNvPr>
          <p:cNvGraphicFramePr>
            <a:graphicFrameLocks noChangeAspect="1"/>
          </p:cNvGraphicFramePr>
          <p:nvPr/>
        </p:nvGraphicFramePr>
        <p:xfrm>
          <a:off x="3048000" y="4800600"/>
          <a:ext cx="3657600" cy="615950"/>
        </p:xfrm>
        <a:graphic>
          <a:graphicData uri="http://schemas.openxmlformats.org/presentationml/2006/ole">
            <mc:AlternateContent xmlns:mc="http://schemas.openxmlformats.org/markup-compatibility/2006">
              <mc:Choice xmlns:v="urn:schemas-microsoft-com:vml" Requires="v">
                <p:oleObj spid="_x0000_s7177" name="Equation" r:id="rId6" imgW="1511300" imgH="254000" progId="Equation.DSMT4">
                  <p:embed/>
                </p:oleObj>
              </mc:Choice>
              <mc:Fallback>
                <p:oleObj name="Equation" r:id="rId6" imgW="1511300" imgH="2540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4800600"/>
                        <a:ext cx="3657600" cy="615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 name="TextBox 1">
            <a:extLst>
              <a:ext uri="{FF2B5EF4-FFF2-40B4-BE49-F238E27FC236}">
                <a16:creationId xmlns:a16="http://schemas.microsoft.com/office/drawing/2014/main" id="{687AB5BD-5851-4A53-9268-20D42D756F9C}"/>
              </a:ext>
            </a:extLst>
          </p:cNvPr>
          <p:cNvSpPr txBox="1">
            <a:spLocks noChangeArrowheads="1"/>
          </p:cNvSpPr>
          <p:nvPr/>
        </p:nvSpPr>
        <p:spPr bwMode="auto">
          <a:xfrm>
            <a:off x="762000" y="1981200"/>
            <a:ext cx="5562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2800">
                <a:solidFill>
                  <a:srgbClr val="FF0000"/>
                </a:solidFill>
                <a:latin typeface="Times New Roman" panose="02020603050405020304" pitchFamily="18" charset="0"/>
                <a:cs typeface="Times New Roman" panose="02020603050405020304" pitchFamily="18" charset="0"/>
              </a:rPr>
              <a:t>Tabel 5.2</a:t>
            </a:r>
            <a:endParaRPr lang="en-US" altLang="ro-RO" sz="2800">
              <a:solidFill>
                <a:srgbClr val="FF0000"/>
              </a:solidFill>
              <a:latin typeface="Times New Roman" panose="02020603050405020304" pitchFamily="18" charset="0"/>
              <a:cs typeface="Times New Roman" panose="02020603050405020304" pitchFamily="18" charset="0"/>
            </a:endParaRPr>
          </a:p>
        </p:txBody>
      </p:sp>
      <p:sp>
        <p:nvSpPr>
          <p:cNvPr id="7175" name="TextBox 6">
            <a:extLst>
              <a:ext uri="{FF2B5EF4-FFF2-40B4-BE49-F238E27FC236}">
                <a16:creationId xmlns:a16="http://schemas.microsoft.com/office/drawing/2014/main" id="{6408ED70-97A3-4C76-A30A-4257EA6B8770}"/>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5</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ext Box 4">
            <a:extLst>
              <a:ext uri="{FF2B5EF4-FFF2-40B4-BE49-F238E27FC236}">
                <a16:creationId xmlns:a16="http://schemas.microsoft.com/office/drawing/2014/main" id="{8BD90DDF-08F7-4FDB-8CB7-3BFCB84470BB}"/>
              </a:ext>
            </a:extLst>
          </p:cNvPr>
          <p:cNvSpPr txBox="1">
            <a:spLocks noChangeArrowheads="1"/>
          </p:cNvSpPr>
          <p:nvPr/>
        </p:nvSpPr>
        <p:spPr bwMode="auto">
          <a:xfrm>
            <a:off x="457200" y="609600"/>
            <a:ext cx="6324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rPr>
              <a:t>3. </a:t>
            </a:r>
            <a:r>
              <a:rPr lang="en-GB" altLang="ro-RO" sz="3200" b="1">
                <a:latin typeface="Times New Roman" panose="02020603050405020304" pitchFamily="18" charset="0"/>
              </a:rPr>
              <a:t>Modularea </a:t>
            </a:r>
            <a:r>
              <a:rPr lang="ro-RO" altLang="ro-RO" sz="3200" b="1">
                <a:latin typeface="Times New Roman" panose="02020603050405020304" pitchFamily="18" charset="0"/>
              </a:rPr>
              <a:t>î</a:t>
            </a:r>
            <a:r>
              <a:rPr lang="en-GB" altLang="ro-RO" sz="3200" b="1">
                <a:latin typeface="Times New Roman" panose="02020603050405020304" pitchFamily="18" charset="0"/>
              </a:rPr>
              <a:t>n domeniul timp</a:t>
            </a:r>
            <a:endParaRPr lang="en-GB" altLang="ro-RO" sz="3200">
              <a:latin typeface="Times New Roman" panose="02020603050405020304" pitchFamily="18" charset="0"/>
            </a:endParaRPr>
          </a:p>
        </p:txBody>
      </p:sp>
      <p:graphicFrame>
        <p:nvGraphicFramePr>
          <p:cNvPr id="8195" name="Object 5">
            <a:extLst>
              <a:ext uri="{FF2B5EF4-FFF2-40B4-BE49-F238E27FC236}">
                <a16:creationId xmlns:a16="http://schemas.microsoft.com/office/drawing/2014/main" id="{9A250771-4718-43CB-86C3-A7ABFA43FE68}"/>
              </a:ext>
            </a:extLst>
          </p:cNvPr>
          <p:cNvGraphicFramePr>
            <a:graphicFrameLocks noChangeAspect="1"/>
          </p:cNvGraphicFramePr>
          <p:nvPr/>
        </p:nvGraphicFramePr>
        <p:xfrm>
          <a:off x="2590800" y="1447800"/>
          <a:ext cx="2952750" cy="504825"/>
        </p:xfrm>
        <a:graphic>
          <a:graphicData uri="http://schemas.openxmlformats.org/presentationml/2006/ole">
            <mc:AlternateContent xmlns:mc="http://schemas.openxmlformats.org/markup-compatibility/2006">
              <mc:Choice xmlns:v="urn:schemas-microsoft-com:vml" Requires="v">
                <p:oleObj spid="_x0000_s8202" name="Equation" r:id="rId4" imgW="1485255" imgH="253890" progId="Equation.DSMT4">
                  <p:embed/>
                </p:oleObj>
              </mc:Choice>
              <mc:Fallback>
                <p:oleObj name="Equation" r:id="rId4" imgW="1485255" imgH="25389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1447800"/>
                        <a:ext cx="29527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6" name="Text Box 6">
            <a:extLst>
              <a:ext uri="{FF2B5EF4-FFF2-40B4-BE49-F238E27FC236}">
                <a16:creationId xmlns:a16="http://schemas.microsoft.com/office/drawing/2014/main" id="{E0F6F8A1-F6A2-4F40-8DF8-8D24C2162486}"/>
              </a:ext>
            </a:extLst>
          </p:cNvPr>
          <p:cNvSpPr txBox="1">
            <a:spLocks noChangeArrowheads="1"/>
          </p:cNvSpPr>
          <p:nvPr/>
        </p:nvSpPr>
        <p:spPr bwMode="auto">
          <a:xfrm>
            <a:off x="457200" y="2286000"/>
            <a:ext cx="7467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rPr>
              <a:t>4. </a:t>
            </a:r>
            <a:r>
              <a:rPr lang="en-GB" altLang="ro-RO" sz="3200" b="1">
                <a:latin typeface="Times New Roman" panose="02020603050405020304" pitchFamily="18" charset="0"/>
              </a:rPr>
              <a:t>Scalarea variabilei timp</a:t>
            </a:r>
            <a:endParaRPr lang="en-GB" altLang="ro-RO" sz="3200">
              <a:latin typeface="Times New Roman" panose="02020603050405020304" pitchFamily="18" charset="0"/>
            </a:endParaRPr>
          </a:p>
        </p:txBody>
      </p:sp>
      <p:graphicFrame>
        <p:nvGraphicFramePr>
          <p:cNvPr id="8197" name="Object 7">
            <a:extLst>
              <a:ext uri="{FF2B5EF4-FFF2-40B4-BE49-F238E27FC236}">
                <a16:creationId xmlns:a16="http://schemas.microsoft.com/office/drawing/2014/main" id="{77335C46-BCD0-403A-A3C2-CF7A5D895541}"/>
              </a:ext>
            </a:extLst>
          </p:cNvPr>
          <p:cNvGraphicFramePr>
            <a:graphicFrameLocks noChangeAspect="1"/>
          </p:cNvGraphicFramePr>
          <p:nvPr/>
        </p:nvGraphicFramePr>
        <p:xfrm>
          <a:off x="6172200" y="2998788"/>
          <a:ext cx="2533650" cy="612775"/>
        </p:xfrm>
        <a:graphic>
          <a:graphicData uri="http://schemas.openxmlformats.org/presentationml/2006/ole">
            <mc:AlternateContent xmlns:mc="http://schemas.openxmlformats.org/markup-compatibility/2006">
              <mc:Choice xmlns:v="urn:schemas-microsoft-com:vml" Requires="v">
                <p:oleObj spid="_x0000_s8203" name="Equation" r:id="rId6" imgW="1104421" imgH="266584" progId="Equation.DSMT4">
                  <p:embed/>
                </p:oleObj>
              </mc:Choice>
              <mc:Fallback>
                <p:oleObj name="Equation" r:id="rId6" imgW="1104421" imgH="266584"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2200" y="2998788"/>
                        <a:ext cx="2533650"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Text Box 8">
            <a:extLst>
              <a:ext uri="{FF2B5EF4-FFF2-40B4-BE49-F238E27FC236}">
                <a16:creationId xmlns:a16="http://schemas.microsoft.com/office/drawing/2014/main" id="{1E280E87-7536-4BF6-977E-9DAF4E7C8EA2}"/>
              </a:ext>
            </a:extLst>
          </p:cNvPr>
          <p:cNvSpPr txBox="1">
            <a:spLocks noChangeArrowheads="1"/>
          </p:cNvSpPr>
          <p:nvPr/>
        </p:nvSpPr>
        <p:spPr bwMode="auto">
          <a:xfrm>
            <a:off x="609600" y="3886200"/>
            <a:ext cx="7620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NewRoman" charset="0"/>
              </a:rPr>
              <a:t>5. </a:t>
            </a:r>
            <a:r>
              <a:rPr lang="en-GB" altLang="ro-RO" sz="3200" b="1">
                <a:latin typeface="Times New Roman" panose="02020603050405020304" pitchFamily="18" charset="0"/>
              </a:rPr>
              <a:t>Conjugarea complex</a:t>
            </a:r>
            <a:r>
              <a:rPr lang="ro-RO" altLang="ro-RO" sz="3200" b="1">
                <a:latin typeface="Times New Roman" panose="02020603050405020304" pitchFamily="18" charset="0"/>
              </a:rPr>
              <a:t>ă</a:t>
            </a:r>
            <a:r>
              <a:rPr lang="en-GB" altLang="ro-RO" sz="3200" b="1">
                <a:latin typeface="Times New Roman" panose="02020603050405020304" pitchFamily="18" charset="0"/>
              </a:rPr>
              <a:t> a semnalului</a:t>
            </a:r>
            <a:endParaRPr lang="en-GB" altLang="ro-RO" sz="3200">
              <a:latin typeface="Times New Roman" panose="02020603050405020304" pitchFamily="18" charset="0"/>
            </a:endParaRPr>
          </a:p>
        </p:txBody>
      </p:sp>
      <p:graphicFrame>
        <p:nvGraphicFramePr>
          <p:cNvPr id="8199" name="Object 9">
            <a:extLst>
              <a:ext uri="{FF2B5EF4-FFF2-40B4-BE49-F238E27FC236}">
                <a16:creationId xmlns:a16="http://schemas.microsoft.com/office/drawing/2014/main" id="{78EED78A-2EC4-45F8-B01B-FC5EF1AAAEE0}"/>
              </a:ext>
            </a:extLst>
          </p:cNvPr>
          <p:cNvGraphicFramePr>
            <a:graphicFrameLocks noChangeAspect="1"/>
          </p:cNvGraphicFramePr>
          <p:nvPr/>
        </p:nvGraphicFramePr>
        <p:xfrm>
          <a:off x="2895600" y="4800600"/>
          <a:ext cx="2362200" cy="549275"/>
        </p:xfrm>
        <a:graphic>
          <a:graphicData uri="http://schemas.openxmlformats.org/presentationml/2006/ole">
            <mc:AlternateContent xmlns:mc="http://schemas.openxmlformats.org/markup-compatibility/2006">
              <mc:Choice xmlns:v="urn:schemas-microsoft-com:vml" Requires="v">
                <p:oleObj spid="_x0000_s8204" name="Equation" r:id="rId8" imgW="1091726" imgH="253890" progId="Equation.DSMT4">
                  <p:embed/>
                </p:oleObj>
              </mc:Choice>
              <mc:Fallback>
                <p:oleObj name="Equation" r:id="rId8" imgW="1091726" imgH="25389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95600" y="4800600"/>
                        <a:ext cx="2362200"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TextBox 1">
            <a:extLst>
              <a:ext uri="{FF2B5EF4-FFF2-40B4-BE49-F238E27FC236}">
                <a16:creationId xmlns:a16="http://schemas.microsoft.com/office/drawing/2014/main" id="{170A8DE5-1433-4741-B35F-AD43F12078D5}"/>
              </a:ext>
            </a:extLst>
          </p:cNvPr>
          <p:cNvSpPr txBox="1">
            <a:spLocks noRot="1" noChangeAspect="1" noMove="1" noResize="1" noEditPoints="1" noAdjustHandles="1" noChangeArrowheads="1" noChangeShapeType="1" noTextEdit="1"/>
          </p:cNvSpPr>
          <p:nvPr/>
        </p:nvSpPr>
        <p:spPr>
          <a:xfrm>
            <a:off x="304800" y="2880996"/>
            <a:ext cx="5717013" cy="847604"/>
          </a:xfrm>
          <a:prstGeom prst="rect">
            <a:avLst/>
          </a:prstGeom>
          <a:blipFill rotWithShape="1">
            <a:blip r:embed="rId10"/>
            <a:stretch>
              <a:fillRect r="-959"/>
            </a:stretch>
          </a:blipFill>
        </p:spPr>
        <p:txBody>
          <a:bodyPr/>
          <a:lstStyle/>
          <a:p>
            <a:pPr eaLnBrk="1" hangingPunct="1">
              <a:defRPr/>
            </a:pPr>
            <a:r>
              <a:rPr lang="en-US">
                <a:noFill/>
              </a:rPr>
              <a:t> </a:t>
            </a:r>
          </a:p>
        </p:txBody>
      </p:sp>
      <p:sp>
        <p:nvSpPr>
          <p:cNvPr id="8201" name="TextBox 8">
            <a:extLst>
              <a:ext uri="{FF2B5EF4-FFF2-40B4-BE49-F238E27FC236}">
                <a16:creationId xmlns:a16="http://schemas.microsoft.com/office/drawing/2014/main" id="{B0CB45FD-651B-4A10-8CC4-4F61C88B646C}"/>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6</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a:extLst>
              <a:ext uri="{FF2B5EF4-FFF2-40B4-BE49-F238E27FC236}">
                <a16:creationId xmlns:a16="http://schemas.microsoft.com/office/drawing/2014/main" id="{339DA000-E602-46B8-ACEE-849636BF59D3}"/>
              </a:ext>
            </a:extLst>
          </p:cNvPr>
          <p:cNvSpPr txBox="1">
            <a:spLocks noChangeArrowheads="1"/>
          </p:cNvSpPr>
          <p:nvPr/>
        </p:nvSpPr>
        <p:spPr bwMode="auto">
          <a:xfrm>
            <a:off x="304800" y="457200"/>
            <a:ext cx="6858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cs typeface="Times New Roman" panose="02020603050405020304" pitchFamily="18" charset="0"/>
              </a:rPr>
              <a:t>6</a:t>
            </a:r>
            <a:r>
              <a:rPr lang="en-GB" altLang="ro-RO" sz="3200">
                <a:latin typeface="TimesNewRoman" charset="0"/>
              </a:rPr>
              <a:t>. </a:t>
            </a:r>
            <a:r>
              <a:rPr lang="en-GB" altLang="ro-RO" sz="3200" b="1">
                <a:latin typeface="Times New Roman" panose="02020603050405020304" pitchFamily="18" charset="0"/>
              </a:rPr>
              <a:t>Reflectarea </a:t>
            </a:r>
            <a:r>
              <a:rPr lang="ro-RO" altLang="ro-RO" sz="3200" b="1">
                <a:latin typeface="Times New Roman" panose="02020603050405020304" pitchFamily="18" charset="0"/>
              </a:rPr>
              <a:t>î</a:t>
            </a:r>
            <a:r>
              <a:rPr lang="en-GB" altLang="ro-RO" sz="3200" b="1">
                <a:latin typeface="Times New Roman" panose="02020603050405020304" pitchFamily="18" charset="0"/>
              </a:rPr>
              <a:t>n timp a semnalului</a:t>
            </a:r>
            <a:endParaRPr lang="en-GB" altLang="ro-RO" sz="3200">
              <a:latin typeface="Times New Roman" panose="02020603050405020304" pitchFamily="18" charset="0"/>
            </a:endParaRPr>
          </a:p>
        </p:txBody>
      </p:sp>
      <p:graphicFrame>
        <p:nvGraphicFramePr>
          <p:cNvPr id="9219" name="Object 5">
            <a:extLst>
              <a:ext uri="{FF2B5EF4-FFF2-40B4-BE49-F238E27FC236}">
                <a16:creationId xmlns:a16="http://schemas.microsoft.com/office/drawing/2014/main" id="{043C4E12-8F94-4C31-920B-1A60A61D2352}"/>
              </a:ext>
            </a:extLst>
          </p:cNvPr>
          <p:cNvGraphicFramePr>
            <a:graphicFrameLocks noChangeAspect="1"/>
          </p:cNvGraphicFramePr>
          <p:nvPr/>
        </p:nvGraphicFramePr>
        <p:xfrm>
          <a:off x="3048000" y="1295400"/>
          <a:ext cx="2590800" cy="561975"/>
        </p:xfrm>
        <a:graphic>
          <a:graphicData uri="http://schemas.openxmlformats.org/presentationml/2006/ole">
            <mc:AlternateContent xmlns:mc="http://schemas.openxmlformats.org/markup-compatibility/2006">
              <mc:Choice xmlns:v="urn:schemas-microsoft-com:vml" Requires="v">
                <p:oleObj spid="_x0000_s9225" name="Equation" r:id="rId4" imgW="1054100" imgH="228600" progId="Equation.DSMT4">
                  <p:embed/>
                </p:oleObj>
              </mc:Choice>
              <mc:Fallback>
                <p:oleObj name="Equation" r:id="rId4" imgW="1054100" imgH="228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0" y="1295400"/>
                        <a:ext cx="259080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0" name="Text Box 6">
            <a:extLst>
              <a:ext uri="{FF2B5EF4-FFF2-40B4-BE49-F238E27FC236}">
                <a16:creationId xmlns:a16="http://schemas.microsoft.com/office/drawing/2014/main" id="{454099F8-6EBE-4CAB-AD9A-C3AE1EE66AD2}"/>
              </a:ext>
            </a:extLst>
          </p:cNvPr>
          <p:cNvSpPr txBox="1">
            <a:spLocks noChangeArrowheads="1"/>
          </p:cNvSpPr>
          <p:nvPr/>
        </p:nvSpPr>
        <p:spPr bwMode="auto">
          <a:xfrm>
            <a:off x="381000" y="2286000"/>
            <a:ext cx="8229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rPr>
              <a:t>7. </a:t>
            </a:r>
            <a:r>
              <a:rPr lang="en-GB" altLang="ro-RO" sz="3200" b="1">
                <a:latin typeface="Times New Roman" panose="02020603050405020304" pitchFamily="18" charset="0"/>
              </a:rPr>
              <a:t>Diferen</a:t>
            </a:r>
            <a:r>
              <a:rPr lang="ro-RO" altLang="ro-RO" sz="3200" b="1">
                <a:latin typeface="Times New Roman" panose="02020603050405020304" pitchFamily="18" charset="0"/>
              </a:rPr>
              <a:t>ţ</a:t>
            </a:r>
            <a:r>
              <a:rPr lang="en-GB" altLang="ro-RO" sz="3200" b="1">
                <a:latin typeface="Times New Roman" panose="02020603050405020304" pitchFamily="18" charset="0"/>
              </a:rPr>
              <a:t>ierea numeric</a:t>
            </a:r>
            <a:r>
              <a:rPr lang="ro-RO" altLang="ro-RO" sz="3200" b="1">
                <a:latin typeface="Times New Roman" panose="02020603050405020304" pitchFamily="18" charset="0"/>
              </a:rPr>
              <a:t>ă</a:t>
            </a:r>
            <a:r>
              <a:rPr lang="en-GB" altLang="ro-RO" sz="3200">
                <a:latin typeface="Times New Roman" panose="02020603050405020304" pitchFamily="18" charset="0"/>
              </a:rPr>
              <a:t> </a:t>
            </a:r>
            <a:r>
              <a:rPr lang="en-GB" altLang="ro-RO" sz="3200" b="1">
                <a:latin typeface="Times New Roman" panose="02020603050405020304" pitchFamily="18" charset="0"/>
              </a:rPr>
              <a:t>a semnalului discret</a:t>
            </a:r>
            <a:endParaRPr lang="en-GB" altLang="ro-RO" sz="3200">
              <a:latin typeface="Times New Roman" panose="02020603050405020304" pitchFamily="18" charset="0"/>
            </a:endParaRPr>
          </a:p>
        </p:txBody>
      </p:sp>
      <p:graphicFrame>
        <p:nvGraphicFramePr>
          <p:cNvPr id="9221" name="Object 7">
            <a:extLst>
              <a:ext uri="{FF2B5EF4-FFF2-40B4-BE49-F238E27FC236}">
                <a16:creationId xmlns:a16="http://schemas.microsoft.com/office/drawing/2014/main" id="{80DA72DD-006C-4ADC-BB86-81B541361F37}"/>
              </a:ext>
            </a:extLst>
          </p:cNvPr>
          <p:cNvGraphicFramePr>
            <a:graphicFrameLocks noChangeAspect="1"/>
          </p:cNvGraphicFramePr>
          <p:nvPr/>
        </p:nvGraphicFramePr>
        <p:xfrm>
          <a:off x="2362200" y="2971800"/>
          <a:ext cx="4876800" cy="739775"/>
        </p:xfrm>
        <a:graphic>
          <a:graphicData uri="http://schemas.openxmlformats.org/presentationml/2006/ole">
            <mc:AlternateContent xmlns:mc="http://schemas.openxmlformats.org/markup-compatibility/2006">
              <mc:Choice xmlns:v="urn:schemas-microsoft-com:vml" Requires="v">
                <p:oleObj spid="_x0000_s9226" name="Equation" r:id="rId6" imgW="2005729" imgH="304668" progId="Equation.DSMT4">
                  <p:embed/>
                </p:oleObj>
              </mc:Choice>
              <mc:Fallback>
                <p:oleObj name="Equation" r:id="rId6" imgW="2005729" imgH="304668"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2971800"/>
                        <a:ext cx="48768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2" name="Text Box 8">
            <a:extLst>
              <a:ext uri="{FF2B5EF4-FFF2-40B4-BE49-F238E27FC236}">
                <a16:creationId xmlns:a16="http://schemas.microsoft.com/office/drawing/2014/main" id="{7F938AFB-9D31-4BE6-8129-1AAD089B73FE}"/>
              </a:ext>
            </a:extLst>
          </p:cNvPr>
          <p:cNvSpPr txBox="1">
            <a:spLocks noChangeArrowheads="1"/>
          </p:cNvSpPr>
          <p:nvPr/>
        </p:nvSpPr>
        <p:spPr bwMode="auto">
          <a:xfrm>
            <a:off x="457200" y="4191000"/>
            <a:ext cx="8458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b="1">
                <a:latin typeface="Times New Roman" panose="02020603050405020304" pitchFamily="18" charset="0"/>
              </a:rPr>
              <a:t>8. Convolu</a:t>
            </a:r>
            <a:r>
              <a:rPr lang="ro-RO" altLang="ro-RO" sz="3200" b="1">
                <a:latin typeface="Times New Roman" panose="02020603050405020304" pitchFamily="18" charset="0"/>
              </a:rPr>
              <a:t>ţ</a:t>
            </a:r>
            <a:r>
              <a:rPr lang="en-GB" altLang="ro-RO" sz="3200" b="1">
                <a:latin typeface="Times New Roman" panose="02020603050405020304" pitchFamily="18" charset="0"/>
              </a:rPr>
              <a:t>ia semnalelor</a:t>
            </a:r>
          </a:p>
        </p:txBody>
      </p:sp>
      <p:graphicFrame>
        <p:nvGraphicFramePr>
          <p:cNvPr id="9223" name="Object 9">
            <a:extLst>
              <a:ext uri="{FF2B5EF4-FFF2-40B4-BE49-F238E27FC236}">
                <a16:creationId xmlns:a16="http://schemas.microsoft.com/office/drawing/2014/main" id="{D8E83F65-DE23-4682-92C8-E3CEF39539FC}"/>
              </a:ext>
            </a:extLst>
          </p:cNvPr>
          <p:cNvGraphicFramePr>
            <a:graphicFrameLocks noChangeAspect="1"/>
          </p:cNvGraphicFramePr>
          <p:nvPr/>
        </p:nvGraphicFramePr>
        <p:xfrm>
          <a:off x="2743200" y="5181600"/>
          <a:ext cx="3886200" cy="558800"/>
        </p:xfrm>
        <a:graphic>
          <a:graphicData uri="http://schemas.openxmlformats.org/presentationml/2006/ole">
            <mc:AlternateContent xmlns:mc="http://schemas.openxmlformats.org/markup-compatibility/2006">
              <mc:Choice xmlns:v="urn:schemas-microsoft-com:vml" Requires="v">
                <p:oleObj spid="_x0000_s9227" name="Equation" r:id="rId8" imgW="1587500" imgH="228600" progId="Equation.DSMT4">
                  <p:embed/>
                </p:oleObj>
              </mc:Choice>
              <mc:Fallback>
                <p:oleObj name="Equation" r:id="rId8" imgW="1587500" imgH="2286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43200" y="5181600"/>
                        <a:ext cx="3886200"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4" name="TextBox 7">
            <a:extLst>
              <a:ext uri="{FF2B5EF4-FFF2-40B4-BE49-F238E27FC236}">
                <a16:creationId xmlns:a16="http://schemas.microsoft.com/office/drawing/2014/main" id="{C008BD74-9E8B-48D8-824C-BD7A1C7D6607}"/>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7</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 Box 4">
            <a:extLst>
              <a:ext uri="{FF2B5EF4-FFF2-40B4-BE49-F238E27FC236}">
                <a16:creationId xmlns:a16="http://schemas.microsoft.com/office/drawing/2014/main" id="{0A920098-9226-4DC0-AE43-27FA582E24EE}"/>
              </a:ext>
            </a:extLst>
          </p:cNvPr>
          <p:cNvSpPr txBox="1">
            <a:spLocks noChangeArrowheads="1"/>
          </p:cNvSpPr>
          <p:nvPr/>
        </p:nvSpPr>
        <p:spPr bwMode="auto">
          <a:xfrm>
            <a:off x="609600" y="762000"/>
            <a:ext cx="7924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rPr>
              <a:t>9. </a:t>
            </a:r>
            <a:r>
              <a:rPr lang="ro-RO" altLang="ro-RO" sz="3200" b="1">
                <a:latin typeface="Times New Roman" panose="02020603050405020304" pitchFamily="18" charset="0"/>
              </a:rPr>
              <a:t>Î</a:t>
            </a:r>
            <a:r>
              <a:rPr lang="en-GB" altLang="ro-RO" sz="3200" b="1">
                <a:latin typeface="Times New Roman" panose="02020603050405020304" pitchFamily="18" charset="0"/>
              </a:rPr>
              <a:t>nsumarea </a:t>
            </a:r>
            <a:r>
              <a:rPr lang="ro-RO" altLang="ro-RO" sz="3200" b="1">
                <a:latin typeface="Times New Roman" panose="02020603050405020304" pitchFamily="18" charset="0"/>
              </a:rPr>
              <a:t>î</a:t>
            </a:r>
            <a:r>
              <a:rPr lang="en-GB" altLang="ro-RO" sz="3200" b="1">
                <a:latin typeface="Times New Roman" panose="02020603050405020304" pitchFamily="18" charset="0"/>
              </a:rPr>
              <a:t>n domeniul timpului</a:t>
            </a:r>
            <a:endParaRPr lang="en-GB" altLang="ro-RO" sz="3200">
              <a:latin typeface="Times New Roman" panose="02020603050405020304" pitchFamily="18" charset="0"/>
            </a:endParaRPr>
          </a:p>
        </p:txBody>
      </p:sp>
      <p:graphicFrame>
        <p:nvGraphicFramePr>
          <p:cNvPr id="10243" name="Object 5">
            <a:extLst>
              <a:ext uri="{FF2B5EF4-FFF2-40B4-BE49-F238E27FC236}">
                <a16:creationId xmlns:a16="http://schemas.microsoft.com/office/drawing/2014/main" id="{CF91E967-FB22-4D2F-9A80-76D086ACB011}"/>
              </a:ext>
            </a:extLst>
          </p:cNvPr>
          <p:cNvGraphicFramePr>
            <a:graphicFrameLocks noChangeAspect="1"/>
          </p:cNvGraphicFramePr>
          <p:nvPr/>
        </p:nvGraphicFramePr>
        <p:xfrm>
          <a:off x="1600200" y="2438400"/>
          <a:ext cx="4343400" cy="868363"/>
        </p:xfrm>
        <a:graphic>
          <a:graphicData uri="http://schemas.openxmlformats.org/presentationml/2006/ole">
            <mc:AlternateContent xmlns:mc="http://schemas.openxmlformats.org/markup-compatibility/2006">
              <mc:Choice xmlns:v="urn:schemas-microsoft-com:vml" Requires="v">
                <p:oleObj spid="_x0000_s10250" name="Equation" r:id="rId4" imgW="2222500" imgH="444500" progId="Equation.DSMT4">
                  <p:embed/>
                </p:oleObj>
              </mc:Choice>
              <mc:Fallback>
                <p:oleObj name="Equation" r:id="rId4" imgW="2222500" imgH="4445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00200" y="2438400"/>
                        <a:ext cx="4343400" cy="868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4" name="Text Box 6">
            <a:extLst>
              <a:ext uri="{FF2B5EF4-FFF2-40B4-BE49-F238E27FC236}">
                <a16:creationId xmlns:a16="http://schemas.microsoft.com/office/drawing/2014/main" id="{7460429D-07C9-4D66-ABCA-84BD5F0A8689}"/>
              </a:ext>
            </a:extLst>
          </p:cNvPr>
          <p:cNvSpPr txBox="1">
            <a:spLocks noChangeArrowheads="1"/>
          </p:cNvSpPr>
          <p:nvPr/>
        </p:nvSpPr>
        <p:spPr bwMode="auto">
          <a:xfrm>
            <a:off x="609600" y="3505200"/>
            <a:ext cx="6629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rPr>
              <a:t>10. </a:t>
            </a:r>
            <a:r>
              <a:rPr lang="en-GB" altLang="ro-RO" sz="3200" b="1">
                <a:latin typeface="Times New Roman" panose="02020603050405020304" pitchFamily="18" charset="0"/>
              </a:rPr>
              <a:t>Produsul semnalelor discrete</a:t>
            </a:r>
            <a:endParaRPr lang="en-GB" altLang="ro-RO" sz="3200">
              <a:latin typeface="Times New Roman" panose="02020603050405020304" pitchFamily="18" charset="0"/>
            </a:endParaRPr>
          </a:p>
        </p:txBody>
      </p:sp>
      <p:graphicFrame>
        <p:nvGraphicFramePr>
          <p:cNvPr id="10245" name="Object 7">
            <a:extLst>
              <a:ext uri="{FF2B5EF4-FFF2-40B4-BE49-F238E27FC236}">
                <a16:creationId xmlns:a16="http://schemas.microsoft.com/office/drawing/2014/main" id="{656C4E8C-0D8B-48EA-B986-EC3770E2CAC9}"/>
              </a:ext>
            </a:extLst>
          </p:cNvPr>
          <p:cNvGraphicFramePr>
            <a:graphicFrameLocks noChangeAspect="1"/>
          </p:cNvGraphicFramePr>
          <p:nvPr/>
        </p:nvGraphicFramePr>
        <p:xfrm>
          <a:off x="457200" y="4130675"/>
          <a:ext cx="8229600" cy="1036638"/>
        </p:xfrm>
        <a:graphic>
          <a:graphicData uri="http://schemas.openxmlformats.org/presentationml/2006/ole">
            <mc:AlternateContent xmlns:mc="http://schemas.openxmlformats.org/markup-compatibility/2006">
              <mc:Choice xmlns:v="urn:schemas-microsoft-com:vml" Requires="v">
                <p:oleObj spid="_x0000_s10251" name="Equation" r:id="rId6" imgW="3530600" imgH="444500" progId="Equation.DSMT4">
                  <p:embed/>
                </p:oleObj>
              </mc:Choice>
              <mc:Fallback>
                <p:oleObj name="Equation" r:id="rId6" imgW="3530600" imgH="4445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7200" y="4130675"/>
                        <a:ext cx="8229600" cy="1036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46" name="Text Box 8">
            <a:extLst>
              <a:ext uri="{FF2B5EF4-FFF2-40B4-BE49-F238E27FC236}">
                <a16:creationId xmlns:a16="http://schemas.microsoft.com/office/drawing/2014/main" id="{57F54671-3F04-499F-B6B6-547B17633F9A}"/>
              </a:ext>
            </a:extLst>
          </p:cNvPr>
          <p:cNvSpPr txBox="1">
            <a:spLocks noChangeArrowheads="1"/>
          </p:cNvSpPr>
          <p:nvPr/>
        </p:nvSpPr>
        <p:spPr bwMode="auto">
          <a:xfrm>
            <a:off x="762000" y="5181600"/>
            <a:ext cx="7696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a:latin typeface="Times New Roman" panose="02020603050405020304" pitchFamily="18" charset="0"/>
              </a:rPr>
              <a:t>11. </a:t>
            </a:r>
            <a:r>
              <a:rPr lang="en-GB" altLang="ro-RO" sz="3200" b="1">
                <a:latin typeface="Times New Roman" panose="02020603050405020304" pitchFamily="18" charset="0"/>
              </a:rPr>
              <a:t>Derivarea </a:t>
            </a:r>
            <a:r>
              <a:rPr lang="ro-RO" altLang="ro-RO" sz="3200" b="1">
                <a:latin typeface="Times New Roman" panose="02020603050405020304" pitchFamily="18" charset="0"/>
              </a:rPr>
              <a:t>î</a:t>
            </a:r>
            <a:r>
              <a:rPr lang="en-GB" altLang="ro-RO" sz="3200" b="1">
                <a:latin typeface="Times New Roman" panose="02020603050405020304" pitchFamily="18" charset="0"/>
              </a:rPr>
              <a:t>n domeniul spectrului</a:t>
            </a:r>
            <a:endParaRPr lang="en-GB" altLang="ro-RO" sz="3200">
              <a:latin typeface="Times New Roman" panose="02020603050405020304" pitchFamily="18" charset="0"/>
            </a:endParaRPr>
          </a:p>
        </p:txBody>
      </p:sp>
      <p:graphicFrame>
        <p:nvGraphicFramePr>
          <p:cNvPr id="10247" name="Object 9">
            <a:extLst>
              <a:ext uri="{FF2B5EF4-FFF2-40B4-BE49-F238E27FC236}">
                <a16:creationId xmlns:a16="http://schemas.microsoft.com/office/drawing/2014/main" id="{76CCBE0A-F6E9-4D4F-B6B8-38A1035E7DB8}"/>
              </a:ext>
            </a:extLst>
          </p:cNvPr>
          <p:cNvGraphicFramePr>
            <a:graphicFrameLocks noChangeAspect="1"/>
          </p:cNvGraphicFramePr>
          <p:nvPr/>
        </p:nvGraphicFramePr>
        <p:xfrm>
          <a:off x="3276600" y="5791200"/>
          <a:ext cx="2667000" cy="938213"/>
        </p:xfrm>
        <a:graphic>
          <a:graphicData uri="http://schemas.openxmlformats.org/presentationml/2006/ole">
            <mc:AlternateContent xmlns:mc="http://schemas.openxmlformats.org/markup-compatibility/2006">
              <mc:Choice xmlns:v="urn:schemas-microsoft-com:vml" Requires="v">
                <p:oleObj spid="_x0000_s10252" name="Equation" r:id="rId8" imgW="1117115" imgH="393529" progId="Equation.DSMT4">
                  <p:embed/>
                </p:oleObj>
              </mc:Choice>
              <mc:Fallback>
                <p:oleObj name="Equation" r:id="rId8" imgW="1117115" imgH="393529"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76600" y="5791200"/>
                        <a:ext cx="2667000" cy="938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0248" name="Picture 11">
            <a:extLst>
              <a:ext uri="{FF2B5EF4-FFF2-40B4-BE49-F238E27FC236}">
                <a16:creationId xmlns:a16="http://schemas.microsoft.com/office/drawing/2014/main" id="{FB083920-FF4D-47AE-B216-E20B1028F31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8800" y="1317625"/>
            <a:ext cx="419100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49" name="TextBox 8">
            <a:extLst>
              <a:ext uri="{FF2B5EF4-FFF2-40B4-BE49-F238E27FC236}">
                <a16:creationId xmlns:a16="http://schemas.microsoft.com/office/drawing/2014/main" id="{9C71DD2F-D301-419C-8F49-DEF472417BDB}"/>
              </a:ext>
            </a:extLst>
          </p:cNvPr>
          <p:cNvSpPr txBox="1">
            <a:spLocks noChangeArrowheads="1"/>
          </p:cNvSpPr>
          <p:nvPr/>
        </p:nvSpPr>
        <p:spPr bwMode="auto">
          <a:xfrm>
            <a:off x="7924800" y="6248400"/>
            <a:ext cx="10175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8</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a:extLst>
              <a:ext uri="{FF2B5EF4-FFF2-40B4-BE49-F238E27FC236}">
                <a16:creationId xmlns:a16="http://schemas.microsoft.com/office/drawing/2014/main" id="{67EA3229-96C7-4F77-B406-364438207EBF}"/>
              </a:ext>
            </a:extLst>
          </p:cNvPr>
          <p:cNvSpPr txBox="1">
            <a:spLocks noChangeArrowheads="1"/>
          </p:cNvSpPr>
          <p:nvPr/>
        </p:nvSpPr>
        <p:spPr bwMode="auto">
          <a:xfrm>
            <a:off x="381000" y="381000"/>
            <a:ext cx="85344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b="1">
                <a:latin typeface="Times New Roman" panose="02020603050405020304" pitchFamily="18" charset="0"/>
              </a:rPr>
              <a:t>12. Propriet</a:t>
            </a:r>
            <a:r>
              <a:rPr lang="ro-RO" altLang="ro-RO" sz="3200" b="1">
                <a:latin typeface="Times New Roman" panose="02020603050405020304" pitchFamily="18" charset="0"/>
              </a:rPr>
              <a:t>ăţ</a:t>
            </a:r>
            <a:r>
              <a:rPr lang="en-GB" altLang="ro-RO" sz="3200" b="1">
                <a:latin typeface="Times New Roman" panose="02020603050405020304" pitchFamily="18" charset="0"/>
              </a:rPr>
              <a:t>i ale transformatelor semnalelor discrete reale</a:t>
            </a:r>
          </a:p>
        </p:txBody>
      </p:sp>
      <p:graphicFrame>
        <p:nvGraphicFramePr>
          <p:cNvPr id="11267" name="Object 5">
            <a:extLst>
              <a:ext uri="{FF2B5EF4-FFF2-40B4-BE49-F238E27FC236}">
                <a16:creationId xmlns:a16="http://schemas.microsoft.com/office/drawing/2014/main" id="{E49629CD-2462-4E81-9599-2206A7763B2C}"/>
              </a:ext>
            </a:extLst>
          </p:cNvPr>
          <p:cNvGraphicFramePr>
            <a:graphicFrameLocks noChangeAspect="1"/>
          </p:cNvGraphicFramePr>
          <p:nvPr/>
        </p:nvGraphicFramePr>
        <p:xfrm>
          <a:off x="977900" y="1447800"/>
          <a:ext cx="6884988" cy="2179638"/>
        </p:xfrm>
        <a:graphic>
          <a:graphicData uri="http://schemas.openxmlformats.org/presentationml/2006/ole">
            <mc:AlternateContent xmlns:mc="http://schemas.openxmlformats.org/markup-compatibility/2006">
              <mc:Choice xmlns:v="urn:schemas-microsoft-com:vml" Requires="v">
                <p:oleObj spid="_x0000_s11271" name="Equation" r:id="rId4" imgW="3251200" imgH="1028700" progId="Equation.DSMT4">
                  <p:embed/>
                </p:oleObj>
              </mc:Choice>
              <mc:Fallback>
                <p:oleObj name="Equation" r:id="rId4" imgW="3251200" imgH="10287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7900" y="1447800"/>
                        <a:ext cx="6884988" cy="217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68" name="Text Box 6">
            <a:extLst>
              <a:ext uri="{FF2B5EF4-FFF2-40B4-BE49-F238E27FC236}">
                <a16:creationId xmlns:a16="http://schemas.microsoft.com/office/drawing/2014/main" id="{883CEEE4-79E8-496A-83B1-DAE75323FB52}"/>
              </a:ext>
            </a:extLst>
          </p:cNvPr>
          <p:cNvSpPr txBox="1">
            <a:spLocks noChangeArrowheads="1"/>
          </p:cNvSpPr>
          <p:nvPr/>
        </p:nvSpPr>
        <p:spPr bwMode="auto">
          <a:xfrm>
            <a:off x="685800" y="3657600"/>
            <a:ext cx="75438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GB" altLang="ro-RO" sz="3200" b="1">
                <a:latin typeface="Times New Roman" panose="02020603050405020304" pitchFamily="18" charset="0"/>
              </a:rPr>
              <a:t>13. Rela</a:t>
            </a:r>
            <a:r>
              <a:rPr lang="ro-RO" altLang="ro-RO" sz="3200" b="1">
                <a:latin typeface="Times New Roman" panose="02020603050405020304" pitchFamily="18" charset="0"/>
              </a:rPr>
              <a:t>ţ</a:t>
            </a:r>
            <a:r>
              <a:rPr lang="en-GB" altLang="ro-RO" sz="3200" b="1">
                <a:latin typeface="Times New Roman" panose="02020603050405020304" pitchFamily="18" charset="0"/>
              </a:rPr>
              <a:t>ia lui Parseval</a:t>
            </a:r>
          </a:p>
        </p:txBody>
      </p:sp>
      <p:graphicFrame>
        <p:nvGraphicFramePr>
          <p:cNvPr id="11269" name="Object 7">
            <a:extLst>
              <a:ext uri="{FF2B5EF4-FFF2-40B4-BE49-F238E27FC236}">
                <a16:creationId xmlns:a16="http://schemas.microsoft.com/office/drawing/2014/main" id="{18AB25C1-7586-4036-8C9C-1BBE97797052}"/>
              </a:ext>
            </a:extLst>
          </p:cNvPr>
          <p:cNvGraphicFramePr>
            <a:graphicFrameLocks noChangeAspect="1"/>
          </p:cNvGraphicFramePr>
          <p:nvPr/>
        </p:nvGraphicFramePr>
        <p:xfrm>
          <a:off x="1789113" y="4233863"/>
          <a:ext cx="6708775" cy="2540000"/>
        </p:xfrm>
        <a:graphic>
          <a:graphicData uri="http://schemas.openxmlformats.org/presentationml/2006/ole">
            <mc:AlternateContent xmlns:mc="http://schemas.openxmlformats.org/markup-compatibility/2006">
              <mc:Choice xmlns:v="urn:schemas-microsoft-com:vml" Requires="v">
                <p:oleObj spid="_x0000_s11272" name="Equation" r:id="rId6" imgW="3187700" imgH="1206500" progId="Equation.DSMT4">
                  <p:embed/>
                </p:oleObj>
              </mc:Choice>
              <mc:Fallback>
                <p:oleObj name="Equation" r:id="rId6" imgW="3187700" imgH="12065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9113" y="4233863"/>
                        <a:ext cx="6708775" cy="2540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70" name="TextBox 5">
            <a:extLst>
              <a:ext uri="{FF2B5EF4-FFF2-40B4-BE49-F238E27FC236}">
                <a16:creationId xmlns:a16="http://schemas.microsoft.com/office/drawing/2014/main" id="{05EA8389-0680-4F8F-955C-971F3849B0B4}"/>
              </a:ext>
            </a:extLst>
          </p:cNvPr>
          <p:cNvSpPr txBox="1">
            <a:spLocks noChangeArrowheads="1"/>
          </p:cNvSpPr>
          <p:nvPr/>
        </p:nvSpPr>
        <p:spPr bwMode="auto">
          <a:xfrm>
            <a:off x="8610600" y="6256338"/>
            <a:ext cx="3048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9</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C0999878-576F-4EBF-8A6A-B0CD4ED744EA}"/>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400">
                <a:solidFill>
                  <a:schemeClr val="tx2"/>
                </a:solidFill>
                <a:latin typeface="Times New Roman" panose="02020603050405020304" pitchFamily="18" charset="0"/>
                <a:cs typeface="Times New Roman" panose="02020603050405020304" pitchFamily="18" charset="0"/>
              </a:rPr>
              <a:t>Densitatea spectral</a:t>
            </a:r>
            <a:r>
              <a:rPr lang="ro-RO" altLang="ro-RO" sz="4400">
                <a:solidFill>
                  <a:schemeClr val="tx2"/>
                </a:solidFill>
                <a:latin typeface="Times New Roman" panose="02020603050405020304" pitchFamily="18" charset="0"/>
                <a:cs typeface="Times New Roman" panose="02020603050405020304" pitchFamily="18" charset="0"/>
              </a:rPr>
              <a:t>ă</a:t>
            </a:r>
            <a:r>
              <a:rPr lang="en-US" altLang="ro-RO" sz="4400">
                <a:solidFill>
                  <a:schemeClr val="tx2"/>
                </a:solidFill>
                <a:latin typeface="Times New Roman" panose="02020603050405020304" pitchFamily="18" charset="0"/>
                <a:cs typeface="Times New Roman" panose="02020603050405020304" pitchFamily="18" charset="0"/>
              </a:rPr>
              <a:t> de energie</a:t>
            </a:r>
            <a:endParaRPr lang="en-GB" altLang="ro-RO" sz="4400">
              <a:solidFill>
                <a:schemeClr val="tx2"/>
              </a:solidFill>
              <a:latin typeface="Times New Roman" panose="02020603050405020304" pitchFamily="18" charset="0"/>
              <a:cs typeface="Times New Roman" panose="02020603050405020304" pitchFamily="18" charset="0"/>
            </a:endParaRPr>
          </a:p>
        </p:txBody>
      </p:sp>
      <p:graphicFrame>
        <p:nvGraphicFramePr>
          <p:cNvPr id="12291" name="Object 5">
            <a:extLst>
              <a:ext uri="{FF2B5EF4-FFF2-40B4-BE49-F238E27FC236}">
                <a16:creationId xmlns:a16="http://schemas.microsoft.com/office/drawing/2014/main" id="{5B9DF9C2-8C2E-4D2C-AA5B-DF10BB8DFBF4}"/>
              </a:ext>
            </a:extLst>
          </p:cNvPr>
          <p:cNvGraphicFramePr>
            <a:graphicFrameLocks noChangeAspect="1"/>
          </p:cNvGraphicFramePr>
          <p:nvPr/>
        </p:nvGraphicFramePr>
        <p:xfrm>
          <a:off x="3200400" y="2589213"/>
          <a:ext cx="2819400" cy="1635125"/>
        </p:xfrm>
        <a:graphic>
          <a:graphicData uri="http://schemas.openxmlformats.org/presentationml/2006/ole">
            <mc:AlternateContent xmlns:mc="http://schemas.openxmlformats.org/markup-compatibility/2006">
              <mc:Choice xmlns:v="urn:schemas-microsoft-com:vml" Requires="v">
                <p:oleObj spid="_x0000_s12293" name="Equation" r:id="rId4" imgW="1270000" imgH="736600" progId="Equation.DSMT4">
                  <p:embed/>
                </p:oleObj>
              </mc:Choice>
              <mc:Fallback>
                <p:oleObj name="Equation" r:id="rId4" imgW="1270000" imgH="73660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589213"/>
                        <a:ext cx="2819400" cy="1635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292" name="TextBox 3">
            <a:extLst>
              <a:ext uri="{FF2B5EF4-FFF2-40B4-BE49-F238E27FC236}">
                <a16:creationId xmlns:a16="http://schemas.microsoft.com/office/drawing/2014/main" id="{EEE759E0-32D1-4266-BCBC-C4162D54263C}"/>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10</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FC85F14E-121F-4A60-9E23-5116E9A7E854}"/>
              </a:ext>
            </a:extLst>
          </p:cNvPr>
          <p:cNvSpPr>
            <a:spLocks noChangeArrowheads="1"/>
          </p:cNvSpPr>
          <p:nvPr/>
        </p:nvSpPr>
        <p:spPr bwMode="auto">
          <a:xfrm>
            <a:off x="762000" y="6858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chemeClr val="tx2"/>
                </a:solidFill>
                <a:latin typeface="Times New Roman" panose="02020603050405020304" pitchFamily="18" charset="0"/>
                <a:cs typeface="Times New Roman" panose="02020603050405020304" pitchFamily="18" charset="0"/>
              </a:rPr>
              <a:t>Transformarea Fourier </a:t>
            </a:r>
            <a:r>
              <a:rPr lang="ro-RO" altLang="ro-RO" sz="4000">
                <a:solidFill>
                  <a:schemeClr val="tx2"/>
                </a:solidFill>
                <a:latin typeface="Times New Roman" panose="02020603050405020304" pitchFamily="18" charset="0"/>
                <a:cs typeface="Times New Roman" panose="02020603050405020304" pitchFamily="18" charset="0"/>
              </a:rPr>
              <a:t>î</a:t>
            </a:r>
            <a:r>
              <a:rPr lang="en-GB" altLang="ro-RO" sz="4000">
                <a:solidFill>
                  <a:schemeClr val="tx2"/>
                </a:solidFill>
                <a:latin typeface="Times New Roman" panose="02020603050405020304" pitchFamily="18" charset="0"/>
                <a:cs typeface="Times New Roman" panose="02020603050405020304" pitchFamily="18" charset="0"/>
              </a:rPr>
              <a:t>n timp discret pentru semnale discrete </a:t>
            </a:r>
            <a:r>
              <a:rPr lang="ro-RO" altLang="ro-RO" sz="4000">
                <a:solidFill>
                  <a:schemeClr val="tx2"/>
                </a:solidFill>
                <a:latin typeface="Times New Roman" panose="02020603050405020304" pitchFamily="18" charset="0"/>
                <a:cs typeface="Times New Roman" panose="02020603050405020304" pitchFamily="18" charset="0"/>
              </a:rPr>
              <a:t>ş</a:t>
            </a:r>
            <a:r>
              <a:rPr lang="en-GB" altLang="ro-RO" sz="4000">
                <a:solidFill>
                  <a:schemeClr val="tx2"/>
                </a:solidFill>
                <a:latin typeface="Times New Roman" panose="02020603050405020304" pitchFamily="18" charset="0"/>
                <a:cs typeface="Times New Roman" panose="02020603050405020304" pitchFamily="18" charset="0"/>
              </a:rPr>
              <a:t>i periodice</a:t>
            </a:r>
            <a:br>
              <a:rPr lang="en-GB" altLang="ro-RO" sz="4400">
                <a:solidFill>
                  <a:schemeClr val="tx2"/>
                </a:solidFill>
              </a:rPr>
            </a:br>
            <a:endParaRPr lang="en-GB" altLang="ro-RO" sz="4400">
              <a:solidFill>
                <a:schemeClr val="tx2"/>
              </a:solidFill>
            </a:endParaRPr>
          </a:p>
        </p:txBody>
      </p:sp>
      <p:graphicFrame>
        <p:nvGraphicFramePr>
          <p:cNvPr id="13315" name="Object 6">
            <a:extLst>
              <a:ext uri="{FF2B5EF4-FFF2-40B4-BE49-F238E27FC236}">
                <a16:creationId xmlns:a16="http://schemas.microsoft.com/office/drawing/2014/main" id="{DEEB3226-827F-497B-B929-7AC43A847A40}"/>
              </a:ext>
            </a:extLst>
          </p:cNvPr>
          <p:cNvGraphicFramePr>
            <a:graphicFrameLocks noChangeAspect="1"/>
          </p:cNvGraphicFramePr>
          <p:nvPr/>
        </p:nvGraphicFramePr>
        <p:xfrm>
          <a:off x="5638800" y="5029200"/>
          <a:ext cx="3238500" cy="1303338"/>
        </p:xfrm>
        <a:graphic>
          <a:graphicData uri="http://schemas.openxmlformats.org/presentationml/2006/ole">
            <mc:AlternateContent xmlns:mc="http://schemas.openxmlformats.org/markup-compatibility/2006">
              <mc:Choice xmlns:v="urn:schemas-microsoft-com:vml" Requires="v">
                <p:oleObj spid="_x0000_s13322" name="Bitmap Image" r:id="rId4" imgW="2933333" imgH="1181265" progId="PBrush">
                  <p:embed/>
                </p:oleObj>
              </mc:Choice>
              <mc:Fallback>
                <p:oleObj name="Bitmap Image" r:id="rId4" imgW="2933333" imgH="1181265" progId="PBrush">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8800" y="5029200"/>
                        <a:ext cx="3238500" cy="130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3316" name="Picture 11">
            <a:extLst>
              <a:ext uri="{FF2B5EF4-FFF2-40B4-BE49-F238E27FC236}">
                <a16:creationId xmlns:a16="http://schemas.microsoft.com/office/drawing/2014/main" id="{2E09043B-0E0F-4360-ABEB-71F2CFDB50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2057400"/>
            <a:ext cx="4895850" cy="384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7" name="Picture 7">
            <a:extLst>
              <a:ext uri="{FF2B5EF4-FFF2-40B4-BE49-F238E27FC236}">
                <a16:creationId xmlns:a16="http://schemas.microsoft.com/office/drawing/2014/main" id="{4BE7B697-7020-4816-A2D0-49EBF24B7B2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7000" y="2057400"/>
            <a:ext cx="1981200"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8" name="Picture 8">
            <a:extLst>
              <a:ext uri="{FF2B5EF4-FFF2-40B4-BE49-F238E27FC236}">
                <a16:creationId xmlns:a16="http://schemas.microsoft.com/office/drawing/2014/main" id="{178A3C5E-A4A9-4B3F-BA00-C9C44C0583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8200" y="2009775"/>
            <a:ext cx="259080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319" name="Picture 13">
            <a:extLst>
              <a:ext uri="{FF2B5EF4-FFF2-40B4-BE49-F238E27FC236}">
                <a16:creationId xmlns:a16="http://schemas.microsoft.com/office/drawing/2014/main" id="{D144E926-E586-42B0-AE05-06C218E0CE4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205663" y="1987550"/>
            <a:ext cx="1809750"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320" name="TextBox 1">
            <a:extLst>
              <a:ext uri="{FF2B5EF4-FFF2-40B4-BE49-F238E27FC236}">
                <a16:creationId xmlns:a16="http://schemas.microsoft.com/office/drawing/2014/main" id="{5BC1F187-E909-4874-9438-20D867963F3B}"/>
              </a:ext>
            </a:extLst>
          </p:cNvPr>
          <p:cNvSpPr txBox="1">
            <a:spLocks noChangeArrowheads="1"/>
          </p:cNvSpPr>
          <p:nvPr/>
        </p:nvSpPr>
        <p:spPr bwMode="auto">
          <a:xfrm>
            <a:off x="6172200" y="2895600"/>
            <a:ext cx="27432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a:solidFill>
                  <a:srgbClr val="FF0000"/>
                </a:solidFill>
                <a:latin typeface="Times New Roman" panose="02020603050405020304" pitchFamily="18" charset="0"/>
                <a:cs typeface="Times New Roman" panose="02020603050405020304" pitchFamily="18" charset="0"/>
              </a:rPr>
              <a:t>Tabelul 5.1. Propriet</a:t>
            </a:r>
            <a:r>
              <a:rPr lang="ro-RO" altLang="ro-RO">
                <a:solidFill>
                  <a:srgbClr val="FF0000"/>
                </a:solidFill>
                <a:latin typeface="Times New Roman" panose="02020603050405020304" pitchFamily="18" charset="0"/>
                <a:cs typeface="Times New Roman" panose="02020603050405020304" pitchFamily="18" charset="0"/>
              </a:rPr>
              <a:t>ăţile seriei Fourier în timp discret.</a:t>
            </a:r>
            <a:endParaRPr lang="en-US" altLang="ro-RO">
              <a:solidFill>
                <a:srgbClr val="FF0000"/>
              </a:solidFill>
              <a:latin typeface="Times New Roman" panose="02020603050405020304" pitchFamily="18" charset="0"/>
              <a:cs typeface="Times New Roman" panose="02020603050405020304" pitchFamily="18" charset="0"/>
            </a:endParaRPr>
          </a:p>
        </p:txBody>
      </p:sp>
      <p:sp>
        <p:nvSpPr>
          <p:cNvPr id="13321" name="TextBox 8">
            <a:extLst>
              <a:ext uri="{FF2B5EF4-FFF2-40B4-BE49-F238E27FC236}">
                <a16:creationId xmlns:a16="http://schemas.microsoft.com/office/drawing/2014/main" id="{FA62014B-4138-419E-B5D0-989BAA80E5F1}"/>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11</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4">
            <a:extLst>
              <a:ext uri="{FF2B5EF4-FFF2-40B4-BE49-F238E27FC236}">
                <a16:creationId xmlns:a16="http://schemas.microsoft.com/office/drawing/2014/main" id="{07C82C6E-3D85-44C5-B0CC-D0B7D21652D9}"/>
              </a:ext>
            </a:extLst>
          </p:cNvPr>
          <p:cNvGraphicFramePr>
            <a:graphicFrameLocks noChangeAspect="1"/>
          </p:cNvGraphicFramePr>
          <p:nvPr/>
        </p:nvGraphicFramePr>
        <p:xfrm>
          <a:off x="228600" y="228600"/>
          <a:ext cx="8915400" cy="6235700"/>
        </p:xfrm>
        <a:graphic>
          <a:graphicData uri="http://schemas.openxmlformats.org/presentationml/2006/ole">
            <mc:AlternateContent xmlns:mc="http://schemas.openxmlformats.org/markup-compatibility/2006">
              <mc:Choice xmlns:v="urn:schemas-microsoft-com:vml" Requires="v">
                <p:oleObj spid="_x0000_s14340" name="Equation" r:id="rId4" imgW="4559300" imgH="3187700" progId="">
                  <p:embed/>
                </p:oleObj>
              </mc:Choice>
              <mc:Fallback>
                <p:oleObj name="Equation" r:id="rId4" imgW="4559300" imgH="318770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228600"/>
                        <a:ext cx="8915400" cy="623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339" name="TextBox 2">
            <a:extLst>
              <a:ext uri="{FF2B5EF4-FFF2-40B4-BE49-F238E27FC236}">
                <a16:creationId xmlns:a16="http://schemas.microsoft.com/office/drawing/2014/main" id="{7A29113D-A1C8-401D-AF7F-E5CF76A5B3E8}"/>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12</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62" name="Group 4">
            <a:extLst>
              <a:ext uri="{FF2B5EF4-FFF2-40B4-BE49-F238E27FC236}">
                <a16:creationId xmlns:a16="http://schemas.microsoft.com/office/drawing/2014/main" id="{BA4E3D88-3A17-4628-B5BA-759ECC033113}"/>
              </a:ext>
            </a:extLst>
          </p:cNvPr>
          <p:cNvGrpSpPr>
            <a:grpSpLocks/>
          </p:cNvGrpSpPr>
          <p:nvPr/>
        </p:nvGrpSpPr>
        <p:grpSpPr bwMode="auto">
          <a:xfrm>
            <a:off x="1346200" y="1500188"/>
            <a:ext cx="7142163" cy="1089025"/>
            <a:chOff x="512" y="1680"/>
            <a:chExt cx="3632" cy="507"/>
          </a:xfrm>
        </p:grpSpPr>
        <p:grpSp>
          <p:nvGrpSpPr>
            <p:cNvPr id="15464" name="Group 5">
              <a:extLst>
                <a:ext uri="{FF2B5EF4-FFF2-40B4-BE49-F238E27FC236}">
                  <a16:creationId xmlns:a16="http://schemas.microsoft.com/office/drawing/2014/main" id="{A37C4CA1-5C3E-4390-9D05-E2CD303EAFB2}"/>
                </a:ext>
              </a:extLst>
            </p:cNvPr>
            <p:cNvGrpSpPr>
              <a:grpSpLocks/>
            </p:cNvGrpSpPr>
            <p:nvPr/>
          </p:nvGrpSpPr>
          <p:grpSpPr bwMode="auto">
            <a:xfrm>
              <a:off x="512" y="1680"/>
              <a:ext cx="3612" cy="336"/>
              <a:chOff x="512" y="1680"/>
              <a:chExt cx="3612" cy="336"/>
            </a:xfrm>
          </p:grpSpPr>
          <p:grpSp>
            <p:nvGrpSpPr>
              <p:cNvPr id="15473" name="Group 6">
                <a:extLst>
                  <a:ext uri="{FF2B5EF4-FFF2-40B4-BE49-F238E27FC236}">
                    <a16:creationId xmlns:a16="http://schemas.microsoft.com/office/drawing/2014/main" id="{76CE0F3E-4CAF-4D8E-936F-179333506C7D}"/>
                  </a:ext>
                </a:extLst>
              </p:cNvPr>
              <p:cNvGrpSpPr>
                <a:grpSpLocks/>
              </p:cNvGrpSpPr>
              <p:nvPr/>
            </p:nvGrpSpPr>
            <p:grpSpPr bwMode="auto">
              <a:xfrm>
                <a:off x="524" y="1920"/>
                <a:ext cx="3600" cy="96"/>
                <a:chOff x="528" y="1920"/>
                <a:chExt cx="3600" cy="96"/>
              </a:xfrm>
            </p:grpSpPr>
            <p:grpSp>
              <p:nvGrpSpPr>
                <p:cNvPr id="15511" name="Group 7">
                  <a:extLst>
                    <a:ext uri="{FF2B5EF4-FFF2-40B4-BE49-F238E27FC236}">
                      <a16:creationId xmlns:a16="http://schemas.microsoft.com/office/drawing/2014/main" id="{2BB47618-6B3F-4E4D-AF26-DB7840BD1BE6}"/>
                    </a:ext>
                  </a:extLst>
                </p:cNvPr>
                <p:cNvGrpSpPr>
                  <a:grpSpLocks/>
                </p:cNvGrpSpPr>
                <p:nvPr/>
              </p:nvGrpSpPr>
              <p:grpSpPr bwMode="auto">
                <a:xfrm>
                  <a:off x="528" y="1920"/>
                  <a:ext cx="1152" cy="96"/>
                  <a:chOff x="528" y="1920"/>
                  <a:chExt cx="1152" cy="96"/>
                </a:xfrm>
              </p:grpSpPr>
              <p:grpSp>
                <p:nvGrpSpPr>
                  <p:cNvPr id="15591" name="Group 8">
                    <a:extLst>
                      <a:ext uri="{FF2B5EF4-FFF2-40B4-BE49-F238E27FC236}">
                        <a16:creationId xmlns:a16="http://schemas.microsoft.com/office/drawing/2014/main" id="{69F59697-4795-45D6-AC92-6243E0D9B69D}"/>
                      </a:ext>
                    </a:extLst>
                  </p:cNvPr>
                  <p:cNvGrpSpPr>
                    <a:grpSpLocks/>
                  </p:cNvGrpSpPr>
                  <p:nvPr/>
                </p:nvGrpSpPr>
                <p:grpSpPr bwMode="auto">
                  <a:xfrm>
                    <a:off x="528" y="1920"/>
                    <a:ext cx="576" cy="96"/>
                    <a:chOff x="528" y="1920"/>
                    <a:chExt cx="576" cy="96"/>
                  </a:xfrm>
                </p:grpSpPr>
                <p:grpSp>
                  <p:nvGrpSpPr>
                    <p:cNvPr id="15611" name="Group 9">
                      <a:extLst>
                        <a:ext uri="{FF2B5EF4-FFF2-40B4-BE49-F238E27FC236}">
                          <a16:creationId xmlns:a16="http://schemas.microsoft.com/office/drawing/2014/main" id="{D5C66FAD-17DF-458C-9888-F620E87BB6A8}"/>
                        </a:ext>
                      </a:extLst>
                    </p:cNvPr>
                    <p:cNvGrpSpPr>
                      <a:grpSpLocks/>
                    </p:cNvGrpSpPr>
                    <p:nvPr/>
                  </p:nvGrpSpPr>
                  <p:grpSpPr bwMode="auto">
                    <a:xfrm>
                      <a:off x="528" y="1920"/>
                      <a:ext cx="288" cy="96"/>
                      <a:chOff x="528" y="1920"/>
                      <a:chExt cx="288" cy="96"/>
                    </a:xfrm>
                  </p:grpSpPr>
                  <p:grpSp>
                    <p:nvGrpSpPr>
                      <p:cNvPr id="15621" name="Group 10">
                        <a:extLst>
                          <a:ext uri="{FF2B5EF4-FFF2-40B4-BE49-F238E27FC236}">
                            <a16:creationId xmlns:a16="http://schemas.microsoft.com/office/drawing/2014/main" id="{0D76C5C7-F2B7-4FC2-AA6C-DD5C2573F96C}"/>
                          </a:ext>
                        </a:extLst>
                      </p:cNvPr>
                      <p:cNvGrpSpPr>
                        <a:grpSpLocks/>
                      </p:cNvGrpSpPr>
                      <p:nvPr/>
                    </p:nvGrpSpPr>
                    <p:grpSpPr bwMode="auto">
                      <a:xfrm>
                        <a:off x="528" y="1920"/>
                        <a:ext cx="144" cy="96"/>
                        <a:chOff x="528" y="1920"/>
                        <a:chExt cx="144" cy="96"/>
                      </a:xfrm>
                    </p:grpSpPr>
                    <p:sp>
                      <p:nvSpPr>
                        <p:cNvPr id="15626" name="Line 11">
                          <a:extLst>
                            <a:ext uri="{FF2B5EF4-FFF2-40B4-BE49-F238E27FC236}">
                              <a16:creationId xmlns:a16="http://schemas.microsoft.com/office/drawing/2014/main" id="{989C9586-8900-4938-8A84-B2AB417F02E5}"/>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27" name="Line 12">
                          <a:extLst>
                            <a:ext uri="{FF2B5EF4-FFF2-40B4-BE49-F238E27FC236}">
                              <a16:creationId xmlns:a16="http://schemas.microsoft.com/office/drawing/2014/main" id="{774AEF89-A830-4062-B936-D0EDA9618DEA}"/>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28" name="Line 13">
                          <a:extLst>
                            <a:ext uri="{FF2B5EF4-FFF2-40B4-BE49-F238E27FC236}">
                              <a16:creationId xmlns:a16="http://schemas.microsoft.com/office/drawing/2014/main" id="{3BD2BDBE-F7CC-4216-92BB-6C5771E9E203}"/>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622" name="Group 14">
                        <a:extLst>
                          <a:ext uri="{FF2B5EF4-FFF2-40B4-BE49-F238E27FC236}">
                            <a16:creationId xmlns:a16="http://schemas.microsoft.com/office/drawing/2014/main" id="{0B7A9F18-F9DA-479E-9A6D-A09E4A4D6E3D}"/>
                          </a:ext>
                        </a:extLst>
                      </p:cNvPr>
                      <p:cNvGrpSpPr>
                        <a:grpSpLocks/>
                      </p:cNvGrpSpPr>
                      <p:nvPr/>
                    </p:nvGrpSpPr>
                    <p:grpSpPr bwMode="auto">
                      <a:xfrm>
                        <a:off x="672" y="1920"/>
                        <a:ext cx="144" cy="96"/>
                        <a:chOff x="528" y="1920"/>
                        <a:chExt cx="144" cy="96"/>
                      </a:xfrm>
                    </p:grpSpPr>
                    <p:sp>
                      <p:nvSpPr>
                        <p:cNvPr id="15623" name="Line 15">
                          <a:extLst>
                            <a:ext uri="{FF2B5EF4-FFF2-40B4-BE49-F238E27FC236}">
                              <a16:creationId xmlns:a16="http://schemas.microsoft.com/office/drawing/2014/main" id="{8C74EE39-4BA5-458A-A456-6A472F11F45E}"/>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24" name="Line 16">
                          <a:extLst>
                            <a:ext uri="{FF2B5EF4-FFF2-40B4-BE49-F238E27FC236}">
                              <a16:creationId xmlns:a16="http://schemas.microsoft.com/office/drawing/2014/main" id="{D592C0D2-87A8-47AC-B0D8-4372E8A1AC4C}"/>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25" name="Line 17">
                          <a:extLst>
                            <a:ext uri="{FF2B5EF4-FFF2-40B4-BE49-F238E27FC236}">
                              <a16:creationId xmlns:a16="http://schemas.microsoft.com/office/drawing/2014/main" id="{A99CB2FD-1A83-44DA-B0CF-734CDF9F0052}"/>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612" name="Group 18">
                      <a:extLst>
                        <a:ext uri="{FF2B5EF4-FFF2-40B4-BE49-F238E27FC236}">
                          <a16:creationId xmlns:a16="http://schemas.microsoft.com/office/drawing/2014/main" id="{730E54CD-129A-4958-9924-E0FB33F88E64}"/>
                        </a:ext>
                      </a:extLst>
                    </p:cNvPr>
                    <p:cNvGrpSpPr>
                      <a:grpSpLocks/>
                    </p:cNvGrpSpPr>
                    <p:nvPr/>
                  </p:nvGrpSpPr>
                  <p:grpSpPr bwMode="auto">
                    <a:xfrm>
                      <a:off x="816" y="1920"/>
                      <a:ext cx="288" cy="96"/>
                      <a:chOff x="528" y="1920"/>
                      <a:chExt cx="288" cy="96"/>
                    </a:xfrm>
                  </p:grpSpPr>
                  <p:grpSp>
                    <p:nvGrpSpPr>
                      <p:cNvPr id="15613" name="Group 19">
                        <a:extLst>
                          <a:ext uri="{FF2B5EF4-FFF2-40B4-BE49-F238E27FC236}">
                            <a16:creationId xmlns:a16="http://schemas.microsoft.com/office/drawing/2014/main" id="{BF903592-71DA-4F3B-8604-2490D5DE6FC1}"/>
                          </a:ext>
                        </a:extLst>
                      </p:cNvPr>
                      <p:cNvGrpSpPr>
                        <a:grpSpLocks/>
                      </p:cNvGrpSpPr>
                      <p:nvPr/>
                    </p:nvGrpSpPr>
                    <p:grpSpPr bwMode="auto">
                      <a:xfrm>
                        <a:off x="528" y="1920"/>
                        <a:ext cx="144" cy="96"/>
                        <a:chOff x="528" y="1920"/>
                        <a:chExt cx="144" cy="96"/>
                      </a:xfrm>
                    </p:grpSpPr>
                    <p:sp>
                      <p:nvSpPr>
                        <p:cNvPr id="15618" name="Line 20">
                          <a:extLst>
                            <a:ext uri="{FF2B5EF4-FFF2-40B4-BE49-F238E27FC236}">
                              <a16:creationId xmlns:a16="http://schemas.microsoft.com/office/drawing/2014/main" id="{282EE810-33BE-4E70-AE9E-A3DDDD59E502}"/>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19" name="Line 21">
                          <a:extLst>
                            <a:ext uri="{FF2B5EF4-FFF2-40B4-BE49-F238E27FC236}">
                              <a16:creationId xmlns:a16="http://schemas.microsoft.com/office/drawing/2014/main" id="{3052214A-6D53-49E3-8933-E191728F4F24}"/>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20" name="Line 22">
                          <a:extLst>
                            <a:ext uri="{FF2B5EF4-FFF2-40B4-BE49-F238E27FC236}">
                              <a16:creationId xmlns:a16="http://schemas.microsoft.com/office/drawing/2014/main" id="{75242E7F-740A-4D32-9810-0060C652B745}"/>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614" name="Group 23">
                        <a:extLst>
                          <a:ext uri="{FF2B5EF4-FFF2-40B4-BE49-F238E27FC236}">
                            <a16:creationId xmlns:a16="http://schemas.microsoft.com/office/drawing/2014/main" id="{70716DAD-478F-4604-B3BB-E441859A00DB}"/>
                          </a:ext>
                        </a:extLst>
                      </p:cNvPr>
                      <p:cNvGrpSpPr>
                        <a:grpSpLocks/>
                      </p:cNvGrpSpPr>
                      <p:nvPr/>
                    </p:nvGrpSpPr>
                    <p:grpSpPr bwMode="auto">
                      <a:xfrm>
                        <a:off x="672" y="1920"/>
                        <a:ext cx="144" cy="96"/>
                        <a:chOff x="528" y="1920"/>
                        <a:chExt cx="144" cy="96"/>
                      </a:xfrm>
                    </p:grpSpPr>
                    <p:sp>
                      <p:nvSpPr>
                        <p:cNvPr id="15615" name="Line 24">
                          <a:extLst>
                            <a:ext uri="{FF2B5EF4-FFF2-40B4-BE49-F238E27FC236}">
                              <a16:creationId xmlns:a16="http://schemas.microsoft.com/office/drawing/2014/main" id="{25031BBC-91B3-4C02-9052-753B717F9848}"/>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16" name="Line 25">
                          <a:extLst>
                            <a:ext uri="{FF2B5EF4-FFF2-40B4-BE49-F238E27FC236}">
                              <a16:creationId xmlns:a16="http://schemas.microsoft.com/office/drawing/2014/main" id="{2AAC1FA0-2700-49D2-AF7B-349B6F089AC2}"/>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17" name="Line 26">
                          <a:extLst>
                            <a:ext uri="{FF2B5EF4-FFF2-40B4-BE49-F238E27FC236}">
                              <a16:creationId xmlns:a16="http://schemas.microsoft.com/office/drawing/2014/main" id="{C7CA864B-5275-4E28-A5EC-6F3ACD14E47A}"/>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15592" name="Group 27">
                    <a:extLst>
                      <a:ext uri="{FF2B5EF4-FFF2-40B4-BE49-F238E27FC236}">
                        <a16:creationId xmlns:a16="http://schemas.microsoft.com/office/drawing/2014/main" id="{0087381E-6AE5-4B4A-9035-3DC744706810}"/>
                      </a:ext>
                    </a:extLst>
                  </p:cNvPr>
                  <p:cNvGrpSpPr>
                    <a:grpSpLocks/>
                  </p:cNvGrpSpPr>
                  <p:nvPr/>
                </p:nvGrpSpPr>
                <p:grpSpPr bwMode="auto">
                  <a:xfrm>
                    <a:off x="1104" y="1920"/>
                    <a:ext cx="576" cy="96"/>
                    <a:chOff x="528" y="1920"/>
                    <a:chExt cx="576" cy="96"/>
                  </a:xfrm>
                </p:grpSpPr>
                <p:grpSp>
                  <p:nvGrpSpPr>
                    <p:cNvPr id="15593" name="Group 28">
                      <a:extLst>
                        <a:ext uri="{FF2B5EF4-FFF2-40B4-BE49-F238E27FC236}">
                          <a16:creationId xmlns:a16="http://schemas.microsoft.com/office/drawing/2014/main" id="{9AD9680A-171F-4BE7-ACF0-A42809D1FED2}"/>
                        </a:ext>
                      </a:extLst>
                    </p:cNvPr>
                    <p:cNvGrpSpPr>
                      <a:grpSpLocks/>
                    </p:cNvGrpSpPr>
                    <p:nvPr/>
                  </p:nvGrpSpPr>
                  <p:grpSpPr bwMode="auto">
                    <a:xfrm>
                      <a:off x="528" y="1920"/>
                      <a:ext cx="288" cy="96"/>
                      <a:chOff x="528" y="1920"/>
                      <a:chExt cx="288" cy="96"/>
                    </a:xfrm>
                  </p:grpSpPr>
                  <p:grpSp>
                    <p:nvGrpSpPr>
                      <p:cNvPr id="15603" name="Group 29">
                        <a:extLst>
                          <a:ext uri="{FF2B5EF4-FFF2-40B4-BE49-F238E27FC236}">
                            <a16:creationId xmlns:a16="http://schemas.microsoft.com/office/drawing/2014/main" id="{7027C808-47EA-492B-87F8-7C2C4B9425E0}"/>
                          </a:ext>
                        </a:extLst>
                      </p:cNvPr>
                      <p:cNvGrpSpPr>
                        <a:grpSpLocks/>
                      </p:cNvGrpSpPr>
                      <p:nvPr/>
                    </p:nvGrpSpPr>
                    <p:grpSpPr bwMode="auto">
                      <a:xfrm>
                        <a:off x="528" y="1920"/>
                        <a:ext cx="144" cy="96"/>
                        <a:chOff x="528" y="1920"/>
                        <a:chExt cx="144" cy="96"/>
                      </a:xfrm>
                    </p:grpSpPr>
                    <p:sp>
                      <p:nvSpPr>
                        <p:cNvPr id="15608" name="Line 30">
                          <a:extLst>
                            <a:ext uri="{FF2B5EF4-FFF2-40B4-BE49-F238E27FC236}">
                              <a16:creationId xmlns:a16="http://schemas.microsoft.com/office/drawing/2014/main" id="{43F802D0-C8EE-4D0D-B300-2524737B7236}"/>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09" name="Line 31">
                          <a:extLst>
                            <a:ext uri="{FF2B5EF4-FFF2-40B4-BE49-F238E27FC236}">
                              <a16:creationId xmlns:a16="http://schemas.microsoft.com/office/drawing/2014/main" id="{E0B55548-55A1-4953-9FBA-7C1EBF367562}"/>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10" name="Line 32">
                          <a:extLst>
                            <a:ext uri="{FF2B5EF4-FFF2-40B4-BE49-F238E27FC236}">
                              <a16:creationId xmlns:a16="http://schemas.microsoft.com/office/drawing/2014/main" id="{A7F83FCE-17CA-4CCC-87A2-4C18FC2486BE}"/>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604" name="Group 33">
                        <a:extLst>
                          <a:ext uri="{FF2B5EF4-FFF2-40B4-BE49-F238E27FC236}">
                            <a16:creationId xmlns:a16="http://schemas.microsoft.com/office/drawing/2014/main" id="{08F15CCB-039A-45D8-AD3C-37C07E6AFB7E}"/>
                          </a:ext>
                        </a:extLst>
                      </p:cNvPr>
                      <p:cNvGrpSpPr>
                        <a:grpSpLocks/>
                      </p:cNvGrpSpPr>
                      <p:nvPr/>
                    </p:nvGrpSpPr>
                    <p:grpSpPr bwMode="auto">
                      <a:xfrm>
                        <a:off x="672" y="1920"/>
                        <a:ext cx="144" cy="96"/>
                        <a:chOff x="528" y="1920"/>
                        <a:chExt cx="144" cy="96"/>
                      </a:xfrm>
                    </p:grpSpPr>
                    <p:sp>
                      <p:nvSpPr>
                        <p:cNvPr id="15605" name="Line 34">
                          <a:extLst>
                            <a:ext uri="{FF2B5EF4-FFF2-40B4-BE49-F238E27FC236}">
                              <a16:creationId xmlns:a16="http://schemas.microsoft.com/office/drawing/2014/main" id="{6ED26750-883C-4B69-9EC0-F7CC0DE20880}"/>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06" name="Line 35">
                          <a:extLst>
                            <a:ext uri="{FF2B5EF4-FFF2-40B4-BE49-F238E27FC236}">
                              <a16:creationId xmlns:a16="http://schemas.microsoft.com/office/drawing/2014/main" id="{DD1A4477-5493-4470-94CD-69BF5C347755}"/>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07" name="Line 36">
                          <a:extLst>
                            <a:ext uri="{FF2B5EF4-FFF2-40B4-BE49-F238E27FC236}">
                              <a16:creationId xmlns:a16="http://schemas.microsoft.com/office/drawing/2014/main" id="{F7184F4F-29FE-46CA-9BE0-05A61EA6C26A}"/>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594" name="Group 37">
                      <a:extLst>
                        <a:ext uri="{FF2B5EF4-FFF2-40B4-BE49-F238E27FC236}">
                          <a16:creationId xmlns:a16="http://schemas.microsoft.com/office/drawing/2014/main" id="{939289F9-D2F1-4772-A5CE-9FAEC7FFFCD9}"/>
                        </a:ext>
                      </a:extLst>
                    </p:cNvPr>
                    <p:cNvGrpSpPr>
                      <a:grpSpLocks/>
                    </p:cNvGrpSpPr>
                    <p:nvPr/>
                  </p:nvGrpSpPr>
                  <p:grpSpPr bwMode="auto">
                    <a:xfrm>
                      <a:off x="816" y="1920"/>
                      <a:ext cx="288" cy="96"/>
                      <a:chOff x="528" y="1920"/>
                      <a:chExt cx="288" cy="96"/>
                    </a:xfrm>
                  </p:grpSpPr>
                  <p:grpSp>
                    <p:nvGrpSpPr>
                      <p:cNvPr id="15595" name="Group 38">
                        <a:extLst>
                          <a:ext uri="{FF2B5EF4-FFF2-40B4-BE49-F238E27FC236}">
                            <a16:creationId xmlns:a16="http://schemas.microsoft.com/office/drawing/2014/main" id="{BB32A23E-9263-4B25-9874-A9B2C85A3812}"/>
                          </a:ext>
                        </a:extLst>
                      </p:cNvPr>
                      <p:cNvGrpSpPr>
                        <a:grpSpLocks/>
                      </p:cNvGrpSpPr>
                      <p:nvPr/>
                    </p:nvGrpSpPr>
                    <p:grpSpPr bwMode="auto">
                      <a:xfrm>
                        <a:off x="528" y="1920"/>
                        <a:ext cx="144" cy="96"/>
                        <a:chOff x="528" y="1920"/>
                        <a:chExt cx="144" cy="96"/>
                      </a:xfrm>
                    </p:grpSpPr>
                    <p:sp>
                      <p:nvSpPr>
                        <p:cNvPr id="15600" name="Line 39">
                          <a:extLst>
                            <a:ext uri="{FF2B5EF4-FFF2-40B4-BE49-F238E27FC236}">
                              <a16:creationId xmlns:a16="http://schemas.microsoft.com/office/drawing/2014/main" id="{5B5277CC-2056-4EC8-B0AB-EE24B3EBFB64}"/>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01" name="Line 40">
                          <a:extLst>
                            <a:ext uri="{FF2B5EF4-FFF2-40B4-BE49-F238E27FC236}">
                              <a16:creationId xmlns:a16="http://schemas.microsoft.com/office/drawing/2014/main" id="{A036D9AB-83FD-482D-BD8D-9648220272D9}"/>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602" name="Line 41">
                          <a:extLst>
                            <a:ext uri="{FF2B5EF4-FFF2-40B4-BE49-F238E27FC236}">
                              <a16:creationId xmlns:a16="http://schemas.microsoft.com/office/drawing/2014/main" id="{3475A1C4-F5C7-4F12-B2E1-86A2D4E60AFA}"/>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96" name="Group 42">
                        <a:extLst>
                          <a:ext uri="{FF2B5EF4-FFF2-40B4-BE49-F238E27FC236}">
                            <a16:creationId xmlns:a16="http://schemas.microsoft.com/office/drawing/2014/main" id="{3A3E57F8-F47F-4806-8A22-2734D5C5257B}"/>
                          </a:ext>
                        </a:extLst>
                      </p:cNvPr>
                      <p:cNvGrpSpPr>
                        <a:grpSpLocks/>
                      </p:cNvGrpSpPr>
                      <p:nvPr/>
                    </p:nvGrpSpPr>
                    <p:grpSpPr bwMode="auto">
                      <a:xfrm>
                        <a:off x="672" y="1920"/>
                        <a:ext cx="144" cy="96"/>
                        <a:chOff x="528" y="1920"/>
                        <a:chExt cx="144" cy="96"/>
                      </a:xfrm>
                    </p:grpSpPr>
                    <p:sp>
                      <p:nvSpPr>
                        <p:cNvPr id="15597" name="Line 43">
                          <a:extLst>
                            <a:ext uri="{FF2B5EF4-FFF2-40B4-BE49-F238E27FC236}">
                              <a16:creationId xmlns:a16="http://schemas.microsoft.com/office/drawing/2014/main" id="{4CFA56F9-3EB1-484F-8721-BF512F08EC31}"/>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8" name="Line 44">
                          <a:extLst>
                            <a:ext uri="{FF2B5EF4-FFF2-40B4-BE49-F238E27FC236}">
                              <a16:creationId xmlns:a16="http://schemas.microsoft.com/office/drawing/2014/main" id="{A538AECA-BD3D-4EEF-BAB0-48A94E3030DF}"/>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9" name="Line 45">
                          <a:extLst>
                            <a:ext uri="{FF2B5EF4-FFF2-40B4-BE49-F238E27FC236}">
                              <a16:creationId xmlns:a16="http://schemas.microsoft.com/office/drawing/2014/main" id="{19276468-808A-43AC-B977-7E3A377D2167}"/>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grpSp>
              <p:nvGrpSpPr>
                <p:cNvPr id="15512" name="Group 46">
                  <a:extLst>
                    <a:ext uri="{FF2B5EF4-FFF2-40B4-BE49-F238E27FC236}">
                      <a16:creationId xmlns:a16="http://schemas.microsoft.com/office/drawing/2014/main" id="{4514F59B-638B-4156-A2EA-84E27D7E2713}"/>
                    </a:ext>
                  </a:extLst>
                </p:cNvPr>
                <p:cNvGrpSpPr>
                  <a:grpSpLocks/>
                </p:cNvGrpSpPr>
                <p:nvPr/>
              </p:nvGrpSpPr>
              <p:grpSpPr bwMode="auto">
                <a:xfrm>
                  <a:off x="1680" y="1920"/>
                  <a:ext cx="1152" cy="96"/>
                  <a:chOff x="528" y="1920"/>
                  <a:chExt cx="1152" cy="96"/>
                </a:xfrm>
              </p:grpSpPr>
              <p:grpSp>
                <p:nvGrpSpPr>
                  <p:cNvPr id="15553" name="Group 47">
                    <a:extLst>
                      <a:ext uri="{FF2B5EF4-FFF2-40B4-BE49-F238E27FC236}">
                        <a16:creationId xmlns:a16="http://schemas.microsoft.com/office/drawing/2014/main" id="{3DE85A34-F5E5-4A54-8A25-A3DE8CD2AFA6}"/>
                      </a:ext>
                    </a:extLst>
                  </p:cNvPr>
                  <p:cNvGrpSpPr>
                    <a:grpSpLocks/>
                  </p:cNvGrpSpPr>
                  <p:nvPr/>
                </p:nvGrpSpPr>
                <p:grpSpPr bwMode="auto">
                  <a:xfrm>
                    <a:off x="528" y="1920"/>
                    <a:ext cx="576" cy="96"/>
                    <a:chOff x="528" y="1920"/>
                    <a:chExt cx="576" cy="96"/>
                  </a:xfrm>
                </p:grpSpPr>
                <p:grpSp>
                  <p:nvGrpSpPr>
                    <p:cNvPr id="15573" name="Group 48">
                      <a:extLst>
                        <a:ext uri="{FF2B5EF4-FFF2-40B4-BE49-F238E27FC236}">
                          <a16:creationId xmlns:a16="http://schemas.microsoft.com/office/drawing/2014/main" id="{B0232A3B-7F36-4326-8D1F-FCE9EE923C4F}"/>
                        </a:ext>
                      </a:extLst>
                    </p:cNvPr>
                    <p:cNvGrpSpPr>
                      <a:grpSpLocks/>
                    </p:cNvGrpSpPr>
                    <p:nvPr/>
                  </p:nvGrpSpPr>
                  <p:grpSpPr bwMode="auto">
                    <a:xfrm>
                      <a:off x="528" y="1920"/>
                      <a:ext cx="288" cy="96"/>
                      <a:chOff x="528" y="1920"/>
                      <a:chExt cx="288" cy="96"/>
                    </a:xfrm>
                  </p:grpSpPr>
                  <p:grpSp>
                    <p:nvGrpSpPr>
                      <p:cNvPr id="15583" name="Group 49">
                        <a:extLst>
                          <a:ext uri="{FF2B5EF4-FFF2-40B4-BE49-F238E27FC236}">
                            <a16:creationId xmlns:a16="http://schemas.microsoft.com/office/drawing/2014/main" id="{875D36FB-F033-40A8-91DC-8C8D3F402CE2}"/>
                          </a:ext>
                        </a:extLst>
                      </p:cNvPr>
                      <p:cNvGrpSpPr>
                        <a:grpSpLocks/>
                      </p:cNvGrpSpPr>
                      <p:nvPr/>
                    </p:nvGrpSpPr>
                    <p:grpSpPr bwMode="auto">
                      <a:xfrm>
                        <a:off x="528" y="1920"/>
                        <a:ext cx="144" cy="96"/>
                        <a:chOff x="528" y="1920"/>
                        <a:chExt cx="144" cy="96"/>
                      </a:xfrm>
                    </p:grpSpPr>
                    <p:sp>
                      <p:nvSpPr>
                        <p:cNvPr id="15588" name="Line 50">
                          <a:extLst>
                            <a:ext uri="{FF2B5EF4-FFF2-40B4-BE49-F238E27FC236}">
                              <a16:creationId xmlns:a16="http://schemas.microsoft.com/office/drawing/2014/main" id="{81E54078-1734-45EC-85AB-0687D9382752}"/>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9" name="Line 51">
                          <a:extLst>
                            <a:ext uri="{FF2B5EF4-FFF2-40B4-BE49-F238E27FC236}">
                              <a16:creationId xmlns:a16="http://schemas.microsoft.com/office/drawing/2014/main" id="{B2F30363-CC48-4E2B-BB16-71CA15919944}"/>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90" name="Line 52">
                          <a:extLst>
                            <a:ext uri="{FF2B5EF4-FFF2-40B4-BE49-F238E27FC236}">
                              <a16:creationId xmlns:a16="http://schemas.microsoft.com/office/drawing/2014/main" id="{F50354C2-A129-468D-8495-B2A15F18E8E1}"/>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84" name="Group 53">
                        <a:extLst>
                          <a:ext uri="{FF2B5EF4-FFF2-40B4-BE49-F238E27FC236}">
                            <a16:creationId xmlns:a16="http://schemas.microsoft.com/office/drawing/2014/main" id="{CF493E3E-48B4-47EB-A713-767B5263C055}"/>
                          </a:ext>
                        </a:extLst>
                      </p:cNvPr>
                      <p:cNvGrpSpPr>
                        <a:grpSpLocks/>
                      </p:cNvGrpSpPr>
                      <p:nvPr/>
                    </p:nvGrpSpPr>
                    <p:grpSpPr bwMode="auto">
                      <a:xfrm>
                        <a:off x="672" y="1920"/>
                        <a:ext cx="144" cy="96"/>
                        <a:chOff x="528" y="1920"/>
                        <a:chExt cx="144" cy="96"/>
                      </a:xfrm>
                    </p:grpSpPr>
                    <p:sp>
                      <p:nvSpPr>
                        <p:cNvPr id="15585" name="Line 54">
                          <a:extLst>
                            <a:ext uri="{FF2B5EF4-FFF2-40B4-BE49-F238E27FC236}">
                              <a16:creationId xmlns:a16="http://schemas.microsoft.com/office/drawing/2014/main" id="{13228CA4-E49D-4304-98BA-71CA128709FB}"/>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6" name="Line 55">
                          <a:extLst>
                            <a:ext uri="{FF2B5EF4-FFF2-40B4-BE49-F238E27FC236}">
                              <a16:creationId xmlns:a16="http://schemas.microsoft.com/office/drawing/2014/main" id="{62D0E6D6-5A2C-4445-B1D2-13EB67ED9BF1}"/>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7" name="Line 56">
                          <a:extLst>
                            <a:ext uri="{FF2B5EF4-FFF2-40B4-BE49-F238E27FC236}">
                              <a16:creationId xmlns:a16="http://schemas.microsoft.com/office/drawing/2014/main" id="{6557AA0E-254C-42D1-911E-6F7A23CFFD52}"/>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574" name="Group 57">
                      <a:extLst>
                        <a:ext uri="{FF2B5EF4-FFF2-40B4-BE49-F238E27FC236}">
                          <a16:creationId xmlns:a16="http://schemas.microsoft.com/office/drawing/2014/main" id="{C8C42E16-C6B0-4ACC-8870-AE55E5A76F5C}"/>
                        </a:ext>
                      </a:extLst>
                    </p:cNvPr>
                    <p:cNvGrpSpPr>
                      <a:grpSpLocks/>
                    </p:cNvGrpSpPr>
                    <p:nvPr/>
                  </p:nvGrpSpPr>
                  <p:grpSpPr bwMode="auto">
                    <a:xfrm>
                      <a:off x="816" y="1920"/>
                      <a:ext cx="288" cy="96"/>
                      <a:chOff x="528" y="1920"/>
                      <a:chExt cx="288" cy="96"/>
                    </a:xfrm>
                  </p:grpSpPr>
                  <p:grpSp>
                    <p:nvGrpSpPr>
                      <p:cNvPr id="15575" name="Group 58">
                        <a:extLst>
                          <a:ext uri="{FF2B5EF4-FFF2-40B4-BE49-F238E27FC236}">
                            <a16:creationId xmlns:a16="http://schemas.microsoft.com/office/drawing/2014/main" id="{900CC474-D367-4A38-BF37-FCD7616565E6}"/>
                          </a:ext>
                        </a:extLst>
                      </p:cNvPr>
                      <p:cNvGrpSpPr>
                        <a:grpSpLocks/>
                      </p:cNvGrpSpPr>
                      <p:nvPr/>
                    </p:nvGrpSpPr>
                    <p:grpSpPr bwMode="auto">
                      <a:xfrm>
                        <a:off x="528" y="1920"/>
                        <a:ext cx="144" cy="96"/>
                        <a:chOff x="528" y="1920"/>
                        <a:chExt cx="144" cy="96"/>
                      </a:xfrm>
                    </p:grpSpPr>
                    <p:sp>
                      <p:nvSpPr>
                        <p:cNvPr id="15580" name="Line 59">
                          <a:extLst>
                            <a:ext uri="{FF2B5EF4-FFF2-40B4-BE49-F238E27FC236}">
                              <a16:creationId xmlns:a16="http://schemas.microsoft.com/office/drawing/2014/main" id="{032F7A31-5201-4D51-9767-D7C6229E6E1B}"/>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1" name="Line 60">
                          <a:extLst>
                            <a:ext uri="{FF2B5EF4-FFF2-40B4-BE49-F238E27FC236}">
                              <a16:creationId xmlns:a16="http://schemas.microsoft.com/office/drawing/2014/main" id="{8623D358-8372-4B3F-B741-B1030A0488A2}"/>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82" name="Line 61">
                          <a:extLst>
                            <a:ext uri="{FF2B5EF4-FFF2-40B4-BE49-F238E27FC236}">
                              <a16:creationId xmlns:a16="http://schemas.microsoft.com/office/drawing/2014/main" id="{9C29CE70-6869-4EE7-9F1F-6C99EE3C77A0}"/>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76" name="Group 62">
                        <a:extLst>
                          <a:ext uri="{FF2B5EF4-FFF2-40B4-BE49-F238E27FC236}">
                            <a16:creationId xmlns:a16="http://schemas.microsoft.com/office/drawing/2014/main" id="{6BDB5A15-2C7E-4AFA-9E8B-CF5F9C37FDB5}"/>
                          </a:ext>
                        </a:extLst>
                      </p:cNvPr>
                      <p:cNvGrpSpPr>
                        <a:grpSpLocks/>
                      </p:cNvGrpSpPr>
                      <p:nvPr/>
                    </p:nvGrpSpPr>
                    <p:grpSpPr bwMode="auto">
                      <a:xfrm>
                        <a:off x="672" y="1920"/>
                        <a:ext cx="144" cy="96"/>
                        <a:chOff x="528" y="1920"/>
                        <a:chExt cx="144" cy="96"/>
                      </a:xfrm>
                    </p:grpSpPr>
                    <p:sp>
                      <p:nvSpPr>
                        <p:cNvPr id="15577" name="Line 63">
                          <a:extLst>
                            <a:ext uri="{FF2B5EF4-FFF2-40B4-BE49-F238E27FC236}">
                              <a16:creationId xmlns:a16="http://schemas.microsoft.com/office/drawing/2014/main" id="{E79D6C1E-FCCF-4C28-AC76-60D28550D3E3}"/>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8" name="Line 64">
                          <a:extLst>
                            <a:ext uri="{FF2B5EF4-FFF2-40B4-BE49-F238E27FC236}">
                              <a16:creationId xmlns:a16="http://schemas.microsoft.com/office/drawing/2014/main" id="{0AB4EDA4-C0B0-4E36-9045-0E121CCD7EE8}"/>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9" name="Line 65">
                          <a:extLst>
                            <a:ext uri="{FF2B5EF4-FFF2-40B4-BE49-F238E27FC236}">
                              <a16:creationId xmlns:a16="http://schemas.microsoft.com/office/drawing/2014/main" id="{B1C791F7-23BB-4734-AA40-F084DE81DCC0}"/>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15554" name="Group 66">
                    <a:extLst>
                      <a:ext uri="{FF2B5EF4-FFF2-40B4-BE49-F238E27FC236}">
                        <a16:creationId xmlns:a16="http://schemas.microsoft.com/office/drawing/2014/main" id="{ACC2DA56-E731-4515-8705-A1FC0869C95E}"/>
                      </a:ext>
                    </a:extLst>
                  </p:cNvPr>
                  <p:cNvGrpSpPr>
                    <a:grpSpLocks/>
                  </p:cNvGrpSpPr>
                  <p:nvPr/>
                </p:nvGrpSpPr>
                <p:grpSpPr bwMode="auto">
                  <a:xfrm>
                    <a:off x="1104" y="1920"/>
                    <a:ext cx="576" cy="96"/>
                    <a:chOff x="528" y="1920"/>
                    <a:chExt cx="576" cy="96"/>
                  </a:xfrm>
                </p:grpSpPr>
                <p:grpSp>
                  <p:nvGrpSpPr>
                    <p:cNvPr id="15555" name="Group 67">
                      <a:extLst>
                        <a:ext uri="{FF2B5EF4-FFF2-40B4-BE49-F238E27FC236}">
                          <a16:creationId xmlns:a16="http://schemas.microsoft.com/office/drawing/2014/main" id="{0EB6554F-BEFF-4C35-A5F6-4D5ECC2F8976}"/>
                        </a:ext>
                      </a:extLst>
                    </p:cNvPr>
                    <p:cNvGrpSpPr>
                      <a:grpSpLocks/>
                    </p:cNvGrpSpPr>
                    <p:nvPr/>
                  </p:nvGrpSpPr>
                  <p:grpSpPr bwMode="auto">
                    <a:xfrm>
                      <a:off x="528" y="1920"/>
                      <a:ext cx="288" cy="96"/>
                      <a:chOff x="528" y="1920"/>
                      <a:chExt cx="288" cy="96"/>
                    </a:xfrm>
                  </p:grpSpPr>
                  <p:grpSp>
                    <p:nvGrpSpPr>
                      <p:cNvPr id="15565" name="Group 68">
                        <a:extLst>
                          <a:ext uri="{FF2B5EF4-FFF2-40B4-BE49-F238E27FC236}">
                            <a16:creationId xmlns:a16="http://schemas.microsoft.com/office/drawing/2014/main" id="{CA27E6BD-F9C1-4FA1-A4FD-95C431410A87}"/>
                          </a:ext>
                        </a:extLst>
                      </p:cNvPr>
                      <p:cNvGrpSpPr>
                        <a:grpSpLocks/>
                      </p:cNvGrpSpPr>
                      <p:nvPr/>
                    </p:nvGrpSpPr>
                    <p:grpSpPr bwMode="auto">
                      <a:xfrm>
                        <a:off x="528" y="1920"/>
                        <a:ext cx="144" cy="96"/>
                        <a:chOff x="528" y="1920"/>
                        <a:chExt cx="144" cy="96"/>
                      </a:xfrm>
                    </p:grpSpPr>
                    <p:sp>
                      <p:nvSpPr>
                        <p:cNvPr id="15570" name="Line 69">
                          <a:extLst>
                            <a:ext uri="{FF2B5EF4-FFF2-40B4-BE49-F238E27FC236}">
                              <a16:creationId xmlns:a16="http://schemas.microsoft.com/office/drawing/2014/main" id="{08B8EEBD-2014-4E59-BB61-37F85BB7C40F}"/>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1" name="Line 70">
                          <a:extLst>
                            <a:ext uri="{FF2B5EF4-FFF2-40B4-BE49-F238E27FC236}">
                              <a16:creationId xmlns:a16="http://schemas.microsoft.com/office/drawing/2014/main" id="{FE4384EF-6077-4C56-A47A-BAED3C287AE6}"/>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72" name="Line 71">
                          <a:extLst>
                            <a:ext uri="{FF2B5EF4-FFF2-40B4-BE49-F238E27FC236}">
                              <a16:creationId xmlns:a16="http://schemas.microsoft.com/office/drawing/2014/main" id="{B8428480-0661-413E-82C8-0736D44C946D}"/>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66" name="Group 72">
                        <a:extLst>
                          <a:ext uri="{FF2B5EF4-FFF2-40B4-BE49-F238E27FC236}">
                            <a16:creationId xmlns:a16="http://schemas.microsoft.com/office/drawing/2014/main" id="{0AA15B48-7591-46A0-B725-31472E2CD9B1}"/>
                          </a:ext>
                        </a:extLst>
                      </p:cNvPr>
                      <p:cNvGrpSpPr>
                        <a:grpSpLocks/>
                      </p:cNvGrpSpPr>
                      <p:nvPr/>
                    </p:nvGrpSpPr>
                    <p:grpSpPr bwMode="auto">
                      <a:xfrm>
                        <a:off x="672" y="1920"/>
                        <a:ext cx="144" cy="96"/>
                        <a:chOff x="528" y="1920"/>
                        <a:chExt cx="144" cy="96"/>
                      </a:xfrm>
                    </p:grpSpPr>
                    <p:sp>
                      <p:nvSpPr>
                        <p:cNvPr id="15567" name="Line 73">
                          <a:extLst>
                            <a:ext uri="{FF2B5EF4-FFF2-40B4-BE49-F238E27FC236}">
                              <a16:creationId xmlns:a16="http://schemas.microsoft.com/office/drawing/2014/main" id="{71C5B163-B262-4B5A-849A-81F981F61EEA}"/>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8" name="Line 74">
                          <a:extLst>
                            <a:ext uri="{FF2B5EF4-FFF2-40B4-BE49-F238E27FC236}">
                              <a16:creationId xmlns:a16="http://schemas.microsoft.com/office/drawing/2014/main" id="{636DEE47-0ABD-4588-88C9-9212B3176C8A}"/>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9" name="Line 75">
                          <a:extLst>
                            <a:ext uri="{FF2B5EF4-FFF2-40B4-BE49-F238E27FC236}">
                              <a16:creationId xmlns:a16="http://schemas.microsoft.com/office/drawing/2014/main" id="{F4B0F57F-CFD3-44AD-BAC7-8744CF77F44F}"/>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556" name="Group 76">
                      <a:extLst>
                        <a:ext uri="{FF2B5EF4-FFF2-40B4-BE49-F238E27FC236}">
                          <a16:creationId xmlns:a16="http://schemas.microsoft.com/office/drawing/2014/main" id="{F0D5AA5E-53E8-4092-9E00-91D712EE811F}"/>
                        </a:ext>
                      </a:extLst>
                    </p:cNvPr>
                    <p:cNvGrpSpPr>
                      <a:grpSpLocks/>
                    </p:cNvGrpSpPr>
                    <p:nvPr/>
                  </p:nvGrpSpPr>
                  <p:grpSpPr bwMode="auto">
                    <a:xfrm>
                      <a:off x="816" y="1920"/>
                      <a:ext cx="288" cy="96"/>
                      <a:chOff x="528" y="1920"/>
                      <a:chExt cx="288" cy="96"/>
                    </a:xfrm>
                  </p:grpSpPr>
                  <p:grpSp>
                    <p:nvGrpSpPr>
                      <p:cNvPr id="15557" name="Group 77">
                        <a:extLst>
                          <a:ext uri="{FF2B5EF4-FFF2-40B4-BE49-F238E27FC236}">
                            <a16:creationId xmlns:a16="http://schemas.microsoft.com/office/drawing/2014/main" id="{0B6356EF-281E-42AC-92A6-E080F6A061A6}"/>
                          </a:ext>
                        </a:extLst>
                      </p:cNvPr>
                      <p:cNvGrpSpPr>
                        <a:grpSpLocks/>
                      </p:cNvGrpSpPr>
                      <p:nvPr/>
                    </p:nvGrpSpPr>
                    <p:grpSpPr bwMode="auto">
                      <a:xfrm>
                        <a:off x="528" y="1920"/>
                        <a:ext cx="144" cy="96"/>
                        <a:chOff x="528" y="1920"/>
                        <a:chExt cx="144" cy="96"/>
                      </a:xfrm>
                    </p:grpSpPr>
                    <p:sp>
                      <p:nvSpPr>
                        <p:cNvPr id="15562" name="Line 78">
                          <a:extLst>
                            <a:ext uri="{FF2B5EF4-FFF2-40B4-BE49-F238E27FC236}">
                              <a16:creationId xmlns:a16="http://schemas.microsoft.com/office/drawing/2014/main" id="{DB9B9E86-9DA7-46A6-8ACD-73267AF66304}"/>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3" name="Line 79">
                          <a:extLst>
                            <a:ext uri="{FF2B5EF4-FFF2-40B4-BE49-F238E27FC236}">
                              <a16:creationId xmlns:a16="http://schemas.microsoft.com/office/drawing/2014/main" id="{35AEDAA5-6693-48F0-A5B8-70A90446D5B2}"/>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4" name="Line 80">
                          <a:extLst>
                            <a:ext uri="{FF2B5EF4-FFF2-40B4-BE49-F238E27FC236}">
                              <a16:creationId xmlns:a16="http://schemas.microsoft.com/office/drawing/2014/main" id="{4AA771A9-5149-4A09-A678-7F36FFBB56A6}"/>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58" name="Group 81">
                        <a:extLst>
                          <a:ext uri="{FF2B5EF4-FFF2-40B4-BE49-F238E27FC236}">
                            <a16:creationId xmlns:a16="http://schemas.microsoft.com/office/drawing/2014/main" id="{676814F5-0AE7-4B34-89D6-D2C9FC9C9CD2}"/>
                          </a:ext>
                        </a:extLst>
                      </p:cNvPr>
                      <p:cNvGrpSpPr>
                        <a:grpSpLocks/>
                      </p:cNvGrpSpPr>
                      <p:nvPr/>
                    </p:nvGrpSpPr>
                    <p:grpSpPr bwMode="auto">
                      <a:xfrm>
                        <a:off x="672" y="1920"/>
                        <a:ext cx="144" cy="96"/>
                        <a:chOff x="528" y="1920"/>
                        <a:chExt cx="144" cy="96"/>
                      </a:xfrm>
                    </p:grpSpPr>
                    <p:sp>
                      <p:nvSpPr>
                        <p:cNvPr id="15559" name="Line 82">
                          <a:extLst>
                            <a:ext uri="{FF2B5EF4-FFF2-40B4-BE49-F238E27FC236}">
                              <a16:creationId xmlns:a16="http://schemas.microsoft.com/office/drawing/2014/main" id="{95130D66-64BB-4D9C-B137-253091EF179B}"/>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0" name="Line 83">
                          <a:extLst>
                            <a:ext uri="{FF2B5EF4-FFF2-40B4-BE49-F238E27FC236}">
                              <a16:creationId xmlns:a16="http://schemas.microsoft.com/office/drawing/2014/main" id="{6C16A418-C841-4E5C-BC49-2351CFADEA42}"/>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61" name="Line 84">
                          <a:extLst>
                            <a:ext uri="{FF2B5EF4-FFF2-40B4-BE49-F238E27FC236}">
                              <a16:creationId xmlns:a16="http://schemas.microsoft.com/office/drawing/2014/main" id="{1BEED70F-32C6-42CE-9827-D50AD8B19CB9}"/>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grpSp>
              <p:nvGrpSpPr>
                <p:cNvPr id="15513" name="Group 85">
                  <a:extLst>
                    <a:ext uri="{FF2B5EF4-FFF2-40B4-BE49-F238E27FC236}">
                      <a16:creationId xmlns:a16="http://schemas.microsoft.com/office/drawing/2014/main" id="{849E662F-FC28-4E7B-BBA5-BA46A92A34CB}"/>
                    </a:ext>
                  </a:extLst>
                </p:cNvPr>
                <p:cNvGrpSpPr>
                  <a:grpSpLocks/>
                </p:cNvGrpSpPr>
                <p:nvPr/>
              </p:nvGrpSpPr>
              <p:grpSpPr bwMode="auto">
                <a:xfrm>
                  <a:off x="2832" y="1920"/>
                  <a:ext cx="1152" cy="96"/>
                  <a:chOff x="528" y="1920"/>
                  <a:chExt cx="1152" cy="96"/>
                </a:xfrm>
              </p:grpSpPr>
              <p:grpSp>
                <p:nvGrpSpPr>
                  <p:cNvPr id="15515" name="Group 86">
                    <a:extLst>
                      <a:ext uri="{FF2B5EF4-FFF2-40B4-BE49-F238E27FC236}">
                        <a16:creationId xmlns:a16="http://schemas.microsoft.com/office/drawing/2014/main" id="{AF702E71-29B7-4E58-BE66-7D23129F6BF0}"/>
                      </a:ext>
                    </a:extLst>
                  </p:cNvPr>
                  <p:cNvGrpSpPr>
                    <a:grpSpLocks/>
                  </p:cNvGrpSpPr>
                  <p:nvPr/>
                </p:nvGrpSpPr>
                <p:grpSpPr bwMode="auto">
                  <a:xfrm>
                    <a:off x="528" y="1920"/>
                    <a:ext cx="576" cy="96"/>
                    <a:chOff x="528" y="1920"/>
                    <a:chExt cx="576" cy="96"/>
                  </a:xfrm>
                </p:grpSpPr>
                <p:grpSp>
                  <p:nvGrpSpPr>
                    <p:cNvPr id="15535" name="Group 87">
                      <a:extLst>
                        <a:ext uri="{FF2B5EF4-FFF2-40B4-BE49-F238E27FC236}">
                          <a16:creationId xmlns:a16="http://schemas.microsoft.com/office/drawing/2014/main" id="{62737936-BF4C-436C-A6B1-46650A74A0FB}"/>
                        </a:ext>
                      </a:extLst>
                    </p:cNvPr>
                    <p:cNvGrpSpPr>
                      <a:grpSpLocks/>
                    </p:cNvGrpSpPr>
                    <p:nvPr/>
                  </p:nvGrpSpPr>
                  <p:grpSpPr bwMode="auto">
                    <a:xfrm>
                      <a:off x="528" y="1920"/>
                      <a:ext cx="288" cy="96"/>
                      <a:chOff x="528" y="1920"/>
                      <a:chExt cx="288" cy="96"/>
                    </a:xfrm>
                  </p:grpSpPr>
                  <p:grpSp>
                    <p:nvGrpSpPr>
                      <p:cNvPr id="15545" name="Group 88">
                        <a:extLst>
                          <a:ext uri="{FF2B5EF4-FFF2-40B4-BE49-F238E27FC236}">
                            <a16:creationId xmlns:a16="http://schemas.microsoft.com/office/drawing/2014/main" id="{F1A31736-7130-4100-BB48-3282A2DB1631}"/>
                          </a:ext>
                        </a:extLst>
                      </p:cNvPr>
                      <p:cNvGrpSpPr>
                        <a:grpSpLocks/>
                      </p:cNvGrpSpPr>
                      <p:nvPr/>
                    </p:nvGrpSpPr>
                    <p:grpSpPr bwMode="auto">
                      <a:xfrm>
                        <a:off x="528" y="1920"/>
                        <a:ext cx="144" cy="96"/>
                        <a:chOff x="528" y="1920"/>
                        <a:chExt cx="144" cy="96"/>
                      </a:xfrm>
                    </p:grpSpPr>
                    <p:sp>
                      <p:nvSpPr>
                        <p:cNvPr id="15550" name="Line 89">
                          <a:extLst>
                            <a:ext uri="{FF2B5EF4-FFF2-40B4-BE49-F238E27FC236}">
                              <a16:creationId xmlns:a16="http://schemas.microsoft.com/office/drawing/2014/main" id="{3B94C548-9D12-44A8-BCFA-C5C4F1402F80}"/>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1" name="Line 90">
                          <a:extLst>
                            <a:ext uri="{FF2B5EF4-FFF2-40B4-BE49-F238E27FC236}">
                              <a16:creationId xmlns:a16="http://schemas.microsoft.com/office/drawing/2014/main" id="{C65EF73B-2EC5-4590-AC0A-D6D323481ED9}"/>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52" name="Line 91">
                          <a:extLst>
                            <a:ext uri="{FF2B5EF4-FFF2-40B4-BE49-F238E27FC236}">
                              <a16:creationId xmlns:a16="http://schemas.microsoft.com/office/drawing/2014/main" id="{E7181647-5757-4C4E-A82C-6D13F08F8A94}"/>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46" name="Group 92">
                        <a:extLst>
                          <a:ext uri="{FF2B5EF4-FFF2-40B4-BE49-F238E27FC236}">
                            <a16:creationId xmlns:a16="http://schemas.microsoft.com/office/drawing/2014/main" id="{09D2C305-6E45-4243-A76A-3C78397B922D}"/>
                          </a:ext>
                        </a:extLst>
                      </p:cNvPr>
                      <p:cNvGrpSpPr>
                        <a:grpSpLocks/>
                      </p:cNvGrpSpPr>
                      <p:nvPr/>
                    </p:nvGrpSpPr>
                    <p:grpSpPr bwMode="auto">
                      <a:xfrm>
                        <a:off x="672" y="1920"/>
                        <a:ext cx="144" cy="96"/>
                        <a:chOff x="528" y="1920"/>
                        <a:chExt cx="144" cy="96"/>
                      </a:xfrm>
                    </p:grpSpPr>
                    <p:sp>
                      <p:nvSpPr>
                        <p:cNvPr id="15547" name="Line 93">
                          <a:extLst>
                            <a:ext uri="{FF2B5EF4-FFF2-40B4-BE49-F238E27FC236}">
                              <a16:creationId xmlns:a16="http://schemas.microsoft.com/office/drawing/2014/main" id="{3388E051-BE57-4F9E-9DD1-3A824B9FE74E}"/>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8" name="Line 94">
                          <a:extLst>
                            <a:ext uri="{FF2B5EF4-FFF2-40B4-BE49-F238E27FC236}">
                              <a16:creationId xmlns:a16="http://schemas.microsoft.com/office/drawing/2014/main" id="{BFE6B973-B058-4A0D-A432-5E69A409A7C8}"/>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9" name="Line 95">
                          <a:extLst>
                            <a:ext uri="{FF2B5EF4-FFF2-40B4-BE49-F238E27FC236}">
                              <a16:creationId xmlns:a16="http://schemas.microsoft.com/office/drawing/2014/main" id="{6CC92312-CE90-4F91-A330-F0088BA1EA71}"/>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536" name="Group 96">
                      <a:extLst>
                        <a:ext uri="{FF2B5EF4-FFF2-40B4-BE49-F238E27FC236}">
                          <a16:creationId xmlns:a16="http://schemas.microsoft.com/office/drawing/2014/main" id="{CA02C9CE-F30A-4BC0-8682-227D31124F4A}"/>
                        </a:ext>
                      </a:extLst>
                    </p:cNvPr>
                    <p:cNvGrpSpPr>
                      <a:grpSpLocks/>
                    </p:cNvGrpSpPr>
                    <p:nvPr/>
                  </p:nvGrpSpPr>
                  <p:grpSpPr bwMode="auto">
                    <a:xfrm>
                      <a:off x="816" y="1920"/>
                      <a:ext cx="288" cy="96"/>
                      <a:chOff x="528" y="1920"/>
                      <a:chExt cx="288" cy="96"/>
                    </a:xfrm>
                  </p:grpSpPr>
                  <p:grpSp>
                    <p:nvGrpSpPr>
                      <p:cNvPr id="15537" name="Group 97">
                        <a:extLst>
                          <a:ext uri="{FF2B5EF4-FFF2-40B4-BE49-F238E27FC236}">
                            <a16:creationId xmlns:a16="http://schemas.microsoft.com/office/drawing/2014/main" id="{737E51D4-38EC-4C17-AA96-D3A50AD8458F}"/>
                          </a:ext>
                        </a:extLst>
                      </p:cNvPr>
                      <p:cNvGrpSpPr>
                        <a:grpSpLocks/>
                      </p:cNvGrpSpPr>
                      <p:nvPr/>
                    </p:nvGrpSpPr>
                    <p:grpSpPr bwMode="auto">
                      <a:xfrm>
                        <a:off x="528" y="1920"/>
                        <a:ext cx="144" cy="96"/>
                        <a:chOff x="528" y="1920"/>
                        <a:chExt cx="144" cy="96"/>
                      </a:xfrm>
                    </p:grpSpPr>
                    <p:sp>
                      <p:nvSpPr>
                        <p:cNvPr id="15542" name="Line 98">
                          <a:extLst>
                            <a:ext uri="{FF2B5EF4-FFF2-40B4-BE49-F238E27FC236}">
                              <a16:creationId xmlns:a16="http://schemas.microsoft.com/office/drawing/2014/main" id="{82C8DA9F-EA16-4DD8-922A-F0D418A4FA86}"/>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3" name="Line 99">
                          <a:extLst>
                            <a:ext uri="{FF2B5EF4-FFF2-40B4-BE49-F238E27FC236}">
                              <a16:creationId xmlns:a16="http://schemas.microsoft.com/office/drawing/2014/main" id="{79219A88-BD01-4FBD-9ED8-C0ECD15C66B9}"/>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4" name="Line 100">
                          <a:extLst>
                            <a:ext uri="{FF2B5EF4-FFF2-40B4-BE49-F238E27FC236}">
                              <a16:creationId xmlns:a16="http://schemas.microsoft.com/office/drawing/2014/main" id="{93D650C8-1D9C-4002-8B6E-0E3FB65287BA}"/>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38" name="Group 101">
                        <a:extLst>
                          <a:ext uri="{FF2B5EF4-FFF2-40B4-BE49-F238E27FC236}">
                            <a16:creationId xmlns:a16="http://schemas.microsoft.com/office/drawing/2014/main" id="{B62BAEAA-2B56-4A18-9FDA-CCABA16E1CFB}"/>
                          </a:ext>
                        </a:extLst>
                      </p:cNvPr>
                      <p:cNvGrpSpPr>
                        <a:grpSpLocks/>
                      </p:cNvGrpSpPr>
                      <p:nvPr/>
                    </p:nvGrpSpPr>
                    <p:grpSpPr bwMode="auto">
                      <a:xfrm>
                        <a:off x="672" y="1920"/>
                        <a:ext cx="144" cy="96"/>
                        <a:chOff x="528" y="1920"/>
                        <a:chExt cx="144" cy="96"/>
                      </a:xfrm>
                    </p:grpSpPr>
                    <p:sp>
                      <p:nvSpPr>
                        <p:cNvPr id="15539" name="Line 102">
                          <a:extLst>
                            <a:ext uri="{FF2B5EF4-FFF2-40B4-BE49-F238E27FC236}">
                              <a16:creationId xmlns:a16="http://schemas.microsoft.com/office/drawing/2014/main" id="{65D3C9CB-1D77-4094-ADB8-0197013D1172}"/>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0" name="Line 103">
                          <a:extLst>
                            <a:ext uri="{FF2B5EF4-FFF2-40B4-BE49-F238E27FC236}">
                              <a16:creationId xmlns:a16="http://schemas.microsoft.com/office/drawing/2014/main" id="{8EBAB133-19CB-46FB-AEB8-88621EFD15BE}"/>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41" name="Line 104">
                          <a:extLst>
                            <a:ext uri="{FF2B5EF4-FFF2-40B4-BE49-F238E27FC236}">
                              <a16:creationId xmlns:a16="http://schemas.microsoft.com/office/drawing/2014/main" id="{2F8FC3B1-A6FE-4FF1-81E3-CAC176498611}"/>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nvGrpSpPr>
                  <p:cNvPr id="15516" name="Group 105">
                    <a:extLst>
                      <a:ext uri="{FF2B5EF4-FFF2-40B4-BE49-F238E27FC236}">
                        <a16:creationId xmlns:a16="http://schemas.microsoft.com/office/drawing/2014/main" id="{67117591-BA46-4345-989F-AF0E98EB3678}"/>
                      </a:ext>
                    </a:extLst>
                  </p:cNvPr>
                  <p:cNvGrpSpPr>
                    <a:grpSpLocks/>
                  </p:cNvGrpSpPr>
                  <p:nvPr/>
                </p:nvGrpSpPr>
                <p:grpSpPr bwMode="auto">
                  <a:xfrm>
                    <a:off x="1104" y="1920"/>
                    <a:ext cx="576" cy="96"/>
                    <a:chOff x="528" y="1920"/>
                    <a:chExt cx="576" cy="96"/>
                  </a:xfrm>
                </p:grpSpPr>
                <p:grpSp>
                  <p:nvGrpSpPr>
                    <p:cNvPr id="15517" name="Group 106">
                      <a:extLst>
                        <a:ext uri="{FF2B5EF4-FFF2-40B4-BE49-F238E27FC236}">
                          <a16:creationId xmlns:a16="http://schemas.microsoft.com/office/drawing/2014/main" id="{7C9AA6FF-09F5-45B0-BF47-9A7A327C8314}"/>
                        </a:ext>
                      </a:extLst>
                    </p:cNvPr>
                    <p:cNvGrpSpPr>
                      <a:grpSpLocks/>
                    </p:cNvGrpSpPr>
                    <p:nvPr/>
                  </p:nvGrpSpPr>
                  <p:grpSpPr bwMode="auto">
                    <a:xfrm>
                      <a:off x="528" y="1920"/>
                      <a:ext cx="288" cy="96"/>
                      <a:chOff x="528" y="1920"/>
                      <a:chExt cx="288" cy="96"/>
                    </a:xfrm>
                  </p:grpSpPr>
                  <p:grpSp>
                    <p:nvGrpSpPr>
                      <p:cNvPr id="15527" name="Group 107">
                        <a:extLst>
                          <a:ext uri="{FF2B5EF4-FFF2-40B4-BE49-F238E27FC236}">
                            <a16:creationId xmlns:a16="http://schemas.microsoft.com/office/drawing/2014/main" id="{D6DA4D45-CCEB-48DA-93D4-3CB1E0E838AD}"/>
                          </a:ext>
                        </a:extLst>
                      </p:cNvPr>
                      <p:cNvGrpSpPr>
                        <a:grpSpLocks/>
                      </p:cNvGrpSpPr>
                      <p:nvPr/>
                    </p:nvGrpSpPr>
                    <p:grpSpPr bwMode="auto">
                      <a:xfrm>
                        <a:off x="528" y="1920"/>
                        <a:ext cx="144" cy="96"/>
                        <a:chOff x="528" y="1920"/>
                        <a:chExt cx="144" cy="96"/>
                      </a:xfrm>
                    </p:grpSpPr>
                    <p:sp>
                      <p:nvSpPr>
                        <p:cNvPr id="15532" name="Line 108">
                          <a:extLst>
                            <a:ext uri="{FF2B5EF4-FFF2-40B4-BE49-F238E27FC236}">
                              <a16:creationId xmlns:a16="http://schemas.microsoft.com/office/drawing/2014/main" id="{E13C3D6F-5072-4DF2-BE32-DBA0EF10ED02}"/>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3" name="Line 109">
                          <a:extLst>
                            <a:ext uri="{FF2B5EF4-FFF2-40B4-BE49-F238E27FC236}">
                              <a16:creationId xmlns:a16="http://schemas.microsoft.com/office/drawing/2014/main" id="{42BA633F-3E10-4563-B981-38BD5C0CE3E1}"/>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4" name="Line 110">
                          <a:extLst>
                            <a:ext uri="{FF2B5EF4-FFF2-40B4-BE49-F238E27FC236}">
                              <a16:creationId xmlns:a16="http://schemas.microsoft.com/office/drawing/2014/main" id="{339E2C7C-E513-4E78-AEB1-F809960E2825}"/>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28" name="Group 111">
                        <a:extLst>
                          <a:ext uri="{FF2B5EF4-FFF2-40B4-BE49-F238E27FC236}">
                            <a16:creationId xmlns:a16="http://schemas.microsoft.com/office/drawing/2014/main" id="{7430FC3C-5C8A-4515-8153-96B9433CD91F}"/>
                          </a:ext>
                        </a:extLst>
                      </p:cNvPr>
                      <p:cNvGrpSpPr>
                        <a:grpSpLocks/>
                      </p:cNvGrpSpPr>
                      <p:nvPr/>
                    </p:nvGrpSpPr>
                    <p:grpSpPr bwMode="auto">
                      <a:xfrm>
                        <a:off x="672" y="1920"/>
                        <a:ext cx="144" cy="96"/>
                        <a:chOff x="528" y="1920"/>
                        <a:chExt cx="144" cy="96"/>
                      </a:xfrm>
                    </p:grpSpPr>
                    <p:sp>
                      <p:nvSpPr>
                        <p:cNvPr id="15529" name="Line 112">
                          <a:extLst>
                            <a:ext uri="{FF2B5EF4-FFF2-40B4-BE49-F238E27FC236}">
                              <a16:creationId xmlns:a16="http://schemas.microsoft.com/office/drawing/2014/main" id="{114B43F1-FBA7-4B62-A572-D41C41BE9D6A}"/>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0" name="Line 113">
                          <a:extLst>
                            <a:ext uri="{FF2B5EF4-FFF2-40B4-BE49-F238E27FC236}">
                              <a16:creationId xmlns:a16="http://schemas.microsoft.com/office/drawing/2014/main" id="{F8C41B0E-FEED-4B69-A6B2-DBA078AAB606}"/>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31" name="Line 114">
                          <a:extLst>
                            <a:ext uri="{FF2B5EF4-FFF2-40B4-BE49-F238E27FC236}">
                              <a16:creationId xmlns:a16="http://schemas.microsoft.com/office/drawing/2014/main" id="{9D244637-43E2-4B70-AE92-086E8599DB87}"/>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518" name="Group 115">
                      <a:extLst>
                        <a:ext uri="{FF2B5EF4-FFF2-40B4-BE49-F238E27FC236}">
                          <a16:creationId xmlns:a16="http://schemas.microsoft.com/office/drawing/2014/main" id="{C32DAE62-0204-4EB1-931A-30575948846C}"/>
                        </a:ext>
                      </a:extLst>
                    </p:cNvPr>
                    <p:cNvGrpSpPr>
                      <a:grpSpLocks/>
                    </p:cNvGrpSpPr>
                    <p:nvPr/>
                  </p:nvGrpSpPr>
                  <p:grpSpPr bwMode="auto">
                    <a:xfrm>
                      <a:off x="816" y="1920"/>
                      <a:ext cx="288" cy="96"/>
                      <a:chOff x="528" y="1920"/>
                      <a:chExt cx="288" cy="96"/>
                    </a:xfrm>
                  </p:grpSpPr>
                  <p:grpSp>
                    <p:nvGrpSpPr>
                      <p:cNvPr id="15519" name="Group 116">
                        <a:extLst>
                          <a:ext uri="{FF2B5EF4-FFF2-40B4-BE49-F238E27FC236}">
                            <a16:creationId xmlns:a16="http://schemas.microsoft.com/office/drawing/2014/main" id="{C18BED2E-A1B7-404F-B037-96B20FA12ED3}"/>
                          </a:ext>
                        </a:extLst>
                      </p:cNvPr>
                      <p:cNvGrpSpPr>
                        <a:grpSpLocks/>
                      </p:cNvGrpSpPr>
                      <p:nvPr/>
                    </p:nvGrpSpPr>
                    <p:grpSpPr bwMode="auto">
                      <a:xfrm>
                        <a:off x="528" y="1920"/>
                        <a:ext cx="144" cy="96"/>
                        <a:chOff x="528" y="1920"/>
                        <a:chExt cx="144" cy="96"/>
                      </a:xfrm>
                    </p:grpSpPr>
                    <p:sp>
                      <p:nvSpPr>
                        <p:cNvPr id="15524" name="Line 117">
                          <a:extLst>
                            <a:ext uri="{FF2B5EF4-FFF2-40B4-BE49-F238E27FC236}">
                              <a16:creationId xmlns:a16="http://schemas.microsoft.com/office/drawing/2014/main" id="{3D1C1E38-F3C3-4DA5-B839-FF4659080A29}"/>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5" name="Line 118">
                          <a:extLst>
                            <a:ext uri="{FF2B5EF4-FFF2-40B4-BE49-F238E27FC236}">
                              <a16:creationId xmlns:a16="http://schemas.microsoft.com/office/drawing/2014/main" id="{6E1FFBE7-250B-42E0-AC9A-316A8750C2B7}"/>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6" name="Line 119">
                          <a:extLst>
                            <a:ext uri="{FF2B5EF4-FFF2-40B4-BE49-F238E27FC236}">
                              <a16:creationId xmlns:a16="http://schemas.microsoft.com/office/drawing/2014/main" id="{D651A5FB-386D-4FDE-A829-3CA70109DB5E}"/>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520" name="Group 120">
                        <a:extLst>
                          <a:ext uri="{FF2B5EF4-FFF2-40B4-BE49-F238E27FC236}">
                            <a16:creationId xmlns:a16="http://schemas.microsoft.com/office/drawing/2014/main" id="{7596DB8C-574C-41E0-9D58-58DB3AF72881}"/>
                          </a:ext>
                        </a:extLst>
                      </p:cNvPr>
                      <p:cNvGrpSpPr>
                        <a:grpSpLocks/>
                      </p:cNvGrpSpPr>
                      <p:nvPr/>
                    </p:nvGrpSpPr>
                    <p:grpSpPr bwMode="auto">
                      <a:xfrm>
                        <a:off x="672" y="1920"/>
                        <a:ext cx="144" cy="96"/>
                        <a:chOff x="528" y="1920"/>
                        <a:chExt cx="144" cy="96"/>
                      </a:xfrm>
                    </p:grpSpPr>
                    <p:sp>
                      <p:nvSpPr>
                        <p:cNvPr id="15521" name="Line 121">
                          <a:extLst>
                            <a:ext uri="{FF2B5EF4-FFF2-40B4-BE49-F238E27FC236}">
                              <a16:creationId xmlns:a16="http://schemas.microsoft.com/office/drawing/2014/main" id="{95908B53-953E-461F-9994-1A95E0E2BD4E}"/>
                            </a:ext>
                          </a:extLst>
                        </p:cNvPr>
                        <p:cNvSpPr>
                          <a:spLocks noChangeShapeType="1"/>
                        </p:cNvSpPr>
                        <p:nvPr/>
                      </p:nvSpPr>
                      <p:spPr bwMode="auto">
                        <a:xfrm>
                          <a:off x="528" y="1968"/>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2" name="Line 122">
                          <a:extLst>
                            <a:ext uri="{FF2B5EF4-FFF2-40B4-BE49-F238E27FC236}">
                              <a16:creationId xmlns:a16="http://schemas.microsoft.com/office/drawing/2014/main" id="{9FCFA867-1630-4DF5-88EF-CDE895D94802}"/>
                            </a:ext>
                          </a:extLst>
                        </p:cNvPr>
                        <p:cNvSpPr>
                          <a:spLocks noChangeShapeType="1"/>
                        </p:cNvSpPr>
                        <p:nvPr/>
                      </p:nvSpPr>
                      <p:spPr bwMode="auto">
                        <a:xfrm>
                          <a:off x="528"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523" name="Line 123">
                          <a:extLst>
                            <a:ext uri="{FF2B5EF4-FFF2-40B4-BE49-F238E27FC236}">
                              <a16:creationId xmlns:a16="http://schemas.microsoft.com/office/drawing/2014/main" id="{A47FB403-98CC-4574-8EFB-1BC60A05F711}"/>
                            </a:ext>
                          </a:extLst>
                        </p:cNvPr>
                        <p:cNvSpPr>
                          <a:spLocks noChangeShapeType="1"/>
                        </p:cNvSpPr>
                        <p:nvPr/>
                      </p:nvSpPr>
                      <p:spPr bwMode="auto">
                        <a:xfrm>
                          <a:off x="672" y="192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grpSp>
            <p:sp>
              <p:nvSpPr>
                <p:cNvPr id="15514" name="Line 124">
                  <a:extLst>
                    <a:ext uri="{FF2B5EF4-FFF2-40B4-BE49-F238E27FC236}">
                      <a16:creationId xmlns:a16="http://schemas.microsoft.com/office/drawing/2014/main" id="{580A2D37-61A2-4B5C-817A-55583DC5DD11}"/>
                    </a:ext>
                  </a:extLst>
                </p:cNvPr>
                <p:cNvSpPr>
                  <a:spLocks noChangeShapeType="1"/>
                </p:cNvSpPr>
                <p:nvPr/>
              </p:nvSpPr>
              <p:spPr bwMode="auto">
                <a:xfrm>
                  <a:off x="3888" y="1968"/>
                  <a:ext cx="24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5474" name="Oval 125">
                <a:extLst>
                  <a:ext uri="{FF2B5EF4-FFF2-40B4-BE49-F238E27FC236}">
                    <a16:creationId xmlns:a16="http://schemas.microsoft.com/office/drawing/2014/main" id="{98D40B96-9712-42E5-9D26-8E6BB4C6E7B0}"/>
                  </a:ext>
                </a:extLst>
              </p:cNvPr>
              <p:cNvSpPr>
                <a:spLocks noChangeArrowheads="1"/>
              </p:cNvSpPr>
              <p:nvPr/>
            </p:nvSpPr>
            <p:spPr bwMode="auto">
              <a:xfrm>
                <a:off x="512"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475" name="Oval 126">
                <a:extLst>
                  <a:ext uri="{FF2B5EF4-FFF2-40B4-BE49-F238E27FC236}">
                    <a16:creationId xmlns:a16="http://schemas.microsoft.com/office/drawing/2014/main" id="{21CA044E-F2D3-4814-8927-B7615E1AABF0}"/>
                  </a:ext>
                </a:extLst>
              </p:cNvPr>
              <p:cNvSpPr>
                <a:spLocks noChangeArrowheads="1"/>
              </p:cNvSpPr>
              <p:nvPr/>
            </p:nvSpPr>
            <p:spPr bwMode="auto">
              <a:xfrm>
                <a:off x="648" y="19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nvGrpSpPr>
              <p:cNvPr id="15476" name="Group 127">
                <a:extLst>
                  <a:ext uri="{FF2B5EF4-FFF2-40B4-BE49-F238E27FC236}">
                    <a16:creationId xmlns:a16="http://schemas.microsoft.com/office/drawing/2014/main" id="{5CAA1C49-E7F5-43BB-A36B-233F8EAEED3B}"/>
                  </a:ext>
                </a:extLst>
              </p:cNvPr>
              <p:cNvGrpSpPr>
                <a:grpSpLocks/>
              </p:cNvGrpSpPr>
              <p:nvPr/>
            </p:nvGrpSpPr>
            <p:grpSpPr bwMode="auto">
              <a:xfrm>
                <a:off x="940" y="1944"/>
                <a:ext cx="620" cy="52"/>
                <a:chOff x="940" y="1944"/>
                <a:chExt cx="620" cy="52"/>
              </a:xfrm>
            </p:grpSpPr>
            <p:sp>
              <p:nvSpPr>
                <p:cNvPr id="15506" name="Oval 128">
                  <a:extLst>
                    <a:ext uri="{FF2B5EF4-FFF2-40B4-BE49-F238E27FC236}">
                      <a16:creationId xmlns:a16="http://schemas.microsoft.com/office/drawing/2014/main" id="{5C256692-5288-4508-AC32-44F0FC7FD182}"/>
                    </a:ext>
                  </a:extLst>
                </p:cNvPr>
                <p:cNvSpPr>
                  <a:spLocks noChangeArrowheads="1"/>
                </p:cNvSpPr>
                <p:nvPr/>
              </p:nvSpPr>
              <p:spPr bwMode="auto">
                <a:xfrm>
                  <a:off x="940"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7" name="Oval 129">
                  <a:extLst>
                    <a:ext uri="{FF2B5EF4-FFF2-40B4-BE49-F238E27FC236}">
                      <a16:creationId xmlns:a16="http://schemas.microsoft.com/office/drawing/2014/main" id="{D4A28FB3-7FDD-40CC-A908-A4DCCA32B2D5}"/>
                    </a:ext>
                  </a:extLst>
                </p:cNvPr>
                <p:cNvSpPr>
                  <a:spLocks noChangeArrowheads="1"/>
                </p:cNvSpPr>
                <p:nvPr/>
              </p:nvSpPr>
              <p:spPr bwMode="auto">
                <a:xfrm>
                  <a:off x="1084"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8" name="Oval 130">
                  <a:extLst>
                    <a:ext uri="{FF2B5EF4-FFF2-40B4-BE49-F238E27FC236}">
                      <a16:creationId xmlns:a16="http://schemas.microsoft.com/office/drawing/2014/main" id="{68DD4FA8-EBFB-42AA-AE84-E4A1EF96D1FF}"/>
                    </a:ext>
                  </a:extLst>
                </p:cNvPr>
                <p:cNvSpPr>
                  <a:spLocks noChangeArrowheads="1"/>
                </p:cNvSpPr>
                <p:nvPr/>
              </p:nvSpPr>
              <p:spPr bwMode="auto">
                <a:xfrm>
                  <a:off x="1224" y="19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9" name="Oval 131">
                  <a:extLst>
                    <a:ext uri="{FF2B5EF4-FFF2-40B4-BE49-F238E27FC236}">
                      <a16:creationId xmlns:a16="http://schemas.microsoft.com/office/drawing/2014/main" id="{E83368EF-E75F-4DD2-8928-593AE1D0F145}"/>
                    </a:ext>
                  </a:extLst>
                </p:cNvPr>
                <p:cNvSpPr>
                  <a:spLocks noChangeArrowheads="1"/>
                </p:cNvSpPr>
                <p:nvPr/>
              </p:nvSpPr>
              <p:spPr bwMode="auto">
                <a:xfrm>
                  <a:off x="1368"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10" name="Oval 132">
                  <a:extLst>
                    <a:ext uri="{FF2B5EF4-FFF2-40B4-BE49-F238E27FC236}">
                      <a16:creationId xmlns:a16="http://schemas.microsoft.com/office/drawing/2014/main" id="{FABC2052-D4D2-447B-9639-2E0D355814CC}"/>
                    </a:ext>
                  </a:extLst>
                </p:cNvPr>
                <p:cNvSpPr>
                  <a:spLocks noChangeArrowheads="1"/>
                </p:cNvSpPr>
                <p:nvPr/>
              </p:nvSpPr>
              <p:spPr bwMode="auto">
                <a:xfrm>
                  <a:off x="1512" y="19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nvGrpSpPr>
              <p:cNvPr id="15477" name="Group 133">
                <a:extLst>
                  <a:ext uri="{FF2B5EF4-FFF2-40B4-BE49-F238E27FC236}">
                    <a16:creationId xmlns:a16="http://schemas.microsoft.com/office/drawing/2014/main" id="{4DBF6F54-A9DD-4729-9104-5A8BC1DDAB65}"/>
                  </a:ext>
                </a:extLst>
              </p:cNvPr>
              <p:cNvGrpSpPr>
                <a:grpSpLocks/>
              </p:cNvGrpSpPr>
              <p:nvPr/>
            </p:nvGrpSpPr>
            <p:grpSpPr bwMode="auto">
              <a:xfrm>
                <a:off x="1804" y="1948"/>
                <a:ext cx="620" cy="52"/>
                <a:chOff x="940" y="1944"/>
                <a:chExt cx="620" cy="52"/>
              </a:xfrm>
            </p:grpSpPr>
            <p:sp>
              <p:nvSpPr>
                <p:cNvPr id="15501" name="Oval 134">
                  <a:extLst>
                    <a:ext uri="{FF2B5EF4-FFF2-40B4-BE49-F238E27FC236}">
                      <a16:creationId xmlns:a16="http://schemas.microsoft.com/office/drawing/2014/main" id="{E7A9F66E-69C4-41E9-B6A2-D46E252A6D8A}"/>
                    </a:ext>
                  </a:extLst>
                </p:cNvPr>
                <p:cNvSpPr>
                  <a:spLocks noChangeArrowheads="1"/>
                </p:cNvSpPr>
                <p:nvPr/>
              </p:nvSpPr>
              <p:spPr bwMode="auto">
                <a:xfrm>
                  <a:off x="940"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2" name="Oval 135">
                  <a:extLst>
                    <a:ext uri="{FF2B5EF4-FFF2-40B4-BE49-F238E27FC236}">
                      <a16:creationId xmlns:a16="http://schemas.microsoft.com/office/drawing/2014/main" id="{97308A5B-FFDE-4391-B733-505442FA8887}"/>
                    </a:ext>
                  </a:extLst>
                </p:cNvPr>
                <p:cNvSpPr>
                  <a:spLocks noChangeArrowheads="1"/>
                </p:cNvSpPr>
                <p:nvPr/>
              </p:nvSpPr>
              <p:spPr bwMode="auto">
                <a:xfrm>
                  <a:off x="1084"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3" name="Oval 136">
                  <a:extLst>
                    <a:ext uri="{FF2B5EF4-FFF2-40B4-BE49-F238E27FC236}">
                      <a16:creationId xmlns:a16="http://schemas.microsoft.com/office/drawing/2014/main" id="{18261C15-1C44-4A33-9558-254F4DA87908}"/>
                    </a:ext>
                  </a:extLst>
                </p:cNvPr>
                <p:cNvSpPr>
                  <a:spLocks noChangeArrowheads="1"/>
                </p:cNvSpPr>
                <p:nvPr/>
              </p:nvSpPr>
              <p:spPr bwMode="auto">
                <a:xfrm>
                  <a:off x="1224" y="19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4" name="Oval 137">
                  <a:extLst>
                    <a:ext uri="{FF2B5EF4-FFF2-40B4-BE49-F238E27FC236}">
                      <a16:creationId xmlns:a16="http://schemas.microsoft.com/office/drawing/2014/main" id="{A06CA059-0CBA-4801-A217-9D3B95FB7C93}"/>
                    </a:ext>
                  </a:extLst>
                </p:cNvPr>
                <p:cNvSpPr>
                  <a:spLocks noChangeArrowheads="1"/>
                </p:cNvSpPr>
                <p:nvPr/>
              </p:nvSpPr>
              <p:spPr bwMode="auto">
                <a:xfrm>
                  <a:off x="1368"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5" name="Oval 138">
                  <a:extLst>
                    <a:ext uri="{FF2B5EF4-FFF2-40B4-BE49-F238E27FC236}">
                      <a16:creationId xmlns:a16="http://schemas.microsoft.com/office/drawing/2014/main" id="{2210FCAE-1DC3-46A4-A271-0915332901A2}"/>
                    </a:ext>
                  </a:extLst>
                </p:cNvPr>
                <p:cNvSpPr>
                  <a:spLocks noChangeArrowheads="1"/>
                </p:cNvSpPr>
                <p:nvPr/>
              </p:nvSpPr>
              <p:spPr bwMode="auto">
                <a:xfrm>
                  <a:off x="1512" y="19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nvGrpSpPr>
              <p:cNvPr id="15478" name="Group 139">
                <a:extLst>
                  <a:ext uri="{FF2B5EF4-FFF2-40B4-BE49-F238E27FC236}">
                    <a16:creationId xmlns:a16="http://schemas.microsoft.com/office/drawing/2014/main" id="{3456F5B7-2B02-4E3A-92C4-CA77B3607BD0}"/>
                  </a:ext>
                </a:extLst>
              </p:cNvPr>
              <p:cNvGrpSpPr>
                <a:grpSpLocks/>
              </p:cNvGrpSpPr>
              <p:nvPr/>
            </p:nvGrpSpPr>
            <p:grpSpPr bwMode="auto">
              <a:xfrm>
                <a:off x="2668" y="1952"/>
                <a:ext cx="620" cy="52"/>
                <a:chOff x="940" y="1944"/>
                <a:chExt cx="620" cy="52"/>
              </a:xfrm>
            </p:grpSpPr>
            <p:sp>
              <p:nvSpPr>
                <p:cNvPr id="15496" name="Oval 140">
                  <a:extLst>
                    <a:ext uri="{FF2B5EF4-FFF2-40B4-BE49-F238E27FC236}">
                      <a16:creationId xmlns:a16="http://schemas.microsoft.com/office/drawing/2014/main" id="{D443CC59-294D-4C63-AC8B-22059983717D}"/>
                    </a:ext>
                  </a:extLst>
                </p:cNvPr>
                <p:cNvSpPr>
                  <a:spLocks noChangeArrowheads="1"/>
                </p:cNvSpPr>
                <p:nvPr/>
              </p:nvSpPr>
              <p:spPr bwMode="auto">
                <a:xfrm>
                  <a:off x="940"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497" name="Oval 141">
                  <a:extLst>
                    <a:ext uri="{FF2B5EF4-FFF2-40B4-BE49-F238E27FC236}">
                      <a16:creationId xmlns:a16="http://schemas.microsoft.com/office/drawing/2014/main" id="{D1AA0FED-4E54-45AC-80E1-3960A0360F6B}"/>
                    </a:ext>
                  </a:extLst>
                </p:cNvPr>
                <p:cNvSpPr>
                  <a:spLocks noChangeArrowheads="1"/>
                </p:cNvSpPr>
                <p:nvPr/>
              </p:nvSpPr>
              <p:spPr bwMode="auto">
                <a:xfrm>
                  <a:off x="1084"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498" name="Oval 142">
                  <a:extLst>
                    <a:ext uri="{FF2B5EF4-FFF2-40B4-BE49-F238E27FC236}">
                      <a16:creationId xmlns:a16="http://schemas.microsoft.com/office/drawing/2014/main" id="{E76D48FB-B326-4C93-9B69-737F2370F623}"/>
                    </a:ext>
                  </a:extLst>
                </p:cNvPr>
                <p:cNvSpPr>
                  <a:spLocks noChangeArrowheads="1"/>
                </p:cNvSpPr>
                <p:nvPr/>
              </p:nvSpPr>
              <p:spPr bwMode="auto">
                <a:xfrm>
                  <a:off x="1224" y="19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499" name="Oval 143">
                  <a:extLst>
                    <a:ext uri="{FF2B5EF4-FFF2-40B4-BE49-F238E27FC236}">
                      <a16:creationId xmlns:a16="http://schemas.microsoft.com/office/drawing/2014/main" id="{0D673C38-EC25-4777-ADFD-02EF0C517B2F}"/>
                    </a:ext>
                  </a:extLst>
                </p:cNvPr>
                <p:cNvSpPr>
                  <a:spLocks noChangeArrowheads="1"/>
                </p:cNvSpPr>
                <p:nvPr/>
              </p:nvSpPr>
              <p:spPr bwMode="auto">
                <a:xfrm>
                  <a:off x="1368" y="194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500" name="Oval 144">
                  <a:extLst>
                    <a:ext uri="{FF2B5EF4-FFF2-40B4-BE49-F238E27FC236}">
                      <a16:creationId xmlns:a16="http://schemas.microsoft.com/office/drawing/2014/main" id="{D9E7A471-EC19-4E9F-90CA-5B706E75C44C}"/>
                    </a:ext>
                  </a:extLst>
                </p:cNvPr>
                <p:cNvSpPr>
                  <a:spLocks noChangeArrowheads="1"/>
                </p:cNvSpPr>
                <p:nvPr/>
              </p:nvSpPr>
              <p:spPr bwMode="auto">
                <a:xfrm>
                  <a:off x="1512" y="19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nvGrpSpPr>
              <p:cNvPr id="15479" name="Group 145">
                <a:extLst>
                  <a:ext uri="{FF2B5EF4-FFF2-40B4-BE49-F238E27FC236}">
                    <a16:creationId xmlns:a16="http://schemas.microsoft.com/office/drawing/2014/main" id="{A3ED9E86-21D7-4642-A0DE-51941BC8C537}"/>
                  </a:ext>
                </a:extLst>
              </p:cNvPr>
              <p:cNvGrpSpPr>
                <a:grpSpLocks/>
              </p:cNvGrpSpPr>
              <p:nvPr/>
            </p:nvGrpSpPr>
            <p:grpSpPr bwMode="auto">
              <a:xfrm>
                <a:off x="3528" y="1948"/>
                <a:ext cx="476" cy="52"/>
                <a:chOff x="1728" y="1248"/>
                <a:chExt cx="476" cy="52"/>
              </a:xfrm>
            </p:grpSpPr>
            <p:sp>
              <p:nvSpPr>
                <p:cNvPr id="15492" name="Oval 146">
                  <a:extLst>
                    <a:ext uri="{FF2B5EF4-FFF2-40B4-BE49-F238E27FC236}">
                      <a16:creationId xmlns:a16="http://schemas.microsoft.com/office/drawing/2014/main" id="{CCEA8CA4-D66F-4341-8B96-18C00D2A2F41}"/>
                    </a:ext>
                  </a:extLst>
                </p:cNvPr>
                <p:cNvSpPr>
                  <a:spLocks noChangeArrowheads="1"/>
                </p:cNvSpPr>
                <p:nvPr/>
              </p:nvSpPr>
              <p:spPr bwMode="auto">
                <a:xfrm>
                  <a:off x="1728" y="12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493" name="Oval 147">
                  <a:extLst>
                    <a:ext uri="{FF2B5EF4-FFF2-40B4-BE49-F238E27FC236}">
                      <a16:creationId xmlns:a16="http://schemas.microsoft.com/office/drawing/2014/main" id="{954EBBBB-AF6D-47D1-BE42-C3D176E08786}"/>
                    </a:ext>
                  </a:extLst>
                </p:cNvPr>
                <p:cNvSpPr>
                  <a:spLocks noChangeArrowheads="1"/>
                </p:cNvSpPr>
                <p:nvPr/>
              </p:nvSpPr>
              <p:spPr bwMode="auto">
                <a:xfrm>
                  <a:off x="1872" y="12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494" name="Oval 148">
                  <a:extLst>
                    <a:ext uri="{FF2B5EF4-FFF2-40B4-BE49-F238E27FC236}">
                      <a16:creationId xmlns:a16="http://schemas.microsoft.com/office/drawing/2014/main" id="{B20C37AE-969E-486C-AF29-E746ABA0BCBB}"/>
                    </a:ext>
                  </a:extLst>
                </p:cNvPr>
                <p:cNvSpPr>
                  <a:spLocks noChangeArrowheads="1"/>
                </p:cNvSpPr>
                <p:nvPr/>
              </p:nvSpPr>
              <p:spPr bwMode="auto">
                <a:xfrm>
                  <a:off x="2012" y="1252"/>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15495" name="Oval 149">
                  <a:extLst>
                    <a:ext uri="{FF2B5EF4-FFF2-40B4-BE49-F238E27FC236}">
                      <a16:creationId xmlns:a16="http://schemas.microsoft.com/office/drawing/2014/main" id="{1E21F2C9-F0DA-4536-A44D-B4F98A10B0D8}"/>
                    </a:ext>
                  </a:extLst>
                </p:cNvPr>
                <p:cNvSpPr>
                  <a:spLocks noChangeArrowheads="1"/>
                </p:cNvSpPr>
                <p:nvPr/>
              </p:nvSpPr>
              <p:spPr bwMode="auto">
                <a:xfrm>
                  <a:off x="2156" y="1248"/>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nvGrpSpPr>
              <p:cNvPr id="15480" name="Group 150">
                <a:extLst>
                  <a:ext uri="{FF2B5EF4-FFF2-40B4-BE49-F238E27FC236}">
                    <a16:creationId xmlns:a16="http://schemas.microsoft.com/office/drawing/2014/main" id="{06B6EBB3-7C2F-44C3-9963-76C0156CFD34}"/>
                  </a:ext>
                </a:extLst>
              </p:cNvPr>
              <p:cNvGrpSpPr>
                <a:grpSpLocks/>
              </p:cNvGrpSpPr>
              <p:nvPr/>
            </p:nvGrpSpPr>
            <p:grpSpPr bwMode="auto">
              <a:xfrm>
                <a:off x="788" y="1680"/>
                <a:ext cx="48" cy="288"/>
                <a:chOff x="1224" y="2304"/>
                <a:chExt cx="48" cy="288"/>
              </a:xfrm>
            </p:grpSpPr>
            <p:sp>
              <p:nvSpPr>
                <p:cNvPr id="15490" name="Line 151">
                  <a:extLst>
                    <a:ext uri="{FF2B5EF4-FFF2-40B4-BE49-F238E27FC236}">
                      <a16:creationId xmlns:a16="http://schemas.microsoft.com/office/drawing/2014/main" id="{4F3A355E-9D14-4CE7-81FD-E6853749ED97}"/>
                    </a:ext>
                  </a:extLst>
                </p:cNvPr>
                <p:cNvSpPr>
                  <a:spLocks noChangeShapeType="1"/>
                </p:cNvSpPr>
                <p:nvPr/>
              </p:nvSpPr>
              <p:spPr bwMode="auto">
                <a:xfrm>
                  <a:off x="1248" y="2352"/>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91" name="Oval 152">
                  <a:extLst>
                    <a:ext uri="{FF2B5EF4-FFF2-40B4-BE49-F238E27FC236}">
                      <a16:creationId xmlns:a16="http://schemas.microsoft.com/office/drawing/2014/main" id="{74A32F20-B775-40C2-9BE4-86A5F5637051}"/>
                    </a:ext>
                  </a:extLst>
                </p:cNvPr>
                <p:cNvSpPr>
                  <a:spLocks noChangeArrowheads="1"/>
                </p:cNvSpPr>
                <p:nvPr/>
              </p:nvSpPr>
              <p:spPr bwMode="auto">
                <a:xfrm>
                  <a:off x="1224" y="230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nvGrpSpPr>
              <p:cNvPr id="15481" name="Group 153">
                <a:extLst>
                  <a:ext uri="{FF2B5EF4-FFF2-40B4-BE49-F238E27FC236}">
                    <a16:creationId xmlns:a16="http://schemas.microsoft.com/office/drawing/2014/main" id="{22F39DB6-7836-4F43-AE88-CA1D667E8A9A}"/>
                  </a:ext>
                </a:extLst>
              </p:cNvPr>
              <p:cNvGrpSpPr>
                <a:grpSpLocks/>
              </p:cNvGrpSpPr>
              <p:nvPr/>
            </p:nvGrpSpPr>
            <p:grpSpPr bwMode="auto">
              <a:xfrm>
                <a:off x="1652" y="1680"/>
                <a:ext cx="48" cy="288"/>
                <a:chOff x="1224" y="2304"/>
                <a:chExt cx="48" cy="288"/>
              </a:xfrm>
            </p:grpSpPr>
            <p:sp>
              <p:nvSpPr>
                <p:cNvPr id="15488" name="Line 154">
                  <a:extLst>
                    <a:ext uri="{FF2B5EF4-FFF2-40B4-BE49-F238E27FC236}">
                      <a16:creationId xmlns:a16="http://schemas.microsoft.com/office/drawing/2014/main" id="{226A0148-2697-4207-8308-9EAF6A50AA03}"/>
                    </a:ext>
                  </a:extLst>
                </p:cNvPr>
                <p:cNvSpPr>
                  <a:spLocks noChangeShapeType="1"/>
                </p:cNvSpPr>
                <p:nvPr/>
              </p:nvSpPr>
              <p:spPr bwMode="auto">
                <a:xfrm>
                  <a:off x="1248" y="2352"/>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9" name="Oval 155">
                  <a:extLst>
                    <a:ext uri="{FF2B5EF4-FFF2-40B4-BE49-F238E27FC236}">
                      <a16:creationId xmlns:a16="http://schemas.microsoft.com/office/drawing/2014/main" id="{23DBBA7B-DEC1-4998-9FB1-F329A2F7F1E3}"/>
                    </a:ext>
                  </a:extLst>
                </p:cNvPr>
                <p:cNvSpPr>
                  <a:spLocks noChangeArrowheads="1"/>
                </p:cNvSpPr>
                <p:nvPr/>
              </p:nvSpPr>
              <p:spPr bwMode="auto">
                <a:xfrm>
                  <a:off x="1224" y="230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nvGrpSpPr>
              <p:cNvPr id="15482" name="Group 156">
                <a:extLst>
                  <a:ext uri="{FF2B5EF4-FFF2-40B4-BE49-F238E27FC236}">
                    <a16:creationId xmlns:a16="http://schemas.microsoft.com/office/drawing/2014/main" id="{D8A70448-1C8E-4FD3-B402-D39A6205D088}"/>
                  </a:ext>
                </a:extLst>
              </p:cNvPr>
              <p:cNvGrpSpPr>
                <a:grpSpLocks/>
              </p:cNvGrpSpPr>
              <p:nvPr/>
            </p:nvGrpSpPr>
            <p:grpSpPr bwMode="auto">
              <a:xfrm>
                <a:off x="2516" y="1684"/>
                <a:ext cx="48" cy="288"/>
                <a:chOff x="1224" y="2304"/>
                <a:chExt cx="48" cy="288"/>
              </a:xfrm>
            </p:grpSpPr>
            <p:sp>
              <p:nvSpPr>
                <p:cNvPr id="15486" name="Line 157">
                  <a:extLst>
                    <a:ext uri="{FF2B5EF4-FFF2-40B4-BE49-F238E27FC236}">
                      <a16:creationId xmlns:a16="http://schemas.microsoft.com/office/drawing/2014/main" id="{22C414C3-0BA9-4210-A5DF-88097E6A0FAF}"/>
                    </a:ext>
                  </a:extLst>
                </p:cNvPr>
                <p:cNvSpPr>
                  <a:spLocks noChangeShapeType="1"/>
                </p:cNvSpPr>
                <p:nvPr/>
              </p:nvSpPr>
              <p:spPr bwMode="auto">
                <a:xfrm>
                  <a:off x="1248" y="2352"/>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7" name="Oval 158">
                  <a:extLst>
                    <a:ext uri="{FF2B5EF4-FFF2-40B4-BE49-F238E27FC236}">
                      <a16:creationId xmlns:a16="http://schemas.microsoft.com/office/drawing/2014/main" id="{A7BC1083-F363-4EF2-AA8E-F05585C31BB3}"/>
                    </a:ext>
                  </a:extLst>
                </p:cNvPr>
                <p:cNvSpPr>
                  <a:spLocks noChangeArrowheads="1"/>
                </p:cNvSpPr>
                <p:nvPr/>
              </p:nvSpPr>
              <p:spPr bwMode="auto">
                <a:xfrm>
                  <a:off x="1224" y="230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nvGrpSpPr>
              <p:cNvPr id="15483" name="Group 159">
                <a:extLst>
                  <a:ext uri="{FF2B5EF4-FFF2-40B4-BE49-F238E27FC236}">
                    <a16:creationId xmlns:a16="http://schemas.microsoft.com/office/drawing/2014/main" id="{02E1E262-17D4-4334-8AFE-404DE2D3B826}"/>
                  </a:ext>
                </a:extLst>
              </p:cNvPr>
              <p:cNvGrpSpPr>
                <a:grpSpLocks/>
              </p:cNvGrpSpPr>
              <p:nvPr/>
            </p:nvGrpSpPr>
            <p:grpSpPr bwMode="auto">
              <a:xfrm>
                <a:off x="3380" y="1680"/>
                <a:ext cx="48" cy="288"/>
                <a:chOff x="1224" y="2304"/>
                <a:chExt cx="48" cy="288"/>
              </a:xfrm>
            </p:grpSpPr>
            <p:sp>
              <p:nvSpPr>
                <p:cNvPr id="15484" name="Line 160">
                  <a:extLst>
                    <a:ext uri="{FF2B5EF4-FFF2-40B4-BE49-F238E27FC236}">
                      <a16:creationId xmlns:a16="http://schemas.microsoft.com/office/drawing/2014/main" id="{6C51D1C2-D204-405B-8076-1F0616E2E078}"/>
                    </a:ext>
                  </a:extLst>
                </p:cNvPr>
                <p:cNvSpPr>
                  <a:spLocks noChangeShapeType="1"/>
                </p:cNvSpPr>
                <p:nvPr/>
              </p:nvSpPr>
              <p:spPr bwMode="auto">
                <a:xfrm>
                  <a:off x="1248" y="2352"/>
                  <a:ext cx="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85" name="Oval 161">
                  <a:extLst>
                    <a:ext uri="{FF2B5EF4-FFF2-40B4-BE49-F238E27FC236}">
                      <a16:creationId xmlns:a16="http://schemas.microsoft.com/office/drawing/2014/main" id="{458EE68F-578D-4803-AD18-1A8A64F8602E}"/>
                    </a:ext>
                  </a:extLst>
                </p:cNvPr>
                <p:cNvSpPr>
                  <a:spLocks noChangeArrowheads="1"/>
                </p:cNvSpPr>
                <p:nvPr/>
              </p:nvSpPr>
              <p:spPr bwMode="auto">
                <a:xfrm>
                  <a:off x="1224" y="2304"/>
                  <a:ext cx="48" cy="48"/>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pSp>
        </p:grpSp>
        <p:sp>
          <p:nvSpPr>
            <p:cNvPr id="15465" name="Text Box 162">
              <a:extLst>
                <a:ext uri="{FF2B5EF4-FFF2-40B4-BE49-F238E27FC236}">
                  <a16:creationId xmlns:a16="http://schemas.microsoft.com/office/drawing/2014/main" id="{6C6C7693-8DCD-4587-B5FE-CD4D106C4EB4}"/>
                </a:ext>
              </a:extLst>
            </p:cNvPr>
            <p:cNvSpPr txBox="1">
              <a:spLocks noChangeArrowheads="1"/>
            </p:cNvSpPr>
            <p:nvPr/>
          </p:nvSpPr>
          <p:spPr bwMode="auto">
            <a:xfrm>
              <a:off x="2448" y="2016"/>
              <a:ext cx="240"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i="1">
                  <a:latin typeface="Times New Roman" panose="02020603050405020304" pitchFamily="18" charset="0"/>
                </a:rPr>
                <a:t>N</a:t>
              </a:r>
            </a:p>
          </p:txBody>
        </p:sp>
        <p:sp>
          <p:nvSpPr>
            <p:cNvPr id="15466" name="Text Box 163">
              <a:extLst>
                <a:ext uri="{FF2B5EF4-FFF2-40B4-BE49-F238E27FC236}">
                  <a16:creationId xmlns:a16="http://schemas.microsoft.com/office/drawing/2014/main" id="{58C131D9-ACB3-4518-B10F-21C92B36DE86}"/>
                </a:ext>
              </a:extLst>
            </p:cNvPr>
            <p:cNvSpPr txBox="1">
              <a:spLocks noChangeArrowheads="1"/>
            </p:cNvSpPr>
            <p:nvPr/>
          </p:nvSpPr>
          <p:spPr bwMode="auto">
            <a:xfrm>
              <a:off x="696" y="1984"/>
              <a:ext cx="240"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i="1">
                  <a:latin typeface="Times New Roman" panose="02020603050405020304" pitchFamily="18" charset="0"/>
                </a:rPr>
                <a:t>N</a:t>
              </a:r>
            </a:p>
          </p:txBody>
        </p:sp>
        <p:sp>
          <p:nvSpPr>
            <p:cNvPr id="15467" name="Text Box 164">
              <a:extLst>
                <a:ext uri="{FF2B5EF4-FFF2-40B4-BE49-F238E27FC236}">
                  <a16:creationId xmlns:a16="http://schemas.microsoft.com/office/drawing/2014/main" id="{F3F0B2B9-3AF1-4A31-81A6-831A97CE0BC8}"/>
                </a:ext>
              </a:extLst>
            </p:cNvPr>
            <p:cNvSpPr txBox="1">
              <a:spLocks noChangeArrowheads="1"/>
            </p:cNvSpPr>
            <p:nvPr/>
          </p:nvSpPr>
          <p:spPr bwMode="auto">
            <a:xfrm>
              <a:off x="616" y="1936"/>
              <a:ext cx="288"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a:t>
              </a:r>
            </a:p>
          </p:txBody>
        </p:sp>
        <p:grpSp>
          <p:nvGrpSpPr>
            <p:cNvPr id="15468" name="Group 165">
              <a:extLst>
                <a:ext uri="{FF2B5EF4-FFF2-40B4-BE49-F238E27FC236}">
                  <a16:creationId xmlns:a16="http://schemas.microsoft.com/office/drawing/2014/main" id="{6F42DBF7-C723-447C-9E02-2540E6A462AB}"/>
                </a:ext>
              </a:extLst>
            </p:cNvPr>
            <p:cNvGrpSpPr>
              <a:grpSpLocks/>
            </p:cNvGrpSpPr>
            <p:nvPr/>
          </p:nvGrpSpPr>
          <p:grpSpPr bwMode="auto">
            <a:xfrm>
              <a:off x="3216" y="1968"/>
              <a:ext cx="344" cy="213"/>
              <a:chOff x="3208" y="2032"/>
              <a:chExt cx="344" cy="213"/>
            </a:xfrm>
          </p:grpSpPr>
          <p:sp>
            <p:nvSpPr>
              <p:cNvPr id="15471" name="Text Box 166">
                <a:extLst>
                  <a:ext uri="{FF2B5EF4-FFF2-40B4-BE49-F238E27FC236}">
                    <a16:creationId xmlns:a16="http://schemas.microsoft.com/office/drawing/2014/main" id="{5FA43CC2-8A88-4ECD-99E1-B9107BFD2159}"/>
                  </a:ext>
                </a:extLst>
              </p:cNvPr>
              <p:cNvSpPr txBox="1">
                <a:spLocks noChangeArrowheads="1"/>
              </p:cNvSpPr>
              <p:nvPr/>
            </p:nvSpPr>
            <p:spPr bwMode="auto">
              <a:xfrm>
                <a:off x="3312" y="2064"/>
                <a:ext cx="240"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i="1">
                    <a:latin typeface="Times New Roman" panose="02020603050405020304" pitchFamily="18" charset="0"/>
                  </a:rPr>
                  <a:t>N</a:t>
                </a:r>
              </a:p>
            </p:txBody>
          </p:sp>
          <p:sp>
            <p:nvSpPr>
              <p:cNvPr id="15472" name="Text Box 167">
                <a:extLst>
                  <a:ext uri="{FF2B5EF4-FFF2-40B4-BE49-F238E27FC236}">
                    <a16:creationId xmlns:a16="http://schemas.microsoft.com/office/drawing/2014/main" id="{B13C9510-CD2C-4586-A2F5-8ED8254830D8}"/>
                  </a:ext>
                </a:extLst>
              </p:cNvPr>
              <p:cNvSpPr txBox="1">
                <a:spLocks noChangeArrowheads="1"/>
              </p:cNvSpPr>
              <p:nvPr/>
            </p:nvSpPr>
            <p:spPr bwMode="auto">
              <a:xfrm>
                <a:off x="3208" y="2032"/>
                <a:ext cx="2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2</a:t>
                </a:r>
              </a:p>
            </p:txBody>
          </p:sp>
        </p:grpSp>
        <p:sp>
          <p:nvSpPr>
            <p:cNvPr id="15469" name="Text Box 168">
              <a:extLst>
                <a:ext uri="{FF2B5EF4-FFF2-40B4-BE49-F238E27FC236}">
                  <a16:creationId xmlns:a16="http://schemas.microsoft.com/office/drawing/2014/main" id="{A7B857E4-1953-4855-A84B-F0F634DE3653}"/>
                </a:ext>
              </a:extLst>
            </p:cNvPr>
            <p:cNvSpPr txBox="1">
              <a:spLocks noChangeArrowheads="1"/>
            </p:cNvSpPr>
            <p:nvPr/>
          </p:nvSpPr>
          <p:spPr bwMode="auto">
            <a:xfrm>
              <a:off x="1568" y="1968"/>
              <a:ext cx="14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0</a:t>
              </a:r>
            </a:p>
          </p:txBody>
        </p:sp>
        <p:sp>
          <p:nvSpPr>
            <p:cNvPr id="15470" name="Text Box 169">
              <a:extLst>
                <a:ext uri="{FF2B5EF4-FFF2-40B4-BE49-F238E27FC236}">
                  <a16:creationId xmlns:a16="http://schemas.microsoft.com/office/drawing/2014/main" id="{B67D2502-BD3D-40CA-8F65-58B99F81AA16}"/>
                </a:ext>
              </a:extLst>
            </p:cNvPr>
            <p:cNvSpPr txBox="1">
              <a:spLocks noChangeArrowheads="1"/>
            </p:cNvSpPr>
            <p:nvPr/>
          </p:nvSpPr>
          <p:spPr bwMode="auto">
            <a:xfrm>
              <a:off x="4000" y="1720"/>
              <a:ext cx="14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i="1">
                  <a:latin typeface="Times New Roman" panose="02020603050405020304" pitchFamily="18" charset="0"/>
                </a:rPr>
                <a:t>n</a:t>
              </a:r>
            </a:p>
          </p:txBody>
        </p:sp>
      </p:grpSp>
      <p:sp>
        <p:nvSpPr>
          <p:cNvPr id="15363" name="Text Box 170">
            <a:extLst>
              <a:ext uri="{FF2B5EF4-FFF2-40B4-BE49-F238E27FC236}">
                <a16:creationId xmlns:a16="http://schemas.microsoft.com/office/drawing/2014/main" id="{BBFAB92E-DB6D-43EA-864C-3D2FC415EE64}"/>
              </a:ext>
            </a:extLst>
          </p:cNvPr>
          <p:cNvSpPr txBox="1">
            <a:spLocks noChangeArrowheads="1"/>
          </p:cNvSpPr>
          <p:nvPr/>
        </p:nvSpPr>
        <p:spPr bwMode="auto">
          <a:xfrm>
            <a:off x="1252538" y="1397000"/>
            <a:ext cx="33972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ltLang="ro-RO" sz="2400">
              <a:latin typeface="Times New Roman" panose="02020603050405020304" pitchFamily="18" charset="0"/>
            </a:endParaRPr>
          </a:p>
        </p:txBody>
      </p:sp>
      <p:graphicFrame>
        <p:nvGraphicFramePr>
          <p:cNvPr id="15364" name="Object 171">
            <a:extLst>
              <a:ext uri="{FF2B5EF4-FFF2-40B4-BE49-F238E27FC236}">
                <a16:creationId xmlns:a16="http://schemas.microsoft.com/office/drawing/2014/main" id="{C520D1E6-F45F-4800-B7AC-4B2476D3CF16}"/>
              </a:ext>
            </a:extLst>
          </p:cNvPr>
          <p:cNvGraphicFramePr>
            <a:graphicFrameLocks noChangeAspect="1"/>
          </p:cNvGraphicFramePr>
          <p:nvPr/>
        </p:nvGraphicFramePr>
        <p:xfrm>
          <a:off x="6159500" y="779463"/>
          <a:ext cx="1384300" cy="584200"/>
        </p:xfrm>
        <a:graphic>
          <a:graphicData uri="http://schemas.openxmlformats.org/presentationml/2006/ole">
            <mc:AlternateContent xmlns:mc="http://schemas.openxmlformats.org/markup-compatibility/2006">
              <mc:Choice xmlns:v="urn:schemas-microsoft-com:vml" Requires="v">
                <p:oleObj spid="_x0000_s15629" name="Equation" r:id="rId4" imgW="558558" imgH="215806" progId="">
                  <p:embed/>
                </p:oleObj>
              </mc:Choice>
              <mc:Fallback>
                <p:oleObj name="Equation" r:id="rId4" imgW="558558" imgH="215806" progId="">
                  <p:embed/>
                  <p:pic>
                    <p:nvPicPr>
                      <p:cNvPr id="0" name="Object 17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59500" y="779463"/>
                        <a:ext cx="13843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5" name="Object 172">
            <a:extLst>
              <a:ext uri="{FF2B5EF4-FFF2-40B4-BE49-F238E27FC236}">
                <a16:creationId xmlns:a16="http://schemas.microsoft.com/office/drawing/2014/main" id="{689635E3-0A15-488B-B545-62FC5FED8D49}"/>
              </a:ext>
            </a:extLst>
          </p:cNvPr>
          <p:cNvGraphicFramePr>
            <a:graphicFrameLocks noChangeAspect="1"/>
          </p:cNvGraphicFramePr>
          <p:nvPr/>
        </p:nvGraphicFramePr>
        <p:xfrm>
          <a:off x="3328988" y="779463"/>
          <a:ext cx="636587" cy="561975"/>
        </p:xfrm>
        <a:graphic>
          <a:graphicData uri="http://schemas.openxmlformats.org/presentationml/2006/ole">
            <mc:AlternateContent xmlns:mc="http://schemas.openxmlformats.org/markup-compatibility/2006">
              <mc:Choice xmlns:v="urn:schemas-microsoft-com:vml" Requires="v">
                <p:oleObj spid="_x0000_s15630" name="Equation" r:id="rId6" imgW="266353" imgH="215619" progId="">
                  <p:embed/>
                </p:oleObj>
              </mc:Choice>
              <mc:Fallback>
                <p:oleObj name="Equation" r:id="rId6" imgW="266353" imgH="215619" progId="">
                  <p:embed/>
                  <p:pic>
                    <p:nvPicPr>
                      <p:cNvPr id="0" name="Object 17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28988" y="779463"/>
                        <a:ext cx="636587"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6" name="Object 173">
            <a:extLst>
              <a:ext uri="{FF2B5EF4-FFF2-40B4-BE49-F238E27FC236}">
                <a16:creationId xmlns:a16="http://schemas.microsoft.com/office/drawing/2014/main" id="{0CB7D1A9-573B-47D2-B9D7-E322BD012A02}"/>
              </a:ext>
            </a:extLst>
          </p:cNvPr>
          <p:cNvGraphicFramePr>
            <a:graphicFrameLocks noChangeAspect="1"/>
          </p:cNvGraphicFramePr>
          <p:nvPr/>
        </p:nvGraphicFramePr>
        <p:xfrm>
          <a:off x="1314450" y="762000"/>
          <a:ext cx="1184275" cy="561975"/>
        </p:xfrm>
        <a:graphic>
          <a:graphicData uri="http://schemas.openxmlformats.org/presentationml/2006/ole">
            <mc:AlternateContent xmlns:mc="http://schemas.openxmlformats.org/markup-compatibility/2006">
              <mc:Choice xmlns:v="urn:schemas-microsoft-com:vml" Requires="v">
                <p:oleObj spid="_x0000_s15631" name="Equation" r:id="rId8" imgW="494870" imgH="215713" progId="">
                  <p:embed/>
                </p:oleObj>
              </mc:Choice>
              <mc:Fallback>
                <p:oleObj name="Equation" r:id="rId8" imgW="494870" imgH="215713" progId="">
                  <p:embed/>
                  <p:pic>
                    <p:nvPicPr>
                      <p:cNvPr id="0" name="Object 17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4450" y="762000"/>
                        <a:ext cx="11842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67" name="Object 174">
            <a:extLst>
              <a:ext uri="{FF2B5EF4-FFF2-40B4-BE49-F238E27FC236}">
                <a16:creationId xmlns:a16="http://schemas.microsoft.com/office/drawing/2014/main" id="{1D21995F-CF35-4390-9316-D28C00AC2787}"/>
              </a:ext>
            </a:extLst>
          </p:cNvPr>
          <p:cNvGraphicFramePr>
            <a:graphicFrameLocks noChangeAspect="1"/>
          </p:cNvGraphicFramePr>
          <p:nvPr/>
        </p:nvGraphicFramePr>
        <p:xfrm>
          <a:off x="4649788" y="779463"/>
          <a:ext cx="1184275" cy="561975"/>
        </p:xfrm>
        <a:graphic>
          <a:graphicData uri="http://schemas.openxmlformats.org/presentationml/2006/ole">
            <mc:AlternateContent xmlns:mc="http://schemas.openxmlformats.org/markup-compatibility/2006">
              <mc:Choice xmlns:v="urn:schemas-microsoft-com:vml" Requires="v">
                <p:oleObj spid="_x0000_s15632" name="Equation" r:id="rId10" imgW="494870" imgH="215713" progId="">
                  <p:embed/>
                </p:oleObj>
              </mc:Choice>
              <mc:Fallback>
                <p:oleObj name="Equation" r:id="rId10" imgW="494870" imgH="215713" progId="">
                  <p:embed/>
                  <p:pic>
                    <p:nvPicPr>
                      <p:cNvPr id="0" name="Object 17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9788" y="779463"/>
                        <a:ext cx="1184275"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68" name="Text Box 175">
            <a:extLst>
              <a:ext uri="{FF2B5EF4-FFF2-40B4-BE49-F238E27FC236}">
                <a16:creationId xmlns:a16="http://schemas.microsoft.com/office/drawing/2014/main" id="{B2665FEF-EE8B-41CF-9A75-8EF1AA8A352D}"/>
              </a:ext>
            </a:extLst>
          </p:cNvPr>
          <p:cNvSpPr txBox="1">
            <a:spLocks noChangeArrowheads="1"/>
          </p:cNvSpPr>
          <p:nvPr/>
        </p:nvSpPr>
        <p:spPr bwMode="auto">
          <a:xfrm>
            <a:off x="1252538" y="5106988"/>
            <a:ext cx="22653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endParaRPr lang="en-US" altLang="ro-RO" sz="2400">
              <a:latin typeface="Times New Roman" panose="02020603050405020304" pitchFamily="18" charset="0"/>
            </a:endParaRPr>
          </a:p>
        </p:txBody>
      </p:sp>
      <p:grpSp>
        <p:nvGrpSpPr>
          <p:cNvPr id="15369" name="Group 176">
            <a:extLst>
              <a:ext uri="{FF2B5EF4-FFF2-40B4-BE49-F238E27FC236}">
                <a16:creationId xmlns:a16="http://schemas.microsoft.com/office/drawing/2014/main" id="{009FB98D-E749-4401-B448-4C5749F019D8}"/>
              </a:ext>
            </a:extLst>
          </p:cNvPr>
          <p:cNvGrpSpPr>
            <a:grpSpLocks/>
          </p:cNvGrpSpPr>
          <p:nvPr/>
        </p:nvGrpSpPr>
        <p:grpSpPr bwMode="auto">
          <a:xfrm>
            <a:off x="1063625" y="5313363"/>
            <a:ext cx="7550150" cy="307975"/>
            <a:chOff x="1248" y="1272"/>
            <a:chExt cx="3840" cy="144"/>
          </a:xfrm>
        </p:grpSpPr>
        <p:grpSp>
          <p:nvGrpSpPr>
            <p:cNvPr id="15409" name="Group 177">
              <a:extLst>
                <a:ext uri="{FF2B5EF4-FFF2-40B4-BE49-F238E27FC236}">
                  <a16:creationId xmlns:a16="http://schemas.microsoft.com/office/drawing/2014/main" id="{818F4347-8B54-4493-BEAE-7E353B868A2E}"/>
                </a:ext>
              </a:extLst>
            </p:cNvPr>
            <p:cNvGrpSpPr>
              <a:grpSpLocks/>
            </p:cNvGrpSpPr>
            <p:nvPr/>
          </p:nvGrpSpPr>
          <p:grpSpPr bwMode="auto">
            <a:xfrm>
              <a:off x="1248" y="1272"/>
              <a:ext cx="576" cy="144"/>
              <a:chOff x="1248" y="1272"/>
              <a:chExt cx="576" cy="144"/>
            </a:xfrm>
          </p:grpSpPr>
          <p:grpSp>
            <p:nvGrpSpPr>
              <p:cNvPr id="15456" name="Group 178">
                <a:extLst>
                  <a:ext uri="{FF2B5EF4-FFF2-40B4-BE49-F238E27FC236}">
                    <a16:creationId xmlns:a16="http://schemas.microsoft.com/office/drawing/2014/main" id="{5EB3B69E-A63F-4F4C-B590-CC6E0804E8B8}"/>
                  </a:ext>
                </a:extLst>
              </p:cNvPr>
              <p:cNvGrpSpPr>
                <a:grpSpLocks/>
              </p:cNvGrpSpPr>
              <p:nvPr/>
            </p:nvGrpSpPr>
            <p:grpSpPr bwMode="auto">
              <a:xfrm>
                <a:off x="1248" y="1272"/>
                <a:ext cx="288" cy="144"/>
                <a:chOff x="1248" y="1272"/>
                <a:chExt cx="288" cy="144"/>
              </a:xfrm>
            </p:grpSpPr>
            <p:sp>
              <p:nvSpPr>
                <p:cNvPr id="15461" name="Line 179">
                  <a:extLst>
                    <a:ext uri="{FF2B5EF4-FFF2-40B4-BE49-F238E27FC236}">
                      <a16:creationId xmlns:a16="http://schemas.microsoft.com/office/drawing/2014/main" id="{B3F9AA07-DDC4-4756-998C-BD390CC41900}"/>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2" name="Line 180">
                  <a:extLst>
                    <a:ext uri="{FF2B5EF4-FFF2-40B4-BE49-F238E27FC236}">
                      <a16:creationId xmlns:a16="http://schemas.microsoft.com/office/drawing/2014/main" id="{70E8887A-CDF7-468A-A101-D06D4F2D3080}"/>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3" name="Line 181">
                  <a:extLst>
                    <a:ext uri="{FF2B5EF4-FFF2-40B4-BE49-F238E27FC236}">
                      <a16:creationId xmlns:a16="http://schemas.microsoft.com/office/drawing/2014/main" id="{A8B4B80A-E0E8-4DC9-BF7C-748A481832F1}"/>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57" name="Group 182">
                <a:extLst>
                  <a:ext uri="{FF2B5EF4-FFF2-40B4-BE49-F238E27FC236}">
                    <a16:creationId xmlns:a16="http://schemas.microsoft.com/office/drawing/2014/main" id="{92FA8ED4-E174-42FF-A5D1-68A5698BA717}"/>
                  </a:ext>
                </a:extLst>
              </p:cNvPr>
              <p:cNvGrpSpPr>
                <a:grpSpLocks/>
              </p:cNvGrpSpPr>
              <p:nvPr/>
            </p:nvGrpSpPr>
            <p:grpSpPr bwMode="auto">
              <a:xfrm>
                <a:off x="1536" y="1272"/>
                <a:ext cx="288" cy="144"/>
                <a:chOff x="1248" y="1272"/>
                <a:chExt cx="288" cy="144"/>
              </a:xfrm>
            </p:grpSpPr>
            <p:sp>
              <p:nvSpPr>
                <p:cNvPr id="15458" name="Line 183">
                  <a:extLst>
                    <a:ext uri="{FF2B5EF4-FFF2-40B4-BE49-F238E27FC236}">
                      <a16:creationId xmlns:a16="http://schemas.microsoft.com/office/drawing/2014/main" id="{7C6549F0-CC3D-4666-9263-AA6DB6F2AA5A}"/>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9" name="Line 184">
                  <a:extLst>
                    <a:ext uri="{FF2B5EF4-FFF2-40B4-BE49-F238E27FC236}">
                      <a16:creationId xmlns:a16="http://schemas.microsoft.com/office/drawing/2014/main" id="{F1AF700C-4021-4666-BF57-4E633FFA57FE}"/>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60" name="Line 185">
                  <a:extLst>
                    <a:ext uri="{FF2B5EF4-FFF2-40B4-BE49-F238E27FC236}">
                      <a16:creationId xmlns:a16="http://schemas.microsoft.com/office/drawing/2014/main" id="{D8D458BD-7400-4EF4-B311-F95C9AA1986B}"/>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410" name="Group 186">
              <a:extLst>
                <a:ext uri="{FF2B5EF4-FFF2-40B4-BE49-F238E27FC236}">
                  <a16:creationId xmlns:a16="http://schemas.microsoft.com/office/drawing/2014/main" id="{FA5CB9D7-287C-45E6-947F-58C51646720A}"/>
                </a:ext>
              </a:extLst>
            </p:cNvPr>
            <p:cNvGrpSpPr>
              <a:grpSpLocks/>
            </p:cNvGrpSpPr>
            <p:nvPr/>
          </p:nvGrpSpPr>
          <p:grpSpPr bwMode="auto">
            <a:xfrm>
              <a:off x="1824" y="1272"/>
              <a:ext cx="576" cy="144"/>
              <a:chOff x="1248" y="1272"/>
              <a:chExt cx="576" cy="144"/>
            </a:xfrm>
          </p:grpSpPr>
          <p:grpSp>
            <p:nvGrpSpPr>
              <p:cNvPr id="15448" name="Group 187">
                <a:extLst>
                  <a:ext uri="{FF2B5EF4-FFF2-40B4-BE49-F238E27FC236}">
                    <a16:creationId xmlns:a16="http://schemas.microsoft.com/office/drawing/2014/main" id="{B05A7421-F88D-4031-90DD-24C5128A1358}"/>
                  </a:ext>
                </a:extLst>
              </p:cNvPr>
              <p:cNvGrpSpPr>
                <a:grpSpLocks/>
              </p:cNvGrpSpPr>
              <p:nvPr/>
            </p:nvGrpSpPr>
            <p:grpSpPr bwMode="auto">
              <a:xfrm>
                <a:off x="1248" y="1272"/>
                <a:ext cx="288" cy="144"/>
                <a:chOff x="1248" y="1272"/>
                <a:chExt cx="288" cy="144"/>
              </a:xfrm>
            </p:grpSpPr>
            <p:sp>
              <p:nvSpPr>
                <p:cNvPr id="15453" name="Line 188">
                  <a:extLst>
                    <a:ext uri="{FF2B5EF4-FFF2-40B4-BE49-F238E27FC236}">
                      <a16:creationId xmlns:a16="http://schemas.microsoft.com/office/drawing/2014/main" id="{108176D6-3726-476A-9108-DE591C2F8605}"/>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4" name="Line 189">
                  <a:extLst>
                    <a:ext uri="{FF2B5EF4-FFF2-40B4-BE49-F238E27FC236}">
                      <a16:creationId xmlns:a16="http://schemas.microsoft.com/office/drawing/2014/main" id="{D976FACC-2EB9-4FDC-8618-8D22DA8D4ABF}"/>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5" name="Line 190">
                  <a:extLst>
                    <a:ext uri="{FF2B5EF4-FFF2-40B4-BE49-F238E27FC236}">
                      <a16:creationId xmlns:a16="http://schemas.microsoft.com/office/drawing/2014/main" id="{3C6B8B74-8124-4324-82CF-352B24ADC6F8}"/>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9" name="Group 191">
                <a:extLst>
                  <a:ext uri="{FF2B5EF4-FFF2-40B4-BE49-F238E27FC236}">
                    <a16:creationId xmlns:a16="http://schemas.microsoft.com/office/drawing/2014/main" id="{A6D297F1-325F-490B-9FA8-1C3CB4C41D55}"/>
                  </a:ext>
                </a:extLst>
              </p:cNvPr>
              <p:cNvGrpSpPr>
                <a:grpSpLocks/>
              </p:cNvGrpSpPr>
              <p:nvPr/>
            </p:nvGrpSpPr>
            <p:grpSpPr bwMode="auto">
              <a:xfrm>
                <a:off x="1536" y="1272"/>
                <a:ext cx="288" cy="144"/>
                <a:chOff x="1248" y="1272"/>
                <a:chExt cx="288" cy="144"/>
              </a:xfrm>
            </p:grpSpPr>
            <p:sp>
              <p:nvSpPr>
                <p:cNvPr id="15450" name="Line 192">
                  <a:extLst>
                    <a:ext uri="{FF2B5EF4-FFF2-40B4-BE49-F238E27FC236}">
                      <a16:creationId xmlns:a16="http://schemas.microsoft.com/office/drawing/2014/main" id="{EF1E7A89-505A-46C5-8099-F217F66478CC}"/>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1" name="Line 193">
                  <a:extLst>
                    <a:ext uri="{FF2B5EF4-FFF2-40B4-BE49-F238E27FC236}">
                      <a16:creationId xmlns:a16="http://schemas.microsoft.com/office/drawing/2014/main" id="{B278F808-0AC3-43DF-AB1B-458F5999A155}"/>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52" name="Line 194">
                  <a:extLst>
                    <a:ext uri="{FF2B5EF4-FFF2-40B4-BE49-F238E27FC236}">
                      <a16:creationId xmlns:a16="http://schemas.microsoft.com/office/drawing/2014/main" id="{A7E6104B-3D02-473A-88EC-6A6493D891BD}"/>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411" name="Group 195">
              <a:extLst>
                <a:ext uri="{FF2B5EF4-FFF2-40B4-BE49-F238E27FC236}">
                  <a16:creationId xmlns:a16="http://schemas.microsoft.com/office/drawing/2014/main" id="{8C490DAC-470C-4446-9C83-F6F837EAFC1A}"/>
                </a:ext>
              </a:extLst>
            </p:cNvPr>
            <p:cNvGrpSpPr>
              <a:grpSpLocks/>
            </p:cNvGrpSpPr>
            <p:nvPr/>
          </p:nvGrpSpPr>
          <p:grpSpPr bwMode="auto">
            <a:xfrm>
              <a:off x="2400" y="1272"/>
              <a:ext cx="576" cy="144"/>
              <a:chOff x="1248" y="1272"/>
              <a:chExt cx="576" cy="144"/>
            </a:xfrm>
          </p:grpSpPr>
          <p:grpSp>
            <p:nvGrpSpPr>
              <p:cNvPr id="15440" name="Group 196">
                <a:extLst>
                  <a:ext uri="{FF2B5EF4-FFF2-40B4-BE49-F238E27FC236}">
                    <a16:creationId xmlns:a16="http://schemas.microsoft.com/office/drawing/2014/main" id="{2D1FD3A6-5A31-469C-A590-E951C4242E19}"/>
                  </a:ext>
                </a:extLst>
              </p:cNvPr>
              <p:cNvGrpSpPr>
                <a:grpSpLocks/>
              </p:cNvGrpSpPr>
              <p:nvPr/>
            </p:nvGrpSpPr>
            <p:grpSpPr bwMode="auto">
              <a:xfrm>
                <a:off x="1248" y="1272"/>
                <a:ext cx="288" cy="144"/>
                <a:chOff x="1248" y="1272"/>
                <a:chExt cx="288" cy="144"/>
              </a:xfrm>
            </p:grpSpPr>
            <p:sp>
              <p:nvSpPr>
                <p:cNvPr id="15445" name="Line 197">
                  <a:extLst>
                    <a:ext uri="{FF2B5EF4-FFF2-40B4-BE49-F238E27FC236}">
                      <a16:creationId xmlns:a16="http://schemas.microsoft.com/office/drawing/2014/main" id="{84701995-6C16-4B69-B44A-0F45FE1026F5}"/>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46" name="Line 198">
                  <a:extLst>
                    <a:ext uri="{FF2B5EF4-FFF2-40B4-BE49-F238E27FC236}">
                      <a16:creationId xmlns:a16="http://schemas.microsoft.com/office/drawing/2014/main" id="{F3224C3D-3D79-4024-B830-BB06A26A4260}"/>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47" name="Line 199">
                  <a:extLst>
                    <a:ext uri="{FF2B5EF4-FFF2-40B4-BE49-F238E27FC236}">
                      <a16:creationId xmlns:a16="http://schemas.microsoft.com/office/drawing/2014/main" id="{8258BB90-7994-400D-98A0-B2D8E470C52B}"/>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41" name="Group 200">
                <a:extLst>
                  <a:ext uri="{FF2B5EF4-FFF2-40B4-BE49-F238E27FC236}">
                    <a16:creationId xmlns:a16="http://schemas.microsoft.com/office/drawing/2014/main" id="{5F523B30-809B-4E3D-B00F-DBB3D4442B30}"/>
                  </a:ext>
                </a:extLst>
              </p:cNvPr>
              <p:cNvGrpSpPr>
                <a:grpSpLocks/>
              </p:cNvGrpSpPr>
              <p:nvPr/>
            </p:nvGrpSpPr>
            <p:grpSpPr bwMode="auto">
              <a:xfrm>
                <a:off x="1536" y="1272"/>
                <a:ext cx="288" cy="144"/>
                <a:chOff x="1248" y="1272"/>
                <a:chExt cx="288" cy="144"/>
              </a:xfrm>
            </p:grpSpPr>
            <p:sp>
              <p:nvSpPr>
                <p:cNvPr id="15442" name="Line 201">
                  <a:extLst>
                    <a:ext uri="{FF2B5EF4-FFF2-40B4-BE49-F238E27FC236}">
                      <a16:creationId xmlns:a16="http://schemas.microsoft.com/office/drawing/2014/main" id="{DE18127F-6BB5-4A3B-BBC8-29CA1C308127}"/>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43" name="Line 202">
                  <a:extLst>
                    <a:ext uri="{FF2B5EF4-FFF2-40B4-BE49-F238E27FC236}">
                      <a16:creationId xmlns:a16="http://schemas.microsoft.com/office/drawing/2014/main" id="{7E1CE7E7-7625-44D4-8E6B-04ED8210B939}"/>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44" name="Line 203">
                  <a:extLst>
                    <a:ext uri="{FF2B5EF4-FFF2-40B4-BE49-F238E27FC236}">
                      <a16:creationId xmlns:a16="http://schemas.microsoft.com/office/drawing/2014/main" id="{C2EAA61A-9796-4547-AD85-AD3EE4715C56}"/>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412" name="Group 204">
              <a:extLst>
                <a:ext uri="{FF2B5EF4-FFF2-40B4-BE49-F238E27FC236}">
                  <a16:creationId xmlns:a16="http://schemas.microsoft.com/office/drawing/2014/main" id="{D7017A5E-4AC7-480B-9093-897142737EB3}"/>
                </a:ext>
              </a:extLst>
            </p:cNvPr>
            <p:cNvGrpSpPr>
              <a:grpSpLocks/>
            </p:cNvGrpSpPr>
            <p:nvPr/>
          </p:nvGrpSpPr>
          <p:grpSpPr bwMode="auto">
            <a:xfrm>
              <a:off x="2976" y="1272"/>
              <a:ext cx="576" cy="144"/>
              <a:chOff x="1248" y="1272"/>
              <a:chExt cx="576" cy="144"/>
            </a:xfrm>
          </p:grpSpPr>
          <p:grpSp>
            <p:nvGrpSpPr>
              <p:cNvPr id="15432" name="Group 205">
                <a:extLst>
                  <a:ext uri="{FF2B5EF4-FFF2-40B4-BE49-F238E27FC236}">
                    <a16:creationId xmlns:a16="http://schemas.microsoft.com/office/drawing/2014/main" id="{22C1F979-16B7-4288-ACAD-20EB58C8686C}"/>
                  </a:ext>
                </a:extLst>
              </p:cNvPr>
              <p:cNvGrpSpPr>
                <a:grpSpLocks/>
              </p:cNvGrpSpPr>
              <p:nvPr/>
            </p:nvGrpSpPr>
            <p:grpSpPr bwMode="auto">
              <a:xfrm>
                <a:off x="1248" y="1272"/>
                <a:ext cx="288" cy="144"/>
                <a:chOff x="1248" y="1272"/>
                <a:chExt cx="288" cy="144"/>
              </a:xfrm>
            </p:grpSpPr>
            <p:sp>
              <p:nvSpPr>
                <p:cNvPr id="15437" name="Line 206">
                  <a:extLst>
                    <a:ext uri="{FF2B5EF4-FFF2-40B4-BE49-F238E27FC236}">
                      <a16:creationId xmlns:a16="http://schemas.microsoft.com/office/drawing/2014/main" id="{DA18245C-F878-4041-B212-D2BF206DA254}"/>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38" name="Line 207">
                  <a:extLst>
                    <a:ext uri="{FF2B5EF4-FFF2-40B4-BE49-F238E27FC236}">
                      <a16:creationId xmlns:a16="http://schemas.microsoft.com/office/drawing/2014/main" id="{75BA0E63-363D-43B6-AB35-5863077DC410}"/>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39" name="Line 208">
                  <a:extLst>
                    <a:ext uri="{FF2B5EF4-FFF2-40B4-BE49-F238E27FC236}">
                      <a16:creationId xmlns:a16="http://schemas.microsoft.com/office/drawing/2014/main" id="{AC575403-A99C-4A51-93B4-390C23DBEF7A}"/>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33" name="Group 209">
                <a:extLst>
                  <a:ext uri="{FF2B5EF4-FFF2-40B4-BE49-F238E27FC236}">
                    <a16:creationId xmlns:a16="http://schemas.microsoft.com/office/drawing/2014/main" id="{A89E5881-DD69-4836-9E0F-D4F84D594FD3}"/>
                  </a:ext>
                </a:extLst>
              </p:cNvPr>
              <p:cNvGrpSpPr>
                <a:grpSpLocks/>
              </p:cNvGrpSpPr>
              <p:nvPr/>
            </p:nvGrpSpPr>
            <p:grpSpPr bwMode="auto">
              <a:xfrm>
                <a:off x="1536" y="1272"/>
                <a:ext cx="288" cy="144"/>
                <a:chOff x="1248" y="1272"/>
                <a:chExt cx="288" cy="144"/>
              </a:xfrm>
            </p:grpSpPr>
            <p:sp>
              <p:nvSpPr>
                <p:cNvPr id="15434" name="Line 210">
                  <a:extLst>
                    <a:ext uri="{FF2B5EF4-FFF2-40B4-BE49-F238E27FC236}">
                      <a16:creationId xmlns:a16="http://schemas.microsoft.com/office/drawing/2014/main" id="{197902A0-7431-4233-A868-12B206161DF8}"/>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35" name="Line 211">
                  <a:extLst>
                    <a:ext uri="{FF2B5EF4-FFF2-40B4-BE49-F238E27FC236}">
                      <a16:creationId xmlns:a16="http://schemas.microsoft.com/office/drawing/2014/main" id="{66A3F1CD-0FF0-4456-8717-98E3ED2D6CE3}"/>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36" name="Line 212">
                  <a:extLst>
                    <a:ext uri="{FF2B5EF4-FFF2-40B4-BE49-F238E27FC236}">
                      <a16:creationId xmlns:a16="http://schemas.microsoft.com/office/drawing/2014/main" id="{77ADA3B8-5299-4FA4-A8C9-08A6ED35875A}"/>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413" name="Group 213">
              <a:extLst>
                <a:ext uri="{FF2B5EF4-FFF2-40B4-BE49-F238E27FC236}">
                  <a16:creationId xmlns:a16="http://schemas.microsoft.com/office/drawing/2014/main" id="{58ACEE11-7635-4DA4-8962-65D36E252B48}"/>
                </a:ext>
              </a:extLst>
            </p:cNvPr>
            <p:cNvGrpSpPr>
              <a:grpSpLocks/>
            </p:cNvGrpSpPr>
            <p:nvPr/>
          </p:nvGrpSpPr>
          <p:grpSpPr bwMode="auto">
            <a:xfrm>
              <a:off x="3552" y="1272"/>
              <a:ext cx="576" cy="144"/>
              <a:chOff x="1248" y="1272"/>
              <a:chExt cx="576" cy="144"/>
            </a:xfrm>
          </p:grpSpPr>
          <p:grpSp>
            <p:nvGrpSpPr>
              <p:cNvPr id="15424" name="Group 214">
                <a:extLst>
                  <a:ext uri="{FF2B5EF4-FFF2-40B4-BE49-F238E27FC236}">
                    <a16:creationId xmlns:a16="http://schemas.microsoft.com/office/drawing/2014/main" id="{BE876588-F9CA-4B9A-84D5-ACFB387CD75B}"/>
                  </a:ext>
                </a:extLst>
              </p:cNvPr>
              <p:cNvGrpSpPr>
                <a:grpSpLocks/>
              </p:cNvGrpSpPr>
              <p:nvPr/>
            </p:nvGrpSpPr>
            <p:grpSpPr bwMode="auto">
              <a:xfrm>
                <a:off x="1248" y="1272"/>
                <a:ext cx="288" cy="144"/>
                <a:chOff x="1248" y="1272"/>
                <a:chExt cx="288" cy="144"/>
              </a:xfrm>
            </p:grpSpPr>
            <p:sp>
              <p:nvSpPr>
                <p:cNvPr id="15429" name="Line 215">
                  <a:extLst>
                    <a:ext uri="{FF2B5EF4-FFF2-40B4-BE49-F238E27FC236}">
                      <a16:creationId xmlns:a16="http://schemas.microsoft.com/office/drawing/2014/main" id="{598B1C48-D708-4209-9370-BEAEA6134A33}"/>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30" name="Line 216">
                  <a:extLst>
                    <a:ext uri="{FF2B5EF4-FFF2-40B4-BE49-F238E27FC236}">
                      <a16:creationId xmlns:a16="http://schemas.microsoft.com/office/drawing/2014/main" id="{FD2133E3-5902-42CA-9341-6965ECE60353}"/>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31" name="Line 217">
                  <a:extLst>
                    <a:ext uri="{FF2B5EF4-FFF2-40B4-BE49-F238E27FC236}">
                      <a16:creationId xmlns:a16="http://schemas.microsoft.com/office/drawing/2014/main" id="{806D19EA-7694-486F-ADA9-E37EB786B2A3}"/>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25" name="Group 218">
                <a:extLst>
                  <a:ext uri="{FF2B5EF4-FFF2-40B4-BE49-F238E27FC236}">
                    <a16:creationId xmlns:a16="http://schemas.microsoft.com/office/drawing/2014/main" id="{EE9AFA2F-00A8-4990-9E98-9E12FD862589}"/>
                  </a:ext>
                </a:extLst>
              </p:cNvPr>
              <p:cNvGrpSpPr>
                <a:grpSpLocks/>
              </p:cNvGrpSpPr>
              <p:nvPr/>
            </p:nvGrpSpPr>
            <p:grpSpPr bwMode="auto">
              <a:xfrm>
                <a:off x="1536" y="1272"/>
                <a:ext cx="288" cy="144"/>
                <a:chOff x="1248" y="1272"/>
                <a:chExt cx="288" cy="144"/>
              </a:xfrm>
            </p:grpSpPr>
            <p:sp>
              <p:nvSpPr>
                <p:cNvPr id="15426" name="Line 219">
                  <a:extLst>
                    <a:ext uri="{FF2B5EF4-FFF2-40B4-BE49-F238E27FC236}">
                      <a16:creationId xmlns:a16="http://schemas.microsoft.com/office/drawing/2014/main" id="{A0D00E92-0F7C-4658-9C88-E827D7093787}"/>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27" name="Line 220">
                  <a:extLst>
                    <a:ext uri="{FF2B5EF4-FFF2-40B4-BE49-F238E27FC236}">
                      <a16:creationId xmlns:a16="http://schemas.microsoft.com/office/drawing/2014/main" id="{BE4B8DBC-3D4A-4E56-A2CE-201656B16CA5}"/>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28" name="Line 221">
                  <a:extLst>
                    <a:ext uri="{FF2B5EF4-FFF2-40B4-BE49-F238E27FC236}">
                      <a16:creationId xmlns:a16="http://schemas.microsoft.com/office/drawing/2014/main" id="{D36E5A29-0FE1-4E28-B7A1-7A5944905340}"/>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grpSp>
          <p:nvGrpSpPr>
            <p:cNvPr id="15414" name="Group 222">
              <a:extLst>
                <a:ext uri="{FF2B5EF4-FFF2-40B4-BE49-F238E27FC236}">
                  <a16:creationId xmlns:a16="http://schemas.microsoft.com/office/drawing/2014/main" id="{78C1F9D7-DC45-45C9-9558-BB1FEE718997}"/>
                </a:ext>
              </a:extLst>
            </p:cNvPr>
            <p:cNvGrpSpPr>
              <a:grpSpLocks/>
            </p:cNvGrpSpPr>
            <p:nvPr/>
          </p:nvGrpSpPr>
          <p:grpSpPr bwMode="auto">
            <a:xfrm>
              <a:off x="4128" y="1272"/>
              <a:ext cx="576" cy="144"/>
              <a:chOff x="1248" y="1272"/>
              <a:chExt cx="576" cy="144"/>
            </a:xfrm>
          </p:grpSpPr>
          <p:grpSp>
            <p:nvGrpSpPr>
              <p:cNvPr id="15416" name="Group 223">
                <a:extLst>
                  <a:ext uri="{FF2B5EF4-FFF2-40B4-BE49-F238E27FC236}">
                    <a16:creationId xmlns:a16="http://schemas.microsoft.com/office/drawing/2014/main" id="{CAAFD1B9-0DCC-4733-BF68-A67A0F204730}"/>
                  </a:ext>
                </a:extLst>
              </p:cNvPr>
              <p:cNvGrpSpPr>
                <a:grpSpLocks/>
              </p:cNvGrpSpPr>
              <p:nvPr/>
            </p:nvGrpSpPr>
            <p:grpSpPr bwMode="auto">
              <a:xfrm>
                <a:off x="1248" y="1272"/>
                <a:ext cx="288" cy="144"/>
                <a:chOff x="1248" y="1272"/>
                <a:chExt cx="288" cy="144"/>
              </a:xfrm>
            </p:grpSpPr>
            <p:sp>
              <p:nvSpPr>
                <p:cNvPr id="15421" name="Line 224">
                  <a:extLst>
                    <a:ext uri="{FF2B5EF4-FFF2-40B4-BE49-F238E27FC236}">
                      <a16:creationId xmlns:a16="http://schemas.microsoft.com/office/drawing/2014/main" id="{8B923DD6-622F-4CBE-821D-5326C21DD7AA}"/>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22" name="Line 225">
                  <a:extLst>
                    <a:ext uri="{FF2B5EF4-FFF2-40B4-BE49-F238E27FC236}">
                      <a16:creationId xmlns:a16="http://schemas.microsoft.com/office/drawing/2014/main" id="{D0AAEE0F-795B-4D73-A7AB-5F83EF7085B1}"/>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23" name="Line 226">
                  <a:extLst>
                    <a:ext uri="{FF2B5EF4-FFF2-40B4-BE49-F238E27FC236}">
                      <a16:creationId xmlns:a16="http://schemas.microsoft.com/office/drawing/2014/main" id="{310C08E8-FB92-4B9F-9BCC-CE1D168B976D}"/>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5417" name="Group 227">
                <a:extLst>
                  <a:ext uri="{FF2B5EF4-FFF2-40B4-BE49-F238E27FC236}">
                    <a16:creationId xmlns:a16="http://schemas.microsoft.com/office/drawing/2014/main" id="{AF652BE1-FDD7-43BF-963A-4C13F37F6F7C}"/>
                  </a:ext>
                </a:extLst>
              </p:cNvPr>
              <p:cNvGrpSpPr>
                <a:grpSpLocks/>
              </p:cNvGrpSpPr>
              <p:nvPr/>
            </p:nvGrpSpPr>
            <p:grpSpPr bwMode="auto">
              <a:xfrm>
                <a:off x="1536" y="1272"/>
                <a:ext cx="288" cy="144"/>
                <a:chOff x="1248" y="1272"/>
                <a:chExt cx="288" cy="144"/>
              </a:xfrm>
            </p:grpSpPr>
            <p:sp>
              <p:nvSpPr>
                <p:cNvPr id="15418" name="Line 228">
                  <a:extLst>
                    <a:ext uri="{FF2B5EF4-FFF2-40B4-BE49-F238E27FC236}">
                      <a16:creationId xmlns:a16="http://schemas.microsoft.com/office/drawing/2014/main" id="{E2861BE1-58FF-45A2-ABF3-AFFD7F7723EB}"/>
                    </a:ext>
                  </a:extLst>
                </p:cNvPr>
                <p:cNvSpPr>
                  <a:spLocks noChangeShapeType="1"/>
                </p:cNvSpPr>
                <p:nvPr/>
              </p:nvSpPr>
              <p:spPr bwMode="auto">
                <a:xfrm>
                  <a:off x="1248" y="1344"/>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19" name="Line 229">
                  <a:extLst>
                    <a:ext uri="{FF2B5EF4-FFF2-40B4-BE49-F238E27FC236}">
                      <a16:creationId xmlns:a16="http://schemas.microsoft.com/office/drawing/2014/main" id="{08ACA1F3-9071-482C-9B9B-76B127F2A499}"/>
                    </a:ext>
                  </a:extLst>
                </p:cNvPr>
                <p:cNvSpPr>
                  <a:spLocks noChangeShapeType="1"/>
                </p:cNvSpPr>
                <p:nvPr/>
              </p:nvSpPr>
              <p:spPr bwMode="auto">
                <a:xfrm>
                  <a:off x="1248"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420" name="Line 230">
                  <a:extLst>
                    <a:ext uri="{FF2B5EF4-FFF2-40B4-BE49-F238E27FC236}">
                      <a16:creationId xmlns:a16="http://schemas.microsoft.com/office/drawing/2014/main" id="{B66BF82D-9CB3-41D3-96F6-3618315F3E05}"/>
                    </a:ext>
                  </a:extLst>
                </p:cNvPr>
                <p:cNvSpPr>
                  <a:spLocks noChangeShapeType="1"/>
                </p:cNvSpPr>
                <p:nvPr/>
              </p:nvSpPr>
              <p:spPr bwMode="auto">
                <a:xfrm>
                  <a:off x="1536" y="1272"/>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sp>
          <p:nvSpPr>
            <p:cNvPr id="15415" name="Line 231">
              <a:extLst>
                <a:ext uri="{FF2B5EF4-FFF2-40B4-BE49-F238E27FC236}">
                  <a16:creationId xmlns:a16="http://schemas.microsoft.com/office/drawing/2014/main" id="{53CE7A70-D443-4405-8259-83EEB387383B}"/>
                </a:ext>
              </a:extLst>
            </p:cNvPr>
            <p:cNvSpPr>
              <a:spLocks noChangeShapeType="1"/>
            </p:cNvSpPr>
            <p:nvPr/>
          </p:nvSpPr>
          <p:spPr bwMode="auto">
            <a:xfrm>
              <a:off x="4704" y="1344"/>
              <a:ext cx="38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5370" name="Line 232">
            <a:extLst>
              <a:ext uri="{FF2B5EF4-FFF2-40B4-BE49-F238E27FC236}">
                <a16:creationId xmlns:a16="http://schemas.microsoft.com/office/drawing/2014/main" id="{9B213E2F-E1FA-46AC-8AE2-BA42F491ACCD}"/>
              </a:ext>
            </a:extLst>
          </p:cNvPr>
          <p:cNvSpPr>
            <a:spLocks noChangeShapeType="1"/>
          </p:cNvSpPr>
          <p:nvPr/>
        </p:nvSpPr>
        <p:spPr bwMode="auto">
          <a:xfrm>
            <a:off x="1063625"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1" name="Line 233">
            <a:extLst>
              <a:ext uri="{FF2B5EF4-FFF2-40B4-BE49-F238E27FC236}">
                <a16:creationId xmlns:a16="http://schemas.microsoft.com/office/drawing/2014/main" id="{BE889A2D-3182-4708-9585-4BD14EEC75F0}"/>
              </a:ext>
            </a:extLst>
          </p:cNvPr>
          <p:cNvSpPr>
            <a:spLocks noChangeShapeType="1"/>
          </p:cNvSpPr>
          <p:nvPr/>
        </p:nvSpPr>
        <p:spPr bwMode="auto">
          <a:xfrm>
            <a:off x="1630363"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2" name="Line 234">
            <a:extLst>
              <a:ext uri="{FF2B5EF4-FFF2-40B4-BE49-F238E27FC236}">
                <a16:creationId xmlns:a16="http://schemas.microsoft.com/office/drawing/2014/main" id="{BD8BA0D2-CBBE-4C5F-890C-AF5C717FE6F3}"/>
              </a:ext>
            </a:extLst>
          </p:cNvPr>
          <p:cNvSpPr>
            <a:spLocks noChangeShapeType="1"/>
          </p:cNvSpPr>
          <p:nvPr/>
        </p:nvSpPr>
        <p:spPr bwMode="auto">
          <a:xfrm>
            <a:off x="2195513"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3" name="Line 235">
            <a:extLst>
              <a:ext uri="{FF2B5EF4-FFF2-40B4-BE49-F238E27FC236}">
                <a16:creationId xmlns:a16="http://schemas.microsoft.com/office/drawing/2014/main" id="{000CCEC2-4AA7-40D0-90BD-83B1D18C51CD}"/>
              </a:ext>
            </a:extLst>
          </p:cNvPr>
          <p:cNvSpPr>
            <a:spLocks noChangeShapeType="1"/>
          </p:cNvSpPr>
          <p:nvPr/>
        </p:nvSpPr>
        <p:spPr bwMode="auto">
          <a:xfrm>
            <a:off x="2762250"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4" name="Line 236">
            <a:extLst>
              <a:ext uri="{FF2B5EF4-FFF2-40B4-BE49-F238E27FC236}">
                <a16:creationId xmlns:a16="http://schemas.microsoft.com/office/drawing/2014/main" id="{F873C90C-A54E-45AB-904D-88BF21666777}"/>
              </a:ext>
            </a:extLst>
          </p:cNvPr>
          <p:cNvSpPr>
            <a:spLocks noChangeShapeType="1"/>
          </p:cNvSpPr>
          <p:nvPr/>
        </p:nvSpPr>
        <p:spPr bwMode="auto">
          <a:xfrm>
            <a:off x="3328988"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5" name="Line 237">
            <a:extLst>
              <a:ext uri="{FF2B5EF4-FFF2-40B4-BE49-F238E27FC236}">
                <a16:creationId xmlns:a16="http://schemas.microsoft.com/office/drawing/2014/main" id="{9C5C7F6E-F1D2-4033-A14C-F2A3E5094968}"/>
              </a:ext>
            </a:extLst>
          </p:cNvPr>
          <p:cNvSpPr>
            <a:spLocks noChangeShapeType="1"/>
          </p:cNvSpPr>
          <p:nvPr/>
        </p:nvSpPr>
        <p:spPr bwMode="auto">
          <a:xfrm>
            <a:off x="3894138" y="4127500"/>
            <a:ext cx="0" cy="1339850"/>
          </a:xfrm>
          <a:prstGeom prst="line">
            <a:avLst/>
          </a:prstGeom>
          <a:noFill/>
          <a:ln w="28575">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6" name="Line 238">
            <a:extLst>
              <a:ext uri="{FF2B5EF4-FFF2-40B4-BE49-F238E27FC236}">
                <a16:creationId xmlns:a16="http://schemas.microsoft.com/office/drawing/2014/main" id="{B187C123-4D51-4B90-BAAC-C54FB822C179}"/>
              </a:ext>
            </a:extLst>
          </p:cNvPr>
          <p:cNvSpPr>
            <a:spLocks noChangeShapeType="1"/>
          </p:cNvSpPr>
          <p:nvPr/>
        </p:nvSpPr>
        <p:spPr bwMode="auto">
          <a:xfrm>
            <a:off x="4460875" y="4127500"/>
            <a:ext cx="0" cy="1339850"/>
          </a:xfrm>
          <a:prstGeom prst="line">
            <a:avLst/>
          </a:prstGeom>
          <a:noFill/>
          <a:ln w="28575">
            <a:solidFill>
              <a:schemeClr val="accent2"/>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7" name="Line 239">
            <a:extLst>
              <a:ext uri="{FF2B5EF4-FFF2-40B4-BE49-F238E27FC236}">
                <a16:creationId xmlns:a16="http://schemas.microsoft.com/office/drawing/2014/main" id="{D9F6D309-2301-471A-B2A8-93C97C0B3545}"/>
              </a:ext>
            </a:extLst>
          </p:cNvPr>
          <p:cNvSpPr>
            <a:spLocks noChangeShapeType="1"/>
          </p:cNvSpPr>
          <p:nvPr/>
        </p:nvSpPr>
        <p:spPr bwMode="auto">
          <a:xfrm>
            <a:off x="5027613" y="4110038"/>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8" name="Line 240">
            <a:extLst>
              <a:ext uri="{FF2B5EF4-FFF2-40B4-BE49-F238E27FC236}">
                <a16:creationId xmlns:a16="http://schemas.microsoft.com/office/drawing/2014/main" id="{B2577F44-EA2E-4EA0-84A0-EBB4AA301F47}"/>
              </a:ext>
            </a:extLst>
          </p:cNvPr>
          <p:cNvSpPr>
            <a:spLocks noChangeShapeType="1"/>
          </p:cNvSpPr>
          <p:nvPr/>
        </p:nvSpPr>
        <p:spPr bwMode="auto">
          <a:xfrm>
            <a:off x="5594350"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79" name="Line 241">
            <a:extLst>
              <a:ext uri="{FF2B5EF4-FFF2-40B4-BE49-F238E27FC236}">
                <a16:creationId xmlns:a16="http://schemas.microsoft.com/office/drawing/2014/main" id="{93198EC3-A424-4A81-B3FA-571268D79682}"/>
              </a:ext>
            </a:extLst>
          </p:cNvPr>
          <p:cNvSpPr>
            <a:spLocks noChangeShapeType="1"/>
          </p:cNvSpPr>
          <p:nvPr/>
        </p:nvSpPr>
        <p:spPr bwMode="auto">
          <a:xfrm>
            <a:off x="6159500"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80" name="Line 242">
            <a:extLst>
              <a:ext uri="{FF2B5EF4-FFF2-40B4-BE49-F238E27FC236}">
                <a16:creationId xmlns:a16="http://schemas.microsoft.com/office/drawing/2014/main" id="{5CDF416C-15D9-4205-8A27-0AC0C3CDEC41}"/>
              </a:ext>
            </a:extLst>
          </p:cNvPr>
          <p:cNvSpPr>
            <a:spLocks noChangeShapeType="1"/>
          </p:cNvSpPr>
          <p:nvPr/>
        </p:nvSpPr>
        <p:spPr bwMode="auto">
          <a:xfrm>
            <a:off x="6726238"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81" name="Line 243">
            <a:extLst>
              <a:ext uri="{FF2B5EF4-FFF2-40B4-BE49-F238E27FC236}">
                <a16:creationId xmlns:a16="http://schemas.microsoft.com/office/drawing/2014/main" id="{6BD40ADB-54F7-45D5-8667-1AB97BC68725}"/>
              </a:ext>
            </a:extLst>
          </p:cNvPr>
          <p:cNvSpPr>
            <a:spLocks noChangeShapeType="1"/>
          </p:cNvSpPr>
          <p:nvPr/>
        </p:nvSpPr>
        <p:spPr bwMode="auto">
          <a:xfrm>
            <a:off x="7292975"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sp>
        <p:nvSpPr>
          <p:cNvPr id="15382" name="Line 244">
            <a:extLst>
              <a:ext uri="{FF2B5EF4-FFF2-40B4-BE49-F238E27FC236}">
                <a16:creationId xmlns:a16="http://schemas.microsoft.com/office/drawing/2014/main" id="{8BECE640-3785-490F-A652-AB7B6C2639A3}"/>
              </a:ext>
            </a:extLst>
          </p:cNvPr>
          <p:cNvSpPr>
            <a:spLocks noChangeShapeType="1"/>
          </p:cNvSpPr>
          <p:nvPr/>
        </p:nvSpPr>
        <p:spPr bwMode="auto">
          <a:xfrm>
            <a:off x="7859713" y="4127500"/>
            <a:ext cx="0" cy="133985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en-US"/>
          </a:p>
        </p:txBody>
      </p:sp>
      <p:graphicFrame>
        <p:nvGraphicFramePr>
          <p:cNvPr id="15383" name="Object 245">
            <a:extLst>
              <a:ext uri="{FF2B5EF4-FFF2-40B4-BE49-F238E27FC236}">
                <a16:creationId xmlns:a16="http://schemas.microsoft.com/office/drawing/2014/main" id="{B315669C-4B38-4C9A-84C1-71B03E6F1BA1}"/>
              </a:ext>
            </a:extLst>
          </p:cNvPr>
          <p:cNvGraphicFramePr>
            <a:graphicFrameLocks noChangeAspect="1"/>
          </p:cNvGraphicFramePr>
          <p:nvPr/>
        </p:nvGraphicFramePr>
        <p:xfrm>
          <a:off x="3140075" y="2840038"/>
          <a:ext cx="1698625" cy="725487"/>
        </p:xfrm>
        <a:graphic>
          <a:graphicData uri="http://schemas.openxmlformats.org/presentationml/2006/ole">
            <mc:AlternateContent xmlns:mc="http://schemas.openxmlformats.org/markup-compatibility/2006">
              <mc:Choice xmlns:v="urn:schemas-microsoft-com:vml" Requires="v">
                <p:oleObj spid="_x0000_s15633" name="Equation" r:id="rId12" imgW="583947" imgH="228501" progId="">
                  <p:embed/>
                </p:oleObj>
              </mc:Choice>
              <mc:Fallback>
                <p:oleObj name="Equation" r:id="rId12" imgW="583947" imgH="228501" progId="">
                  <p:embed/>
                  <p:pic>
                    <p:nvPicPr>
                      <p:cNvPr id="0" name="Object 24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0075" y="2840038"/>
                        <a:ext cx="1698625" cy="725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384" name="Object 246">
            <a:extLst>
              <a:ext uri="{FF2B5EF4-FFF2-40B4-BE49-F238E27FC236}">
                <a16:creationId xmlns:a16="http://schemas.microsoft.com/office/drawing/2014/main" id="{BA3FFB9D-9819-4847-894E-AE2D894A1C8C}"/>
              </a:ext>
            </a:extLst>
          </p:cNvPr>
          <p:cNvGraphicFramePr>
            <a:graphicFrameLocks noChangeAspect="1"/>
          </p:cNvGraphicFramePr>
          <p:nvPr/>
        </p:nvGraphicFramePr>
        <p:xfrm>
          <a:off x="8331200" y="4900613"/>
          <a:ext cx="471488" cy="473075"/>
        </p:xfrm>
        <a:graphic>
          <a:graphicData uri="http://schemas.openxmlformats.org/presentationml/2006/ole">
            <mc:AlternateContent xmlns:mc="http://schemas.openxmlformats.org/markup-compatibility/2006">
              <mc:Choice xmlns:v="urn:schemas-microsoft-com:vml" Requires="v">
                <p:oleObj spid="_x0000_s15634" name="Equation" r:id="rId14" imgW="152334" imgH="139639" progId="">
                  <p:embed/>
                </p:oleObj>
              </mc:Choice>
              <mc:Fallback>
                <p:oleObj name="Equation" r:id="rId14" imgW="152334" imgH="139639" progId="">
                  <p:embed/>
                  <p:pic>
                    <p:nvPicPr>
                      <p:cNvPr id="0" name="Object 24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331200" y="4900613"/>
                        <a:ext cx="471488"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5385" name="Group 247">
            <a:extLst>
              <a:ext uri="{FF2B5EF4-FFF2-40B4-BE49-F238E27FC236}">
                <a16:creationId xmlns:a16="http://schemas.microsoft.com/office/drawing/2014/main" id="{20864D59-0B7A-4D03-8EF8-C6DF3BB90D19}"/>
              </a:ext>
            </a:extLst>
          </p:cNvPr>
          <p:cNvGrpSpPr>
            <a:grpSpLocks/>
          </p:cNvGrpSpPr>
          <p:nvPr/>
        </p:nvGrpSpPr>
        <p:grpSpPr bwMode="auto">
          <a:xfrm>
            <a:off x="4271963" y="5518150"/>
            <a:ext cx="646112" cy="487363"/>
            <a:chOff x="2448" y="2448"/>
            <a:chExt cx="328" cy="227"/>
          </a:xfrm>
        </p:grpSpPr>
        <p:graphicFrame>
          <p:nvGraphicFramePr>
            <p:cNvPr id="15407" name="Object 248">
              <a:extLst>
                <a:ext uri="{FF2B5EF4-FFF2-40B4-BE49-F238E27FC236}">
                  <a16:creationId xmlns:a16="http://schemas.microsoft.com/office/drawing/2014/main" id="{531E1DB6-30DB-4B4C-AFD2-81B585033FB7}"/>
                </a:ext>
              </a:extLst>
            </p:cNvPr>
            <p:cNvGraphicFramePr>
              <a:graphicFrameLocks noChangeAspect="1"/>
            </p:cNvGraphicFramePr>
            <p:nvPr/>
          </p:nvGraphicFramePr>
          <p:xfrm>
            <a:off x="2448" y="2448"/>
            <a:ext cx="240" cy="220"/>
          </p:xfrm>
          <a:graphic>
            <a:graphicData uri="http://schemas.openxmlformats.org/presentationml/2006/ole">
              <mc:AlternateContent xmlns:mc="http://schemas.openxmlformats.org/markup-compatibility/2006">
                <mc:Choice xmlns:v="urn:schemas-microsoft-com:vml" Requires="v">
                  <p:oleObj spid="_x0000_s15635" name="Equation" r:id="rId16" imgW="152334" imgH="139639" progId="">
                    <p:embed/>
                  </p:oleObj>
                </mc:Choice>
                <mc:Fallback>
                  <p:oleObj name="Equation" r:id="rId16" imgW="152334" imgH="139639" progId="">
                    <p:embed/>
                    <p:pic>
                      <p:nvPicPr>
                        <p:cNvPr id="0" name="Object 24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48" y="2448"/>
                          <a:ext cx="2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08" name="Text Box 249">
              <a:extLst>
                <a:ext uri="{FF2B5EF4-FFF2-40B4-BE49-F238E27FC236}">
                  <a16:creationId xmlns:a16="http://schemas.microsoft.com/office/drawing/2014/main" id="{F9FF4FE0-7AD4-41F8-BAB7-EA987DDE8A00}"/>
                </a:ext>
              </a:extLst>
            </p:cNvPr>
            <p:cNvSpPr txBox="1">
              <a:spLocks noChangeArrowheads="1"/>
            </p:cNvSpPr>
            <p:nvPr/>
          </p:nvSpPr>
          <p:spPr bwMode="auto">
            <a:xfrm>
              <a:off x="2584" y="2504"/>
              <a:ext cx="19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a:latin typeface="Times New Roman" panose="02020603050405020304" pitchFamily="18" charset="0"/>
                </a:rPr>
                <a:t>0</a:t>
              </a:r>
            </a:p>
          </p:txBody>
        </p:sp>
      </p:grpSp>
      <p:sp>
        <p:nvSpPr>
          <p:cNvPr id="15386" name="Text Box 250">
            <a:extLst>
              <a:ext uri="{FF2B5EF4-FFF2-40B4-BE49-F238E27FC236}">
                <a16:creationId xmlns:a16="http://schemas.microsoft.com/office/drawing/2014/main" id="{C2F82B97-1C7B-4AEE-9334-2B8EB8D899F4}"/>
              </a:ext>
            </a:extLst>
          </p:cNvPr>
          <p:cNvSpPr txBox="1">
            <a:spLocks noChangeArrowheads="1"/>
          </p:cNvSpPr>
          <p:nvPr/>
        </p:nvSpPr>
        <p:spPr bwMode="auto">
          <a:xfrm>
            <a:off x="3706813" y="5518150"/>
            <a:ext cx="3762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solidFill>
                  <a:srgbClr val="FF3300"/>
                </a:solidFill>
                <a:latin typeface="Times New Roman" panose="02020603050405020304" pitchFamily="18" charset="0"/>
              </a:rPr>
              <a:t>0</a:t>
            </a:r>
          </a:p>
        </p:txBody>
      </p:sp>
      <p:grpSp>
        <p:nvGrpSpPr>
          <p:cNvPr id="15387" name="Group 251">
            <a:extLst>
              <a:ext uri="{FF2B5EF4-FFF2-40B4-BE49-F238E27FC236}">
                <a16:creationId xmlns:a16="http://schemas.microsoft.com/office/drawing/2014/main" id="{5F66E14F-4E74-4CE9-9BE2-A2C8BF48D260}"/>
              </a:ext>
            </a:extLst>
          </p:cNvPr>
          <p:cNvGrpSpPr>
            <a:grpSpLocks/>
          </p:cNvGrpSpPr>
          <p:nvPr/>
        </p:nvGrpSpPr>
        <p:grpSpPr bwMode="auto">
          <a:xfrm>
            <a:off x="5029200" y="5562600"/>
            <a:ext cx="1317625" cy="488950"/>
            <a:chOff x="3080" y="3360"/>
            <a:chExt cx="830" cy="308"/>
          </a:xfrm>
        </p:grpSpPr>
        <p:grpSp>
          <p:nvGrpSpPr>
            <p:cNvPr id="15403" name="Group 252">
              <a:extLst>
                <a:ext uri="{FF2B5EF4-FFF2-40B4-BE49-F238E27FC236}">
                  <a16:creationId xmlns:a16="http://schemas.microsoft.com/office/drawing/2014/main" id="{B2BC6801-2262-4D50-BBFC-A2F3CF59AAA6}"/>
                </a:ext>
              </a:extLst>
            </p:cNvPr>
            <p:cNvGrpSpPr>
              <a:grpSpLocks/>
            </p:cNvGrpSpPr>
            <p:nvPr/>
          </p:nvGrpSpPr>
          <p:grpSpPr bwMode="auto">
            <a:xfrm>
              <a:off x="3504" y="3360"/>
              <a:ext cx="406" cy="308"/>
              <a:chOff x="2448" y="2448"/>
              <a:chExt cx="328" cy="227"/>
            </a:xfrm>
          </p:grpSpPr>
          <p:graphicFrame>
            <p:nvGraphicFramePr>
              <p:cNvPr id="15405" name="Object 253">
                <a:extLst>
                  <a:ext uri="{FF2B5EF4-FFF2-40B4-BE49-F238E27FC236}">
                    <a16:creationId xmlns:a16="http://schemas.microsoft.com/office/drawing/2014/main" id="{38E3F280-8147-435C-B741-EA671D181E86}"/>
                  </a:ext>
                </a:extLst>
              </p:cNvPr>
              <p:cNvGraphicFramePr>
                <a:graphicFrameLocks noChangeAspect="1"/>
              </p:cNvGraphicFramePr>
              <p:nvPr/>
            </p:nvGraphicFramePr>
            <p:xfrm>
              <a:off x="2448" y="2448"/>
              <a:ext cx="240" cy="220"/>
            </p:xfrm>
            <a:graphic>
              <a:graphicData uri="http://schemas.openxmlformats.org/presentationml/2006/ole">
                <mc:AlternateContent xmlns:mc="http://schemas.openxmlformats.org/markup-compatibility/2006">
                  <mc:Choice xmlns:v="urn:schemas-microsoft-com:vml" Requires="v">
                    <p:oleObj spid="_x0000_s15636" name="Equation" r:id="rId18" imgW="152334" imgH="139639" progId="">
                      <p:embed/>
                    </p:oleObj>
                  </mc:Choice>
                  <mc:Fallback>
                    <p:oleObj name="Equation" r:id="rId18" imgW="152334" imgH="139639" progId="">
                      <p:embed/>
                      <p:pic>
                        <p:nvPicPr>
                          <p:cNvPr id="0" name="Object 2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48" y="2448"/>
                            <a:ext cx="2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06" name="Text Box 254">
                <a:extLst>
                  <a:ext uri="{FF2B5EF4-FFF2-40B4-BE49-F238E27FC236}">
                    <a16:creationId xmlns:a16="http://schemas.microsoft.com/office/drawing/2014/main" id="{3283E0F7-4201-463F-B85C-27E0F1A91C1D}"/>
                  </a:ext>
                </a:extLst>
              </p:cNvPr>
              <p:cNvSpPr txBox="1">
                <a:spLocks noChangeArrowheads="1"/>
              </p:cNvSpPr>
              <p:nvPr/>
            </p:nvSpPr>
            <p:spPr bwMode="auto">
              <a:xfrm>
                <a:off x="2584" y="2504"/>
                <a:ext cx="19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a:latin typeface="Times New Roman" panose="02020603050405020304" pitchFamily="18" charset="0"/>
                  </a:rPr>
                  <a:t>0</a:t>
                </a:r>
              </a:p>
            </p:txBody>
          </p:sp>
        </p:grpSp>
        <p:sp>
          <p:nvSpPr>
            <p:cNvPr id="15404" name="Text Box 255">
              <a:extLst>
                <a:ext uri="{FF2B5EF4-FFF2-40B4-BE49-F238E27FC236}">
                  <a16:creationId xmlns:a16="http://schemas.microsoft.com/office/drawing/2014/main" id="{CC9BB65F-8028-4053-B7FA-BD234E2E154A}"/>
                </a:ext>
              </a:extLst>
            </p:cNvPr>
            <p:cNvSpPr txBox="1">
              <a:spLocks noChangeArrowheads="1"/>
            </p:cNvSpPr>
            <p:nvPr/>
          </p:nvSpPr>
          <p:spPr bwMode="auto">
            <a:xfrm>
              <a:off x="3080" y="3360"/>
              <a:ext cx="57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a:t>
              </a:r>
              <a:r>
                <a:rPr lang="en-US" altLang="ro-RO" sz="2400" i="1">
                  <a:latin typeface="Times New Roman" panose="02020603050405020304" pitchFamily="18" charset="0"/>
                </a:rPr>
                <a:t>N</a:t>
              </a:r>
              <a:r>
                <a:rPr lang="en-US" altLang="ro-RO" sz="2400">
                  <a:latin typeface="Times New Roman" panose="02020603050405020304" pitchFamily="18" charset="0"/>
                </a:rPr>
                <a:t>-1)</a:t>
              </a:r>
            </a:p>
          </p:txBody>
        </p:sp>
      </p:grpSp>
      <p:grpSp>
        <p:nvGrpSpPr>
          <p:cNvPr id="15388" name="Group 256">
            <a:extLst>
              <a:ext uri="{FF2B5EF4-FFF2-40B4-BE49-F238E27FC236}">
                <a16:creationId xmlns:a16="http://schemas.microsoft.com/office/drawing/2014/main" id="{94F1F3D2-32BE-4879-94B7-CF6062A82D4A}"/>
              </a:ext>
            </a:extLst>
          </p:cNvPr>
          <p:cNvGrpSpPr>
            <a:grpSpLocks/>
          </p:cNvGrpSpPr>
          <p:nvPr/>
        </p:nvGrpSpPr>
        <p:grpSpPr bwMode="auto">
          <a:xfrm>
            <a:off x="2841625" y="5432425"/>
            <a:ext cx="927100" cy="590550"/>
            <a:chOff x="288" y="2352"/>
            <a:chExt cx="472" cy="275"/>
          </a:xfrm>
        </p:grpSpPr>
        <p:grpSp>
          <p:nvGrpSpPr>
            <p:cNvPr id="15399" name="Group 257">
              <a:extLst>
                <a:ext uri="{FF2B5EF4-FFF2-40B4-BE49-F238E27FC236}">
                  <a16:creationId xmlns:a16="http://schemas.microsoft.com/office/drawing/2014/main" id="{AD2BC224-EEFA-4029-8AB5-DB21BF040ECD}"/>
                </a:ext>
              </a:extLst>
            </p:cNvPr>
            <p:cNvGrpSpPr>
              <a:grpSpLocks/>
            </p:cNvGrpSpPr>
            <p:nvPr/>
          </p:nvGrpSpPr>
          <p:grpSpPr bwMode="auto">
            <a:xfrm>
              <a:off x="432" y="2400"/>
              <a:ext cx="328" cy="227"/>
              <a:chOff x="2448" y="2448"/>
              <a:chExt cx="328" cy="227"/>
            </a:xfrm>
          </p:grpSpPr>
          <p:graphicFrame>
            <p:nvGraphicFramePr>
              <p:cNvPr id="15401" name="Object 258">
                <a:extLst>
                  <a:ext uri="{FF2B5EF4-FFF2-40B4-BE49-F238E27FC236}">
                    <a16:creationId xmlns:a16="http://schemas.microsoft.com/office/drawing/2014/main" id="{DB451DB4-3889-4057-8084-6252DC0E42C6}"/>
                  </a:ext>
                </a:extLst>
              </p:cNvPr>
              <p:cNvGraphicFramePr>
                <a:graphicFrameLocks noChangeAspect="1"/>
              </p:cNvGraphicFramePr>
              <p:nvPr/>
            </p:nvGraphicFramePr>
            <p:xfrm>
              <a:off x="2448" y="2448"/>
              <a:ext cx="240" cy="220"/>
            </p:xfrm>
            <a:graphic>
              <a:graphicData uri="http://schemas.openxmlformats.org/presentationml/2006/ole">
                <mc:AlternateContent xmlns:mc="http://schemas.openxmlformats.org/markup-compatibility/2006">
                  <mc:Choice xmlns:v="urn:schemas-microsoft-com:vml" Requires="v">
                    <p:oleObj spid="_x0000_s15637" name="Equation" r:id="rId20" imgW="152334" imgH="139639" progId="">
                      <p:embed/>
                    </p:oleObj>
                  </mc:Choice>
                  <mc:Fallback>
                    <p:oleObj name="Equation" r:id="rId20" imgW="152334" imgH="139639" progId="">
                      <p:embed/>
                      <p:pic>
                        <p:nvPicPr>
                          <p:cNvPr id="0" name="Object 25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448" y="2448"/>
                            <a:ext cx="2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402" name="Text Box 259">
                <a:extLst>
                  <a:ext uri="{FF2B5EF4-FFF2-40B4-BE49-F238E27FC236}">
                    <a16:creationId xmlns:a16="http://schemas.microsoft.com/office/drawing/2014/main" id="{C4DDADEA-EE43-42B1-8993-FE3A5A94270B}"/>
                  </a:ext>
                </a:extLst>
              </p:cNvPr>
              <p:cNvSpPr txBox="1">
                <a:spLocks noChangeArrowheads="1"/>
              </p:cNvSpPr>
              <p:nvPr/>
            </p:nvSpPr>
            <p:spPr bwMode="auto">
              <a:xfrm>
                <a:off x="2584" y="2504"/>
                <a:ext cx="192"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a:latin typeface="Times New Roman" panose="02020603050405020304" pitchFamily="18" charset="0"/>
                  </a:rPr>
                  <a:t>0</a:t>
                </a:r>
              </a:p>
            </p:txBody>
          </p:sp>
        </p:grpSp>
        <p:sp>
          <p:nvSpPr>
            <p:cNvPr id="15400" name="Text Box 260">
              <a:extLst>
                <a:ext uri="{FF2B5EF4-FFF2-40B4-BE49-F238E27FC236}">
                  <a16:creationId xmlns:a16="http://schemas.microsoft.com/office/drawing/2014/main" id="{FD9C84C1-1AD1-4B72-9FB8-2896A82BA462}"/>
                </a:ext>
              </a:extLst>
            </p:cNvPr>
            <p:cNvSpPr txBox="1">
              <a:spLocks noChangeArrowheads="1"/>
            </p:cNvSpPr>
            <p:nvPr/>
          </p:nvSpPr>
          <p:spPr bwMode="auto">
            <a:xfrm>
              <a:off x="288" y="2352"/>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a:t>
              </a:r>
            </a:p>
          </p:txBody>
        </p:sp>
      </p:grpSp>
      <p:sp>
        <p:nvSpPr>
          <p:cNvPr id="15389" name="Text Box 261">
            <a:extLst>
              <a:ext uri="{FF2B5EF4-FFF2-40B4-BE49-F238E27FC236}">
                <a16:creationId xmlns:a16="http://schemas.microsoft.com/office/drawing/2014/main" id="{73D57668-856B-4AC6-A20B-24154CD0DD80}"/>
              </a:ext>
            </a:extLst>
          </p:cNvPr>
          <p:cNvSpPr txBox="1">
            <a:spLocks noChangeArrowheads="1"/>
          </p:cNvSpPr>
          <p:nvPr/>
        </p:nvSpPr>
        <p:spPr bwMode="auto">
          <a:xfrm>
            <a:off x="685800" y="5518150"/>
            <a:ext cx="755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-2</a:t>
            </a:r>
            <a:r>
              <a:rPr lang="el-GR" altLang="ro-RO" sz="2400">
                <a:latin typeface="Times New Roman" panose="02020603050405020304" pitchFamily="18" charset="0"/>
                <a:cs typeface="Times New Roman" panose="02020603050405020304" pitchFamily="18" charset="0"/>
              </a:rPr>
              <a:t>π</a:t>
            </a:r>
          </a:p>
        </p:txBody>
      </p:sp>
      <p:grpSp>
        <p:nvGrpSpPr>
          <p:cNvPr id="15390" name="Group 262">
            <a:extLst>
              <a:ext uri="{FF2B5EF4-FFF2-40B4-BE49-F238E27FC236}">
                <a16:creationId xmlns:a16="http://schemas.microsoft.com/office/drawing/2014/main" id="{686AB026-2649-4E2D-A924-154D2E198029}"/>
              </a:ext>
            </a:extLst>
          </p:cNvPr>
          <p:cNvGrpSpPr>
            <a:grpSpLocks/>
          </p:cNvGrpSpPr>
          <p:nvPr/>
        </p:nvGrpSpPr>
        <p:grpSpPr bwMode="auto">
          <a:xfrm>
            <a:off x="3140075" y="3646488"/>
            <a:ext cx="1320800" cy="619125"/>
            <a:chOff x="96" y="2521"/>
            <a:chExt cx="768" cy="359"/>
          </a:xfrm>
        </p:grpSpPr>
        <p:grpSp>
          <p:nvGrpSpPr>
            <p:cNvPr id="15395" name="Group 263">
              <a:extLst>
                <a:ext uri="{FF2B5EF4-FFF2-40B4-BE49-F238E27FC236}">
                  <a16:creationId xmlns:a16="http://schemas.microsoft.com/office/drawing/2014/main" id="{02A5F8E0-7C22-4076-A852-C4B2F62169FF}"/>
                </a:ext>
              </a:extLst>
            </p:cNvPr>
            <p:cNvGrpSpPr>
              <a:grpSpLocks/>
            </p:cNvGrpSpPr>
            <p:nvPr/>
          </p:nvGrpSpPr>
          <p:grpSpPr bwMode="auto">
            <a:xfrm>
              <a:off x="96" y="2592"/>
              <a:ext cx="328" cy="269"/>
              <a:chOff x="2448" y="2448"/>
              <a:chExt cx="328" cy="269"/>
            </a:xfrm>
          </p:grpSpPr>
          <p:graphicFrame>
            <p:nvGraphicFramePr>
              <p:cNvPr id="15397" name="Object 264">
                <a:extLst>
                  <a:ext uri="{FF2B5EF4-FFF2-40B4-BE49-F238E27FC236}">
                    <a16:creationId xmlns:a16="http://schemas.microsoft.com/office/drawing/2014/main" id="{E08B2B67-A0D6-4853-988F-69E91C62282C}"/>
                  </a:ext>
                </a:extLst>
              </p:cNvPr>
              <p:cNvGraphicFramePr>
                <a:graphicFrameLocks noChangeAspect="1"/>
              </p:cNvGraphicFramePr>
              <p:nvPr/>
            </p:nvGraphicFramePr>
            <p:xfrm>
              <a:off x="2448" y="2448"/>
              <a:ext cx="240" cy="220"/>
            </p:xfrm>
            <a:graphic>
              <a:graphicData uri="http://schemas.openxmlformats.org/presentationml/2006/ole">
                <mc:AlternateContent xmlns:mc="http://schemas.openxmlformats.org/markup-compatibility/2006">
                  <mc:Choice xmlns:v="urn:schemas-microsoft-com:vml" Requires="v">
                    <p:oleObj spid="_x0000_s15638" name="Equation" r:id="rId21" imgW="152334" imgH="139639" progId="">
                      <p:embed/>
                    </p:oleObj>
                  </mc:Choice>
                  <mc:Fallback>
                    <p:oleObj name="Equation" r:id="rId21" imgW="152334" imgH="139639" progId="">
                      <p:embed/>
                      <p:pic>
                        <p:nvPicPr>
                          <p:cNvPr id="0" name="Object 26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48" y="2448"/>
                            <a:ext cx="2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5398" name="Text Box 265">
                <a:extLst>
                  <a:ext uri="{FF2B5EF4-FFF2-40B4-BE49-F238E27FC236}">
                    <a16:creationId xmlns:a16="http://schemas.microsoft.com/office/drawing/2014/main" id="{B4BED30D-C27E-45FE-A8AE-77A685D4C9AB}"/>
                  </a:ext>
                </a:extLst>
              </p:cNvPr>
              <p:cNvSpPr txBox="1">
                <a:spLocks noChangeArrowheads="1"/>
              </p:cNvSpPr>
              <p:nvPr/>
            </p:nvSpPr>
            <p:spPr bwMode="auto">
              <a:xfrm>
                <a:off x="2584" y="2504"/>
                <a:ext cx="192"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a:solidFill>
                      <a:srgbClr val="FF3300"/>
                    </a:solidFill>
                    <a:latin typeface="Times New Roman" panose="02020603050405020304" pitchFamily="18" charset="0"/>
                  </a:rPr>
                  <a:t>0</a:t>
                </a:r>
              </a:p>
            </p:txBody>
          </p:sp>
        </p:grpSp>
        <p:graphicFrame>
          <p:nvGraphicFramePr>
            <p:cNvPr id="15396" name="Object 266">
              <a:extLst>
                <a:ext uri="{FF2B5EF4-FFF2-40B4-BE49-F238E27FC236}">
                  <a16:creationId xmlns:a16="http://schemas.microsoft.com/office/drawing/2014/main" id="{43737DEE-48E1-456F-8AF6-812D6112BB3F}"/>
                </a:ext>
              </a:extLst>
            </p:cNvPr>
            <p:cNvGraphicFramePr>
              <a:graphicFrameLocks noChangeAspect="1"/>
            </p:cNvGraphicFramePr>
            <p:nvPr/>
          </p:nvGraphicFramePr>
          <p:xfrm>
            <a:off x="336" y="2521"/>
            <a:ext cx="528" cy="359"/>
          </p:xfrm>
          <a:graphic>
            <a:graphicData uri="http://schemas.openxmlformats.org/presentationml/2006/ole">
              <mc:AlternateContent xmlns:mc="http://schemas.openxmlformats.org/markup-compatibility/2006">
                <mc:Choice xmlns:v="urn:schemas-microsoft-com:vml" Requires="v">
                  <p:oleObj spid="_x0000_s15639" name="Equation" r:id="rId23" imgW="317087" imgH="215619" progId="">
                    <p:embed/>
                  </p:oleObj>
                </mc:Choice>
                <mc:Fallback>
                  <p:oleObj name="Equation" r:id="rId23" imgW="317087" imgH="215619" progId="">
                    <p:embed/>
                    <p:pic>
                      <p:nvPicPr>
                        <p:cNvPr id="0" name="Object 26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6" y="2521"/>
                          <a:ext cx="528"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5391" name="Object 267">
            <a:extLst>
              <a:ext uri="{FF2B5EF4-FFF2-40B4-BE49-F238E27FC236}">
                <a16:creationId xmlns:a16="http://schemas.microsoft.com/office/drawing/2014/main" id="{9A548833-EB66-4C2E-966D-69764A6D396A}"/>
              </a:ext>
            </a:extLst>
          </p:cNvPr>
          <p:cNvGraphicFramePr>
            <a:graphicFrameLocks noChangeAspect="1"/>
          </p:cNvGraphicFramePr>
          <p:nvPr/>
        </p:nvGraphicFramePr>
        <p:xfrm>
          <a:off x="4413250" y="3681413"/>
          <a:ext cx="1793875" cy="584200"/>
        </p:xfrm>
        <a:graphic>
          <a:graphicData uri="http://schemas.openxmlformats.org/presentationml/2006/ole">
            <mc:AlternateContent xmlns:mc="http://schemas.openxmlformats.org/markup-compatibility/2006">
              <mc:Choice xmlns:v="urn:schemas-microsoft-com:vml" Requires="v">
                <p:oleObj spid="_x0000_s15640" name="Equation" r:id="rId25" imgW="723586" imgH="215806" progId="">
                  <p:embed/>
                </p:oleObj>
              </mc:Choice>
              <mc:Fallback>
                <p:oleObj name="Equation" r:id="rId25" imgW="723586" imgH="215806" progId="">
                  <p:embed/>
                  <p:pic>
                    <p:nvPicPr>
                      <p:cNvPr id="0" name="Object 26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13250" y="3681413"/>
                        <a:ext cx="17938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5392" name="Picture 266">
            <a:extLst>
              <a:ext uri="{FF2B5EF4-FFF2-40B4-BE49-F238E27FC236}">
                <a16:creationId xmlns:a16="http://schemas.microsoft.com/office/drawing/2014/main" id="{398A41C7-8500-43A8-ADFD-211EA06D12F4}"/>
              </a:ext>
            </a:extLst>
          </p:cNvPr>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048000" y="0"/>
            <a:ext cx="1023938"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93" name="TextBox 1">
            <a:extLst>
              <a:ext uri="{FF2B5EF4-FFF2-40B4-BE49-F238E27FC236}">
                <a16:creationId xmlns:a16="http://schemas.microsoft.com/office/drawing/2014/main" id="{63CF38CE-1DC4-444C-AD3E-22BABFDE4627}"/>
              </a:ext>
            </a:extLst>
          </p:cNvPr>
          <p:cNvSpPr txBox="1">
            <a:spLocks noChangeArrowheads="1"/>
          </p:cNvSpPr>
          <p:nvPr/>
        </p:nvSpPr>
        <p:spPr bwMode="auto">
          <a:xfrm>
            <a:off x="228600" y="6051550"/>
            <a:ext cx="8763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a:solidFill>
                  <a:srgbClr val="FF0000"/>
                </a:solidFill>
                <a:latin typeface="Times New Roman" panose="02020603050405020304" pitchFamily="18" charset="0"/>
                <a:cs typeface="Times New Roman" panose="02020603050405020304" pitchFamily="18" charset="0"/>
              </a:rPr>
              <a:t>Tabelul 5.3. Perechi semnal transformată Fourier în timp discret.</a:t>
            </a:r>
            <a:endParaRPr lang="en-US" altLang="ro-RO">
              <a:solidFill>
                <a:srgbClr val="FF0000"/>
              </a:solidFill>
              <a:latin typeface="Times New Roman" panose="02020603050405020304" pitchFamily="18" charset="0"/>
              <a:cs typeface="Times New Roman" panose="02020603050405020304" pitchFamily="18" charset="0"/>
            </a:endParaRPr>
          </a:p>
        </p:txBody>
      </p:sp>
      <p:sp>
        <p:nvSpPr>
          <p:cNvPr id="15394" name="TextBox 267">
            <a:extLst>
              <a:ext uri="{FF2B5EF4-FFF2-40B4-BE49-F238E27FC236}">
                <a16:creationId xmlns:a16="http://schemas.microsoft.com/office/drawing/2014/main" id="{A3F72D29-EAC2-4E76-9D59-87A5DD519AE6}"/>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13</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31DE7ED5-8B36-43A4-8B60-D27F14F57701}"/>
              </a:ext>
            </a:extLst>
          </p:cNvPr>
          <p:cNvSpPr>
            <a:spLocks noGrp="1"/>
          </p:cNvSpPr>
          <p:nvPr>
            <p:ph type="title"/>
          </p:nvPr>
        </p:nvSpPr>
        <p:spPr>
          <a:xfrm>
            <a:off x="457200" y="1676400"/>
            <a:ext cx="8229600" cy="1143000"/>
          </a:xfrm>
        </p:spPr>
        <p:txBody>
          <a:bodyPr/>
          <a:lstStyle/>
          <a:p>
            <a:r>
              <a:rPr lang="ro-RO" altLang="ro-RO" sz="4000">
                <a:latin typeface="Times New Roman" panose="02020603050405020304" pitchFamily="18" charset="0"/>
                <a:cs typeface="Times New Roman" panose="02020603050405020304" pitchFamily="18" charset="0"/>
              </a:rPr>
              <a:t>Răspunsul în</a:t>
            </a:r>
            <a:r>
              <a:rPr lang="en-US" altLang="ro-RO" sz="4000">
                <a:latin typeface="Times New Roman" panose="02020603050405020304" pitchFamily="18" charset="0"/>
                <a:cs typeface="Times New Roman" panose="02020603050405020304" pitchFamily="18" charset="0"/>
              </a:rPr>
              <a:t> frecven</a:t>
            </a:r>
            <a:r>
              <a:rPr lang="ro-RO" altLang="ro-RO" sz="4000">
                <a:latin typeface="Times New Roman" panose="02020603050405020304" pitchFamily="18" charset="0"/>
                <a:cs typeface="Times New Roman" panose="02020603050405020304" pitchFamily="18" charset="0"/>
              </a:rPr>
              <a:t>ţă al sistemelor liniare şi invariante în timp discret</a:t>
            </a:r>
            <a:endParaRPr lang="en-US" altLang="ro-RO" sz="4000">
              <a:latin typeface="Times New Roman" panose="02020603050405020304" pitchFamily="18" charset="0"/>
              <a:cs typeface="Times New Roman" panose="02020603050405020304" pitchFamily="18" charset="0"/>
            </a:endParaRPr>
          </a:p>
        </p:txBody>
      </p:sp>
      <p:sp>
        <p:nvSpPr>
          <p:cNvPr id="16387" name="TextBox 2">
            <a:extLst>
              <a:ext uri="{FF2B5EF4-FFF2-40B4-BE49-F238E27FC236}">
                <a16:creationId xmlns:a16="http://schemas.microsoft.com/office/drawing/2014/main" id="{570FC2C7-84BF-4B6F-A099-0D5FC835484C}"/>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14</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a:extLst>
              <a:ext uri="{FF2B5EF4-FFF2-40B4-BE49-F238E27FC236}">
                <a16:creationId xmlns:a16="http://schemas.microsoft.com/office/drawing/2014/main" id="{D35296E9-8822-4F78-9650-F7EEDE1C7704}"/>
              </a:ext>
            </a:extLst>
          </p:cNvPr>
          <p:cNvSpPr>
            <a:spLocks noChangeArrowheads="1"/>
          </p:cNvSpPr>
          <p:nvPr/>
        </p:nvSpPr>
        <p:spPr bwMode="auto">
          <a:xfrm>
            <a:off x="609600" y="1295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000">
                <a:solidFill>
                  <a:schemeClr val="tx2"/>
                </a:solidFill>
                <a:latin typeface="Times New Roman" panose="02020603050405020304" pitchFamily="18" charset="0"/>
                <a:cs typeface="Times New Roman" panose="02020603050405020304" pitchFamily="18" charset="0"/>
              </a:rPr>
              <a:t>S</a:t>
            </a:r>
            <a:r>
              <a:rPr lang="en-GB" altLang="ro-RO" sz="4000">
                <a:solidFill>
                  <a:schemeClr val="tx2"/>
                </a:solidFill>
                <a:latin typeface="Times New Roman" panose="02020603050405020304" pitchFamily="18" charset="0"/>
                <a:cs typeface="Times New Roman" panose="02020603050405020304" pitchFamily="18" charset="0"/>
              </a:rPr>
              <a:t>isteme caracterizate de</a:t>
            </a:r>
            <a:r>
              <a:rPr lang="en-US" altLang="ro-RO" sz="4000">
                <a:solidFill>
                  <a:schemeClr val="tx2"/>
                </a:solidFill>
                <a:latin typeface="Times New Roman" panose="02020603050405020304" pitchFamily="18" charset="0"/>
                <a:cs typeface="Times New Roman" panose="02020603050405020304" pitchFamily="18" charset="0"/>
              </a:rPr>
              <a:t> </a:t>
            </a:r>
            <a:r>
              <a:rPr lang="en-GB" altLang="ro-RO" sz="4000">
                <a:solidFill>
                  <a:schemeClr val="tx2"/>
                </a:solidFill>
                <a:latin typeface="Times New Roman" panose="02020603050405020304" pitchFamily="18" charset="0"/>
                <a:cs typeface="Times New Roman" panose="02020603050405020304" pitchFamily="18" charset="0"/>
              </a:rPr>
              <a:t>ecua</a:t>
            </a:r>
            <a:r>
              <a:rPr lang="ro-RO" altLang="ro-RO" sz="4000">
                <a:solidFill>
                  <a:schemeClr val="tx2"/>
                </a:solidFill>
                <a:latin typeface="Times New Roman" panose="02020603050405020304" pitchFamily="18" charset="0"/>
                <a:cs typeface="Times New Roman" panose="02020603050405020304" pitchFamily="18" charset="0"/>
              </a:rPr>
              <a:t>ţ</a:t>
            </a:r>
            <a:r>
              <a:rPr lang="en-GB" altLang="ro-RO" sz="4000">
                <a:solidFill>
                  <a:schemeClr val="tx2"/>
                </a:solidFill>
                <a:latin typeface="Times New Roman" panose="02020603050405020304" pitchFamily="18" charset="0"/>
                <a:cs typeface="Times New Roman" panose="02020603050405020304" pitchFamily="18" charset="0"/>
              </a:rPr>
              <a:t>ii cu diferen</a:t>
            </a:r>
            <a:r>
              <a:rPr lang="ro-RO" altLang="ro-RO" sz="4000">
                <a:solidFill>
                  <a:schemeClr val="tx2"/>
                </a:solidFill>
                <a:latin typeface="Times New Roman" panose="02020603050405020304" pitchFamily="18" charset="0"/>
                <a:cs typeface="Times New Roman" panose="02020603050405020304" pitchFamily="18" charset="0"/>
              </a:rPr>
              <a:t>ţ</a:t>
            </a:r>
            <a:r>
              <a:rPr lang="en-GB" altLang="ro-RO" sz="4000">
                <a:solidFill>
                  <a:schemeClr val="tx2"/>
                </a:solidFill>
                <a:latin typeface="Times New Roman" panose="02020603050405020304" pitchFamily="18" charset="0"/>
                <a:cs typeface="Times New Roman" panose="02020603050405020304" pitchFamily="18" charset="0"/>
              </a:rPr>
              <a:t>e finite liniare </a:t>
            </a:r>
            <a:r>
              <a:rPr lang="ro-RO" altLang="ro-RO" sz="4000">
                <a:solidFill>
                  <a:schemeClr val="tx2"/>
                </a:solidFill>
                <a:latin typeface="Times New Roman" panose="02020603050405020304" pitchFamily="18" charset="0"/>
                <a:cs typeface="Times New Roman" panose="02020603050405020304" pitchFamily="18" charset="0"/>
              </a:rPr>
              <a:t>ş</a:t>
            </a:r>
            <a:r>
              <a:rPr lang="en-GB" altLang="ro-RO" sz="4000">
                <a:solidFill>
                  <a:schemeClr val="tx2"/>
                </a:solidFill>
                <a:latin typeface="Times New Roman" panose="02020603050405020304" pitchFamily="18" charset="0"/>
                <a:cs typeface="Times New Roman" panose="02020603050405020304" pitchFamily="18" charset="0"/>
              </a:rPr>
              <a:t>i cu coeficien</a:t>
            </a:r>
            <a:r>
              <a:rPr lang="ro-RO" altLang="ro-RO" sz="4000">
                <a:solidFill>
                  <a:schemeClr val="tx2"/>
                </a:solidFill>
                <a:latin typeface="Times New Roman" panose="02020603050405020304" pitchFamily="18" charset="0"/>
                <a:cs typeface="Times New Roman" panose="02020603050405020304" pitchFamily="18" charset="0"/>
              </a:rPr>
              <a:t>ţ</a:t>
            </a:r>
            <a:r>
              <a:rPr lang="en-GB" altLang="ro-RO" sz="4000">
                <a:solidFill>
                  <a:schemeClr val="tx2"/>
                </a:solidFill>
                <a:latin typeface="Times New Roman" panose="02020603050405020304" pitchFamily="18" charset="0"/>
                <a:cs typeface="Times New Roman" panose="02020603050405020304" pitchFamily="18" charset="0"/>
              </a:rPr>
              <a:t>i constan</a:t>
            </a:r>
            <a:r>
              <a:rPr lang="ro-RO" altLang="ro-RO" sz="4000">
                <a:solidFill>
                  <a:schemeClr val="tx2"/>
                </a:solidFill>
                <a:latin typeface="Times New Roman" panose="02020603050405020304" pitchFamily="18" charset="0"/>
                <a:cs typeface="Times New Roman" panose="02020603050405020304" pitchFamily="18" charset="0"/>
              </a:rPr>
              <a:t>ţ</a:t>
            </a:r>
            <a:r>
              <a:rPr lang="en-GB" altLang="ro-RO" sz="4000">
                <a:solidFill>
                  <a:schemeClr val="tx2"/>
                </a:solidFill>
                <a:latin typeface="Times New Roman" panose="02020603050405020304" pitchFamily="18" charset="0"/>
                <a:cs typeface="Times New Roman" panose="02020603050405020304" pitchFamily="18" charset="0"/>
              </a:rPr>
              <a:t>i</a:t>
            </a:r>
            <a:br>
              <a:rPr lang="en-GB" altLang="ro-RO" sz="4000" b="1">
                <a:solidFill>
                  <a:schemeClr val="tx2"/>
                </a:solidFill>
              </a:rPr>
            </a:br>
            <a:endParaRPr lang="en-GB" altLang="ro-RO" sz="4000" b="1">
              <a:solidFill>
                <a:schemeClr val="tx2"/>
              </a:solidFill>
            </a:endParaRPr>
          </a:p>
        </p:txBody>
      </p:sp>
      <p:graphicFrame>
        <p:nvGraphicFramePr>
          <p:cNvPr id="17411" name="Object 5">
            <a:extLst>
              <a:ext uri="{FF2B5EF4-FFF2-40B4-BE49-F238E27FC236}">
                <a16:creationId xmlns:a16="http://schemas.microsoft.com/office/drawing/2014/main" id="{A477455E-358D-4B9B-987E-EB812618C8EA}"/>
              </a:ext>
            </a:extLst>
          </p:cNvPr>
          <p:cNvGraphicFramePr>
            <a:graphicFrameLocks noChangeAspect="1"/>
          </p:cNvGraphicFramePr>
          <p:nvPr/>
        </p:nvGraphicFramePr>
        <p:xfrm>
          <a:off x="1905000" y="2903538"/>
          <a:ext cx="6019800" cy="3741737"/>
        </p:xfrm>
        <a:graphic>
          <a:graphicData uri="http://schemas.openxmlformats.org/presentationml/2006/ole">
            <mc:AlternateContent xmlns:mc="http://schemas.openxmlformats.org/markup-compatibility/2006">
              <mc:Choice xmlns:v="urn:schemas-microsoft-com:vml" Requires="v">
                <p:oleObj spid="_x0000_s17413" name="Equation" r:id="rId4" imgW="2921000" imgH="1816100" progId="">
                  <p:embed/>
                </p:oleObj>
              </mc:Choice>
              <mc:Fallback>
                <p:oleObj name="Equation" r:id="rId4" imgW="2921000" imgH="181610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5000" y="2903538"/>
                        <a:ext cx="6019800" cy="374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7412" name="TextBox 3">
            <a:extLst>
              <a:ext uri="{FF2B5EF4-FFF2-40B4-BE49-F238E27FC236}">
                <a16:creationId xmlns:a16="http://schemas.microsoft.com/office/drawing/2014/main" id="{B78C8FB1-6B6D-410D-8DE7-206FD7DD4F58}"/>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15</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4">
            <a:extLst>
              <a:ext uri="{FF2B5EF4-FFF2-40B4-BE49-F238E27FC236}">
                <a16:creationId xmlns:a16="http://schemas.microsoft.com/office/drawing/2014/main" id="{649ED335-5ACF-4B92-A9AB-62769E1F973E}"/>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000">
                <a:solidFill>
                  <a:schemeClr val="tx2"/>
                </a:solidFill>
                <a:latin typeface="Times New Roman" panose="02020603050405020304" pitchFamily="18" charset="0"/>
                <a:cs typeface="Times New Roman" panose="02020603050405020304" pitchFamily="18" charset="0"/>
              </a:rPr>
              <a:t>Exemplul 1. Filtre transversale</a:t>
            </a:r>
            <a:endParaRPr lang="en-US" altLang="ro-RO" sz="4000">
              <a:solidFill>
                <a:schemeClr val="tx2"/>
              </a:solidFill>
              <a:latin typeface="Times New Roman" panose="02020603050405020304" pitchFamily="18" charset="0"/>
              <a:cs typeface="Times New Roman" panose="02020603050405020304" pitchFamily="18" charset="0"/>
            </a:endParaRPr>
          </a:p>
        </p:txBody>
      </p:sp>
      <p:graphicFrame>
        <p:nvGraphicFramePr>
          <p:cNvPr id="18435" name="Object 5">
            <a:extLst>
              <a:ext uri="{FF2B5EF4-FFF2-40B4-BE49-F238E27FC236}">
                <a16:creationId xmlns:a16="http://schemas.microsoft.com/office/drawing/2014/main" id="{68532004-B170-457D-A3A4-90DEB02CB818}"/>
              </a:ext>
            </a:extLst>
          </p:cNvPr>
          <p:cNvGraphicFramePr>
            <a:graphicFrameLocks noChangeAspect="1"/>
          </p:cNvGraphicFramePr>
          <p:nvPr/>
        </p:nvGraphicFramePr>
        <p:xfrm>
          <a:off x="2438400" y="5410200"/>
          <a:ext cx="4267200" cy="1209675"/>
        </p:xfrm>
        <a:graphic>
          <a:graphicData uri="http://schemas.openxmlformats.org/presentationml/2006/ole">
            <mc:AlternateContent xmlns:mc="http://schemas.openxmlformats.org/markup-compatibility/2006">
              <mc:Choice xmlns:v="urn:schemas-microsoft-com:vml" Requires="v">
                <p:oleObj spid="_x0000_s18441" name="Equation" r:id="rId4" imgW="1612900" imgH="457200" progId="">
                  <p:embed/>
                </p:oleObj>
              </mc:Choice>
              <mc:Fallback>
                <p:oleObj name="Equation" r:id="rId4" imgW="1612900" imgH="45720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38400" y="5410200"/>
                        <a:ext cx="4267200"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TextBox 1">
            <a:extLst>
              <a:ext uri="{FF2B5EF4-FFF2-40B4-BE49-F238E27FC236}">
                <a16:creationId xmlns:a16="http://schemas.microsoft.com/office/drawing/2014/main" id="{70B92057-97D9-4E26-BF58-912A05291CC2}"/>
              </a:ext>
            </a:extLst>
          </p:cNvPr>
          <p:cNvSpPr txBox="1">
            <a:spLocks noRot="1" noChangeAspect="1" noMove="1" noResize="1" noEditPoints="1" noAdjustHandles="1" noChangeArrowheads="1" noChangeShapeType="1" noTextEdit="1"/>
          </p:cNvSpPr>
          <p:nvPr/>
        </p:nvSpPr>
        <p:spPr>
          <a:xfrm>
            <a:off x="491510" y="4038600"/>
            <a:ext cx="4994890" cy="871457"/>
          </a:xfrm>
          <a:prstGeom prst="rect">
            <a:avLst/>
          </a:prstGeom>
          <a:blipFill rotWithShape="1">
            <a:blip r:embed="rId6"/>
            <a:stretch>
              <a:fillRect/>
            </a:stretch>
          </a:blipFill>
        </p:spPr>
        <p:txBody>
          <a:bodyPr/>
          <a:lstStyle/>
          <a:p>
            <a:pPr eaLnBrk="1" hangingPunct="1">
              <a:defRPr/>
            </a:pPr>
            <a:r>
              <a:rPr lang="en-US">
                <a:noFill/>
              </a:rPr>
              <a:t> </a:t>
            </a:r>
          </a:p>
        </p:txBody>
      </p:sp>
      <p:pic>
        <p:nvPicPr>
          <p:cNvPr id="18437" name="Picture 70">
            <a:extLst>
              <a:ext uri="{FF2B5EF4-FFF2-40B4-BE49-F238E27FC236}">
                <a16:creationId xmlns:a16="http://schemas.microsoft.com/office/drawing/2014/main" id="{67D64080-3A10-4853-87A9-9332AD3B97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125" y="1752600"/>
            <a:ext cx="724852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38" name="Picture 71">
            <a:extLst>
              <a:ext uri="{FF2B5EF4-FFF2-40B4-BE49-F238E27FC236}">
                <a16:creationId xmlns:a16="http://schemas.microsoft.com/office/drawing/2014/main" id="{F388B9E0-31B8-4F2E-B6B9-B8BD2A0123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86400" y="4343400"/>
            <a:ext cx="9144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id="{7D62361E-68EA-4206-BA76-DC1A7483AD91}"/>
              </a:ext>
            </a:extLst>
          </p:cNvPr>
          <p:cNvSpPr txBox="1">
            <a:spLocks noRot="1" noChangeAspect="1" noMove="1" noResize="1" noEditPoints="1" noAdjustHandles="1" noChangeArrowheads="1" noChangeShapeType="1" noTextEdit="1"/>
          </p:cNvSpPr>
          <p:nvPr/>
        </p:nvSpPr>
        <p:spPr>
          <a:xfrm>
            <a:off x="6477000" y="4343384"/>
            <a:ext cx="1614096" cy="369332"/>
          </a:xfrm>
          <a:prstGeom prst="rect">
            <a:avLst/>
          </a:prstGeom>
          <a:blipFill rotWithShape="1">
            <a:blip r:embed="rId9"/>
            <a:stretch>
              <a:fillRect t="-8197" r="-4924" b="-24590"/>
            </a:stretch>
          </a:blipFill>
        </p:spPr>
        <p:txBody>
          <a:bodyPr/>
          <a:lstStyle/>
          <a:p>
            <a:pPr eaLnBrk="1" hangingPunct="1">
              <a:defRPr/>
            </a:pPr>
            <a:r>
              <a:rPr lang="en-US">
                <a:noFill/>
              </a:rPr>
              <a:t> </a:t>
            </a:r>
          </a:p>
        </p:txBody>
      </p:sp>
      <p:sp>
        <p:nvSpPr>
          <p:cNvPr id="18440" name="TextBox 52">
            <a:extLst>
              <a:ext uri="{FF2B5EF4-FFF2-40B4-BE49-F238E27FC236}">
                <a16:creationId xmlns:a16="http://schemas.microsoft.com/office/drawing/2014/main" id="{86945A1A-DE92-4B2C-B2BF-60D6F8AAA9D3}"/>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16</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2">
            <a:extLst>
              <a:ext uri="{FF2B5EF4-FFF2-40B4-BE49-F238E27FC236}">
                <a16:creationId xmlns:a16="http://schemas.microsoft.com/office/drawing/2014/main" id="{E5263335-15DE-4352-B42D-D833C9DE6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3075" y="3875088"/>
            <a:ext cx="4186238" cy="278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59" name="Picture 23">
            <a:extLst>
              <a:ext uri="{FF2B5EF4-FFF2-40B4-BE49-F238E27FC236}">
                <a16:creationId xmlns:a16="http://schemas.microsoft.com/office/drawing/2014/main" id="{8902C576-543C-4FA7-9F73-65880E2BB3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863" y="1524000"/>
            <a:ext cx="5969000" cy="230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0" name="Picture 24">
            <a:extLst>
              <a:ext uri="{FF2B5EF4-FFF2-40B4-BE49-F238E27FC236}">
                <a16:creationId xmlns:a16="http://schemas.microsoft.com/office/drawing/2014/main" id="{EFAAA561-8863-4EB1-8F14-2811E70918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113" y="4314825"/>
            <a:ext cx="276225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4">
            <a:extLst>
              <a:ext uri="{FF2B5EF4-FFF2-40B4-BE49-F238E27FC236}">
                <a16:creationId xmlns:a16="http://schemas.microsoft.com/office/drawing/2014/main" id="{1E21EC5B-20ED-4FAD-BD8A-2B5DCF41C1E3}"/>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000">
                <a:solidFill>
                  <a:schemeClr val="tx2"/>
                </a:solidFill>
                <a:latin typeface="Times New Roman" panose="02020603050405020304" pitchFamily="18" charset="0"/>
                <a:cs typeface="Times New Roman" panose="02020603050405020304" pitchFamily="18" charset="0"/>
              </a:rPr>
              <a:t>Mediatorul alunecător</a:t>
            </a:r>
            <a:endParaRPr lang="en-US" altLang="ro-RO" sz="4000">
              <a:solidFill>
                <a:schemeClr val="tx2"/>
              </a:solidFill>
              <a:latin typeface="Times New Roman" panose="02020603050405020304" pitchFamily="18" charset="0"/>
              <a:cs typeface="Times New Roman" panose="02020603050405020304" pitchFamily="18" charset="0"/>
            </a:endParaRPr>
          </a:p>
        </p:txBody>
      </p:sp>
      <p:sp>
        <p:nvSpPr>
          <p:cNvPr id="19462" name="TextBox 5">
            <a:extLst>
              <a:ext uri="{FF2B5EF4-FFF2-40B4-BE49-F238E27FC236}">
                <a16:creationId xmlns:a16="http://schemas.microsoft.com/office/drawing/2014/main" id="{255FDE35-F58D-4F98-B552-268328BA47D9}"/>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17</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18ED89D8-17E0-4276-B75E-07310FE7F25F}"/>
              </a:ext>
            </a:extLst>
          </p:cNvPr>
          <p:cNvSpPr>
            <a:spLocks noGrp="1"/>
          </p:cNvSpPr>
          <p:nvPr>
            <p:ph type="title"/>
          </p:nvPr>
        </p:nvSpPr>
        <p:spPr/>
        <p:txBody>
          <a:bodyPr/>
          <a:lstStyle/>
          <a:p>
            <a:r>
              <a:rPr lang="ro-RO" altLang="ro-RO" sz="4000">
                <a:latin typeface="Times New Roman" panose="02020603050405020304" pitchFamily="18" charset="0"/>
                <a:cs typeface="Times New Roman" panose="02020603050405020304" pitchFamily="18" charset="0"/>
              </a:rPr>
              <a:t>Exemplul 2</a:t>
            </a:r>
            <a:endParaRPr lang="en-US" altLang="ro-RO" sz="4000">
              <a:latin typeface="Times New Roman" panose="02020603050405020304" pitchFamily="18" charset="0"/>
              <a:cs typeface="Times New Roman" panose="02020603050405020304" pitchFamily="18" charset="0"/>
            </a:endParaRPr>
          </a:p>
        </p:txBody>
      </p:sp>
      <p:pic>
        <p:nvPicPr>
          <p:cNvPr id="20483" name="Picture 2">
            <a:extLst>
              <a:ext uri="{FF2B5EF4-FFF2-40B4-BE49-F238E27FC236}">
                <a16:creationId xmlns:a16="http://schemas.microsoft.com/office/drawing/2014/main" id="{139C1231-CF2B-4315-A600-9D20FE02A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9663" y="1524000"/>
            <a:ext cx="6924675" cy="487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4" name="TextBox 3">
            <a:extLst>
              <a:ext uri="{FF2B5EF4-FFF2-40B4-BE49-F238E27FC236}">
                <a16:creationId xmlns:a16="http://schemas.microsoft.com/office/drawing/2014/main" id="{E4DC0E16-1251-48FB-B379-C6B50AF08DE7}"/>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18</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D07FD832-A45E-4970-AFE8-1D41E24B7B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330325"/>
            <a:ext cx="7848600" cy="424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7" name="TextBox 1">
            <a:extLst>
              <a:ext uri="{FF2B5EF4-FFF2-40B4-BE49-F238E27FC236}">
                <a16:creationId xmlns:a16="http://schemas.microsoft.com/office/drawing/2014/main" id="{B213662A-DF30-4AE6-939D-34C652398A57}"/>
              </a:ext>
            </a:extLst>
          </p:cNvPr>
          <p:cNvSpPr txBox="1">
            <a:spLocks noChangeArrowheads="1"/>
          </p:cNvSpPr>
          <p:nvPr/>
        </p:nvSpPr>
        <p:spPr bwMode="auto">
          <a:xfrm>
            <a:off x="1219200" y="1666875"/>
            <a:ext cx="7924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2000">
                <a:solidFill>
                  <a:srgbClr val="FF0000"/>
                </a:solidFill>
                <a:latin typeface="Times New Roman" panose="02020603050405020304" pitchFamily="18" charset="0"/>
                <a:cs typeface="Times New Roman" panose="02020603050405020304" pitchFamily="18" charset="0"/>
              </a:rPr>
              <a:t>folosind tabelul 5.3 de perechi semnal transformată Fourier în timp discret. </a:t>
            </a:r>
            <a:endParaRPr lang="en-US" altLang="ro-RO" sz="2000">
              <a:solidFill>
                <a:srgbClr val="FF0000"/>
              </a:solidFill>
              <a:latin typeface="Times New Roman" panose="02020603050405020304" pitchFamily="18" charset="0"/>
              <a:cs typeface="Times New Roman" panose="02020603050405020304" pitchFamily="18" charset="0"/>
            </a:endParaRPr>
          </a:p>
        </p:txBody>
      </p:sp>
      <p:sp>
        <p:nvSpPr>
          <p:cNvPr id="21508" name="TextBox 3">
            <a:extLst>
              <a:ext uri="{FF2B5EF4-FFF2-40B4-BE49-F238E27FC236}">
                <a16:creationId xmlns:a16="http://schemas.microsoft.com/office/drawing/2014/main" id="{5E750A13-89AF-459B-879A-5DC6CC267543}"/>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19</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30" name="Object 4">
            <a:extLst>
              <a:ext uri="{FF2B5EF4-FFF2-40B4-BE49-F238E27FC236}">
                <a16:creationId xmlns:a16="http://schemas.microsoft.com/office/drawing/2014/main" id="{1A6F8EC5-DF03-4D74-A5E9-10E99D6144B4}"/>
              </a:ext>
            </a:extLst>
          </p:cNvPr>
          <p:cNvGraphicFramePr>
            <a:graphicFrameLocks noChangeAspect="1"/>
          </p:cNvGraphicFramePr>
          <p:nvPr/>
        </p:nvGraphicFramePr>
        <p:xfrm>
          <a:off x="106363" y="1671638"/>
          <a:ext cx="7697787" cy="5186362"/>
        </p:xfrm>
        <a:graphic>
          <a:graphicData uri="http://schemas.openxmlformats.org/presentationml/2006/ole">
            <mc:AlternateContent xmlns:mc="http://schemas.openxmlformats.org/markup-compatibility/2006">
              <mc:Choice xmlns:v="urn:schemas-microsoft-com:vml" Requires="v">
                <p:oleObj spid="_x0000_s22538" name="Equation" r:id="rId4" imgW="4165600" imgH="2806700" progId="">
                  <p:embed/>
                </p:oleObj>
              </mc:Choice>
              <mc:Fallback>
                <p:oleObj name="Equation" r:id="rId4" imgW="4165600" imgH="2806700" progId="">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363" y="1671638"/>
                        <a:ext cx="7697787" cy="518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531" name="Rectangle 5">
            <a:extLst>
              <a:ext uri="{FF2B5EF4-FFF2-40B4-BE49-F238E27FC236}">
                <a16:creationId xmlns:a16="http://schemas.microsoft.com/office/drawing/2014/main" id="{41F9DD77-6A8C-45CE-A50C-D1DF1EC93B62}"/>
              </a:ext>
            </a:extLst>
          </p:cNvPr>
          <p:cNvSpPr>
            <a:spLocks noChangeArrowheads="1"/>
          </p:cNvSpPr>
          <p:nvPr/>
        </p:nvSpPr>
        <p:spPr bwMode="auto">
          <a:xfrm>
            <a:off x="76200" y="381000"/>
            <a:ext cx="8839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000">
                <a:solidFill>
                  <a:schemeClr val="tx2"/>
                </a:solidFill>
                <a:latin typeface="Times New Roman" panose="02020603050405020304" pitchFamily="18" charset="0"/>
                <a:cs typeface="Times New Roman" panose="02020603050405020304" pitchFamily="18" charset="0"/>
              </a:rPr>
              <a:t>Răspunsul indicial al sistemelor liniare şi invariante în timp discret</a:t>
            </a:r>
            <a:endParaRPr lang="en-US" altLang="ro-RO" sz="4000">
              <a:solidFill>
                <a:schemeClr val="tx2"/>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109DD0C-82FA-4377-9826-B1D376DB463B}"/>
              </a:ext>
            </a:extLst>
          </p:cNvPr>
          <p:cNvSpPr txBox="1">
            <a:spLocks noRot="1" noChangeAspect="1" noMove="1" noResize="1" noEditPoints="1" noAdjustHandles="1" noChangeArrowheads="1" noChangeShapeType="1" noTextEdit="1"/>
          </p:cNvSpPr>
          <p:nvPr/>
        </p:nvSpPr>
        <p:spPr>
          <a:xfrm>
            <a:off x="4953000" y="2362200"/>
            <a:ext cx="3539752" cy="847604"/>
          </a:xfrm>
          <a:prstGeom prst="rect">
            <a:avLst/>
          </a:prstGeom>
          <a:blipFill rotWithShape="1">
            <a:blip r:embed="rId6"/>
            <a:stretch>
              <a:fillRect r="-2069"/>
            </a:stretch>
          </a:blipFill>
        </p:spPr>
        <p:txBody>
          <a:bodyPr/>
          <a:lstStyle/>
          <a:p>
            <a:pPr eaLnBrk="1" hangingPunct="1">
              <a:defRPr/>
            </a:pPr>
            <a:r>
              <a:rPr lang="en-US">
                <a:noFill/>
              </a:rPr>
              <a:t> </a:t>
            </a:r>
          </a:p>
        </p:txBody>
      </p:sp>
      <p:sp>
        <p:nvSpPr>
          <p:cNvPr id="3" name="Rectangle 2">
            <a:extLst>
              <a:ext uri="{FF2B5EF4-FFF2-40B4-BE49-F238E27FC236}">
                <a16:creationId xmlns:a16="http://schemas.microsoft.com/office/drawing/2014/main" id="{AE1321A5-4F14-419D-9497-AC86AB6EDC12}"/>
              </a:ext>
            </a:extLst>
          </p:cNvPr>
          <p:cNvSpPr/>
          <p:nvPr/>
        </p:nvSpPr>
        <p:spPr>
          <a:xfrm>
            <a:off x="838200" y="3124200"/>
            <a:ext cx="1219200" cy="6858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cxnSp>
        <p:nvCxnSpPr>
          <p:cNvPr id="5" name="Straight Arrow Connector 4">
            <a:extLst>
              <a:ext uri="{FF2B5EF4-FFF2-40B4-BE49-F238E27FC236}">
                <a16:creationId xmlns:a16="http://schemas.microsoft.com/office/drawing/2014/main" id="{2F6E6168-DB86-43AE-9C10-4D4E1FD2EA84}"/>
              </a:ext>
            </a:extLst>
          </p:cNvPr>
          <p:cNvCxnSpPr/>
          <p:nvPr/>
        </p:nvCxnSpPr>
        <p:spPr>
          <a:xfrm flipV="1">
            <a:off x="2057400" y="2895600"/>
            <a:ext cx="2895600" cy="38100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E21FD143-EA70-43E0-8154-251A201484AE}"/>
              </a:ext>
            </a:extLst>
          </p:cNvPr>
          <p:cNvSpPr/>
          <p:nvPr/>
        </p:nvSpPr>
        <p:spPr>
          <a:xfrm>
            <a:off x="4953000" y="2362200"/>
            <a:ext cx="3657600" cy="84772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TextBox 6">
            <a:extLst>
              <a:ext uri="{FF2B5EF4-FFF2-40B4-BE49-F238E27FC236}">
                <a16:creationId xmlns:a16="http://schemas.microsoft.com/office/drawing/2014/main" id="{D2991E44-9711-4D5D-9AA1-9E7C0C18BD93}"/>
              </a:ext>
            </a:extLst>
          </p:cNvPr>
          <p:cNvSpPr txBox="1">
            <a:spLocks noRot="1" noChangeAspect="1" noMove="1" noResize="1" noEditPoints="1" noAdjustHandles="1" noChangeArrowheads="1" noChangeShapeType="1" noTextEdit="1"/>
          </p:cNvSpPr>
          <p:nvPr/>
        </p:nvSpPr>
        <p:spPr>
          <a:xfrm>
            <a:off x="5867400" y="3733800"/>
            <a:ext cx="2336800" cy="614848"/>
          </a:xfrm>
          <a:prstGeom prst="rect">
            <a:avLst/>
          </a:prstGeom>
          <a:blipFill rotWithShape="1">
            <a:blip r:embed="rId7"/>
            <a:stretch>
              <a:fillRect/>
            </a:stretch>
          </a:blipFill>
        </p:spPr>
        <p:txBody>
          <a:bodyPr/>
          <a:lstStyle/>
          <a:p>
            <a:pPr eaLnBrk="1" hangingPunct="1">
              <a:defRPr/>
            </a:pPr>
            <a:r>
              <a:rPr lang="en-US">
                <a:noFill/>
              </a:rPr>
              <a:t> </a:t>
            </a:r>
          </a:p>
        </p:txBody>
      </p:sp>
      <p:sp>
        <p:nvSpPr>
          <p:cNvPr id="22537" name="TextBox 9">
            <a:extLst>
              <a:ext uri="{FF2B5EF4-FFF2-40B4-BE49-F238E27FC236}">
                <a16:creationId xmlns:a16="http://schemas.microsoft.com/office/drawing/2014/main" id="{2D309545-1EB1-494F-A626-54FA7F9E090F}"/>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20</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52A1CA3E-B08F-4E90-805F-679BA85E82EB}"/>
              </a:ext>
            </a:extLst>
          </p:cNvPr>
          <p:cNvSpPr>
            <a:spLocks noChangeArrowheads="1"/>
          </p:cNvSpPr>
          <p:nvPr/>
        </p:nvSpPr>
        <p:spPr bwMode="auto">
          <a:xfrm>
            <a:off x="685800" y="990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chemeClr val="tx2"/>
                </a:solidFill>
                <a:latin typeface="Times New Roman" panose="02020603050405020304" pitchFamily="18" charset="0"/>
                <a:cs typeface="Times New Roman" panose="02020603050405020304" pitchFamily="18" charset="0"/>
              </a:rPr>
              <a:t>Sisteme discrete liniare </a:t>
            </a:r>
            <a:r>
              <a:rPr lang="ro-RO" altLang="ro-RO" sz="4000">
                <a:solidFill>
                  <a:schemeClr val="tx2"/>
                </a:solidFill>
                <a:latin typeface="Times New Roman" panose="02020603050405020304" pitchFamily="18" charset="0"/>
                <a:cs typeface="Times New Roman" panose="02020603050405020304" pitchFamily="18" charset="0"/>
              </a:rPr>
              <a:t>ş</a:t>
            </a:r>
            <a:r>
              <a:rPr lang="en-GB" altLang="ro-RO" sz="4000">
                <a:solidFill>
                  <a:schemeClr val="tx2"/>
                </a:solidFill>
                <a:latin typeface="Times New Roman" panose="02020603050405020304" pitchFamily="18" charset="0"/>
                <a:cs typeface="Times New Roman" panose="02020603050405020304" pitchFamily="18" charset="0"/>
              </a:rPr>
              <a:t>i invariante </a:t>
            </a:r>
            <a:r>
              <a:rPr lang="ro-RO" altLang="ro-RO" sz="4000">
                <a:solidFill>
                  <a:schemeClr val="tx2"/>
                </a:solidFill>
                <a:latin typeface="Times New Roman" panose="02020603050405020304" pitchFamily="18" charset="0"/>
                <a:cs typeface="Times New Roman" panose="02020603050405020304" pitchFamily="18" charset="0"/>
              </a:rPr>
              <a:t>î</a:t>
            </a:r>
            <a:r>
              <a:rPr lang="en-GB" altLang="ro-RO" sz="4000">
                <a:solidFill>
                  <a:schemeClr val="tx2"/>
                </a:solidFill>
                <a:latin typeface="Times New Roman" panose="02020603050405020304" pitchFamily="18" charset="0"/>
                <a:cs typeface="Times New Roman" panose="02020603050405020304" pitchFamily="18" charset="0"/>
              </a:rPr>
              <a:t>n timp </a:t>
            </a:r>
            <a:r>
              <a:rPr lang="ro-RO" altLang="ro-RO" sz="4000">
                <a:solidFill>
                  <a:schemeClr val="tx2"/>
                </a:solidFill>
                <a:latin typeface="Times New Roman" panose="02020603050405020304" pitchFamily="18" charset="0"/>
                <a:cs typeface="Times New Roman" panose="02020603050405020304" pitchFamily="18" charset="0"/>
              </a:rPr>
              <a:t>discret </a:t>
            </a:r>
            <a:r>
              <a:rPr lang="en-GB" altLang="ro-RO" sz="4000">
                <a:solidFill>
                  <a:schemeClr val="tx2"/>
                </a:solidFill>
                <a:latin typeface="Times New Roman" panose="02020603050405020304" pitchFamily="18" charset="0"/>
                <a:cs typeface="Times New Roman" panose="02020603050405020304" pitchFamily="18" charset="0"/>
              </a:rPr>
              <a:t>de ordinul </a:t>
            </a:r>
            <a:r>
              <a:rPr lang="ro-RO" altLang="ro-RO" sz="4000">
                <a:solidFill>
                  <a:schemeClr val="tx2"/>
                </a:solidFill>
                <a:latin typeface="Times New Roman" panose="02020603050405020304" pitchFamily="18" charset="0"/>
                <a:cs typeface="Times New Roman" panose="02020603050405020304" pitchFamily="18" charset="0"/>
              </a:rPr>
              <a:t>î</a:t>
            </a:r>
            <a:r>
              <a:rPr lang="en-GB" altLang="ro-RO" sz="4000">
                <a:solidFill>
                  <a:schemeClr val="tx2"/>
                </a:solidFill>
                <a:latin typeface="Times New Roman" panose="02020603050405020304" pitchFamily="18" charset="0"/>
                <a:cs typeface="Times New Roman" panose="02020603050405020304" pitchFamily="18" charset="0"/>
              </a:rPr>
              <a:t>nt</a:t>
            </a:r>
            <a:r>
              <a:rPr lang="ro-RO" altLang="ro-RO" sz="4000">
                <a:solidFill>
                  <a:schemeClr val="tx2"/>
                </a:solidFill>
                <a:latin typeface="Times New Roman" panose="02020603050405020304" pitchFamily="18" charset="0"/>
                <a:cs typeface="Times New Roman" panose="02020603050405020304" pitchFamily="18" charset="0"/>
              </a:rPr>
              <a:t>â</a:t>
            </a:r>
            <a:r>
              <a:rPr lang="en-GB" altLang="ro-RO" sz="4000">
                <a:solidFill>
                  <a:schemeClr val="tx2"/>
                </a:solidFill>
                <a:latin typeface="Times New Roman" panose="02020603050405020304" pitchFamily="18" charset="0"/>
                <a:cs typeface="Times New Roman" panose="02020603050405020304" pitchFamily="18" charset="0"/>
              </a:rPr>
              <a:t>i </a:t>
            </a:r>
            <a:r>
              <a:rPr lang="ro-RO" altLang="ro-RO" sz="4000">
                <a:solidFill>
                  <a:schemeClr val="tx2"/>
                </a:solidFill>
                <a:latin typeface="Times New Roman" panose="02020603050405020304" pitchFamily="18" charset="0"/>
                <a:cs typeface="Times New Roman" panose="02020603050405020304" pitchFamily="18" charset="0"/>
              </a:rPr>
              <a:t>ş</a:t>
            </a:r>
            <a:r>
              <a:rPr lang="en-GB" altLang="ro-RO" sz="4000">
                <a:solidFill>
                  <a:schemeClr val="tx2"/>
                </a:solidFill>
                <a:latin typeface="Times New Roman" panose="02020603050405020304" pitchFamily="18" charset="0"/>
                <a:cs typeface="Times New Roman" panose="02020603050405020304" pitchFamily="18" charset="0"/>
              </a:rPr>
              <a:t>i doi</a:t>
            </a:r>
            <a:br>
              <a:rPr lang="en-GB" altLang="ro-RO" sz="4400">
                <a:solidFill>
                  <a:schemeClr val="tx2"/>
                </a:solidFill>
                <a:latin typeface="TimesNewRoman,Bold"/>
              </a:rPr>
            </a:br>
            <a:endParaRPr lang="en-GB" altLang="ro-RO" sz="4400">
              <a:solidFill>
                <a:schemeClr val="tx2"/>
              </a:solidFill>
              <a:latin typeface="TimesNewRoman,Bold"/>
            </a:endParaRPr>
          </a:p>
        </p:txBody>
      </p:sp>
      <p:graphicFrame>
        <p:nvGraphicFramePr>
          <p:cNvPr id="23555" name="Object 5">
            <a:extLst>
              <a:ext uri="{FF2B5EF4-FFF2-40B4-BE49-F238E27FC236}">
                <a16:creationId xmlns:a16="http://schemas.microsoft.com/office/drawing/2014/main" id="{423D40E6-2BB3-4C29-A63E-368F4DB2EA75}"/>
              </a:ext>
            </a:extLst>
          </p:cNvPr>
          <p:cNvGraphicFramePr>
            <a:graphicFrameLocks noChangeAspect="1"/>
          </p:cNvGraphicFramePr>
          <p:nvPr/>
        </p:nvGraphicFramePr>
        <p:xfrm>
          <a:off x="303213" y="2286000"/>
          <a:ext cx="8535987" cy="3062288"/>
        </p:xfrm>
        <a:graphic>
          <a:graphicData uri="http://schemas.openxmlformats.org/presentationml/2006/ole">
            <mc:AlternateContent xmlns:mc="http://schemas.openxmlformats.org/markup-compatibility/2006">
              <mc:Choice xmlns:v="urn:schemas-microsoft-com:vml" Requires="v">
                <p:oleObj spid="_x0000_s23558" name="Equation" r:id="rId4" imgW="4356100" imgH="1562100" progId="">
                  <p:embed/>
                </p:oleObj>
              </mc:Choice>
              <mc:Fallback>
                <p:oleObj name="Equation" r:id="rId4" imgW="4356100" imgH="1562100" progId="">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3213" y="2286000"/>
                        <a:ext cx="8535987" cy="306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3556" name="Picture 6">
            <a:extLst>
              <a:ext uri="{FF2B5EF4-FFF2-40B4-BE49-F238E27FC236}">
                <a16:creationId xmlns:a16="http://schemas.microsoft.com/office/drawing/2014/main" id="{A0C5CD64-D4BB-42F3-A552-E6D49D8E9BF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2463" y="5562600"/>
            <a:ext cx="744855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7" name="TextBox 4">
            <a:extLst>
              <a:ext uri="{FF2B5EF4-FFF2-40B4-BE49-F238E27FC236}">
                <a16:creationId xmlns:a16="http://schemas.microsoft.com/office/drawing/2014/main" id="{5C3307E2-0438-4F40-A7AA-B2BC13AFDD02}"/>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21</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a:extLst>
              <a:ext uri="{FF2B5EF4-FFF2-40B4-BE49-F238E27FC236}">
                <a16:creationId xmlns:a16="http://schemas.microsoft.com/office/drawing/2014/main" id="{04D97FCC-EA32-4552-8D44-20205BD50676}"/>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chemeClr val="tx2"/>
                </a:solidFill>
                <a:latin typeface="Times New Roman" panose="02020603050405020304" pitchFamily="18" charset="0"/>
                <a:cs typeface="Times New Roman" panose="02020603050405020304" pitchFamily="18" charset="0"/>
              </a:rPr>
              <a:t>Sisteme de ordinul </a:t>
            </a:r>
            <a:r>
              <a:rPr lang="ro-RO" altLang="ro-RO" sz="4000">
                <a:solidFill>
                  <a:schemeClr val="tx2"/>
                </a:solidFill>
                <a:latin typeface="Times New Roman" panose="02020603050405020304" pitchFamily="18" charset="0"/>
                <a:cs typeface="Times New Roman" panose="02020603050405020304" pitchFamily="18" charset="0"/>
              </a:rPr>
              <a:t>î</a:t>
            </a:r>
            <a:r>
              <a:rPr lang="en-GB" altLang="ro-RO" sz="4000">
                <a:solidFill>
                  <a:schemeClr val="tx2"/>
                </a:solidFill>
                <a:latin typeface="Times New Roman" panose="02020603050405020304" pitchFamily="18" charset="0"/>
                <a:cs typeface="Times New Roman" panose="02020603050405020304" pitchFamily="18" charset="0"/>
              </a:rPr>
              <a:t>nt</a:t>
            </a:r>
            <a:r>
              <a:rPr lang="ro-RO" altLang="ro-RO" sz="4000">
                <a:solidFill>
                  <a:schemeClr val="tx2"/>
                </a:solidFill>
                <a:latin typeface="Times New Roman" panose="02020603050405020304" pitchFamily="18" charset="0"/>
                <a:cs typeface="Times New Roman" panose="02020603050405020304" pitchFamily="18" charset="0"/>
              </a:rPr>
              <a:t>â</a:t>
            </a:r>
            <a:r>
              <a:rPr lang="en-GB" altLang="ro-RO" sz="4000">
                <a:solidFill>
                  <a:schemeClr val="tx2"/>
                </a:solidFill>
                <a:latin typeface="Times New Roman" panose="02020603050405020304" pitchFamily="18" charset="0"/>
                <a:cs typeface="Times New Roman" panose="02020603050405020304" pitchFamily="18" charset="0"/>
              </a:rPr>
              <a:t>i</a:t>
            </a:r>
          </a:p>
        </p:txBody>
      </p:sp>
      <p:graphicFrame>
        <p:nvGraphicFramePr>
          <p:cNvPr id="24579" name="Object 6">
            <a:extLst>
              <a:ext uri="{FF2B5EF4-FFF2-40B4-BE49-F238E27FC236}">
                <a16:creationId xmlns:a16="http://schemas.microsoft.com/office/drawing/2014/main" id="{A34CBB1D-120B-4C4D-950F-346685255FAB}"/>
              </a:ext>
            </a:extLst>
          </p:cNvPr>
          <p:cNvGraphicFramePr>
            <a:graphicFrameLocks noChangeAspect="1"/>
          </p:cNvGraphicFramePr>
          <p:nvPr/>
        </p:nvGraphicFramePr>
        <p:xfrm>
          <a:off x="185738" y="3305175"/>
          <a:ext cx="8789987" cy="3306763"/>
        </p:xfrm>
        <a:graphic>
          <a:graphicData uri="http://schemas.openxmlformats.org/presentationml/2006/ole">
            <mc:AlternateContent xmlns:mc="http://schemas.openxmlformats.org/markup-compatibility/2006">
              <mc:Choice xmlns:v="urn:schemas-microsoft-com:vml" Requires="v">
                <p:oleObj spid="_x0000_s24582" name="Bitmap Image" r:id="rId4" imgW="7647619" imgH="2876190" progId="PBrush">
                  <p:embed/>
                </p:oleObj>
              </mc:Choice>
              <mc:Fallback>
                <p:oleObj name="Bitmap Image" r:id="rId4" imgW="7647619" imgH="2876190" progId="PBrush">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738" y="3305175"/>
                        <a:ext cx="8789987" cy="330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4580" name="Picture 10">
            <a:extLst>
              <a:ext uri="{FF2B5EF4-FFF2-40B4-BE49-F238E27FC236}">
                <a16:creationId xmlns:a16="http://schemas.microsoft.com/office/drawing/2014/main" id="{481339CE-E384-4611-B1A1-B6939E514C7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975" y="1447800"/>
            <a:ext cx="8286750" cy="172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1" name="TextBox 5">
            <a:extLst>
              <a:ext uri="{FF2B5EF4-FFF2-40B4-BE49-F238E27FC236}">
                <a16:creationId xmlns:a16="http://schemas.microsoft.com/office/drawing/2014/main" id="{BF5DA6F5-5C21-44C9-91F6-D99C1548D126}"/>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22</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4">
            <a:extLst>
              <a:ext uri="{FF2B5EF4-FFF2-40B4-BE49-F238E27FC236}">
                <a16:creationId xmlns:a16="http://schemas.microsoft.com/office/drawing/2014/main" id="{8ABEB118-7FA5-4C9F-A5D4-4E9913A325B8}"/>
              </a:ext>
            </a:extLst>
          </p:cNvPr>
          <p:cNvGraphicFramePr>
            <a:graphicFrameLocks noChangeAspect="1"/>
          </p:cNvGraphicFramePr>
          <p:nvPr/>
        </p:nvGraphicFramePr>
        <p:xfrm>
          <a:off x="3429000" y="1219200"/>
          <a:ext cx="5562600" cy="5195888"/>
        </p:xfrm>
        <a:graphic>
          <a:graphicData uri="http://schemas.openxmlformats.org/presentationml/2006/ole">
            <mc:AlternateContent xmlns:mc="http://schemas.openxmlformats.org/markup-compatibility/2006">
              <mc:Choice xmlns:v="urn:schemas-microsoft-com:vml" Requires="v">
                <p:oleObj spid="_x0000_s25607" name="Bitmap Image" r:id="rId4" imgW="3905795" imgH="3648584" progId="PBrush">
                  <p:embed/>
                </p:oleObj>
              </mc:Choice>
              <mc:Fallback>
                <p:oleObj name="Bitmap Image" r:id="rId4" imgW="3905795" imgH="3648584" progId="PBrush">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1219200"/>
                        <a:ext cx="5562600" cy="5195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5603" name="Picture 4">
            <a:extLst>
              <a:ext uri="{FF2B5EF4-FFF2-40B4-BE49-F238E27FC236}">
                <a16:creationId xmlns:a16="http://schemas.microsoft.com/office/drawing/2014/main" id="{BDAC3746-A2A9-4551-92D8-4315281677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95600" y="457200"/>
            <a:ext cx="2133600" cy="85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13B679CB-C3B5-40AE-94E6-3DB2BD020A94}"/>
              </a:ext>
            </a:extLst>
          </p:cNvPr>
          <p:cNvSpPr txBox="1">
            <a:spLocks noRot="1" noChangeAspect="1" noMove="1" noResize="1" noEditPoints="1" noAdjustHandles="1" noChangeArrowheads="1" noChangeShapeType="1" noTextEdit="1"/>
          </p:cNvSpPr>
          <p:nvPr/>
        </p:nvSpPr>
        <p:spPr>
          <a:xfrm>
            <a:off x="-5080" y="1314450"/>
            <a:ext cx="4088748" cy="2706959"/>
          </a:xfrm>
          <a:prstGeom prst="rect">
            <a:avLst/>
          </a:prstGeom>
          <a:blipFill rotWithShape="1">
            <a:blip r:embed="rId7"/>
            <a:stretch>
              <a:fillRect l="-1192" b="-2703"/>
            </a:stretch>
          </a:blipFill>
        </p:spPr>
        <p:txBody>
          <a:bodyPr/>
          <a:lstStyle/>
          <a:p>
            <a:pPr eaLnBrk="1" hangingPunct="1">
              <a:defRPr/>
            </a:pPr>
            <a:r>
              <a:rPr lang="en-US">
                <a:noFill/>
              </a:rPr>
              <a:t> </a:t>
            </a:r>
          </a:p>
        </p:txBody>
      </p:sp>
      <p:sp>
        <p:nvSpPr>
          <p:cNvPr id="3" name="TextBox 2">
            <a:extLst>
              <a:ext uri="{FF2B5EF4-FFF2-40B4-BE49-F238E27FC236}">
                <a16:creationId xmlns:a16="http://schemas.microsoft.com/office/drawing/2014/main" id="{92112DC8-98DC-4A4F-817B-2D9CDF60BB9A}"/>
              </a:ext>
            </a:extLst>
          </p:cNvPr>
          <p:cNvSpPr txBox="1">
            <a:spLocks noRot="1" noChangeAspect="1" noMove="1" noResize="1" noEditPoints="1" noAdjustHandles="1" noChangeArrowheads="1" noChangeShapeType="1" noTextEdit="1"/>
          </p:cNvSpPr>
          <p:nvPr/>
        </p:nvSpPr>
        <p:spPr>
          <a:xfrm>
            <a:off x="609600" y="4267200"/>
            <a:ext cx="3320203" cy="1166730"/>
          </a:xfrm>
          <a:prstGeom prst="rect">
            <a:avLst/>
          </a:prstGeom>
          <a:blipFill rotWithShape="1">
            <a:blip r:embed="rId8"/>
            <a:stretch>
              <a:fillRect t="-3141" r="-1651"/>
            </a:stretch>
          </a:blipFill>
        </p:spPr>
        <p:txBody>
          <a:bodyPr/>
          <a:lstStyle/>
          <a:p>
            <a:pPr eaLnBrk="1" hangingPunct="1">
              <a:defRPr/>
            </a:pPr>
            <a:r>
              <a:rPr lang="en-US">
                <a:noFill/>
              </a:rPr>
              <a:t> </a:t>
            </a:r>
          </a:p>
        </p:txBody>
      </p:sp>
      <p:sp>
        <p:nvSpPr>
          <p:cNvPr id="25606" name="TextBox 5">
            <a:extLst>
              <a:ext uri="{FF2B5EF4-FFF2-40B4-BE49-F238E27FC236}">
                <a16:creationId xmlns:a16="http://schemas.microsoft.com/office/drawing/2014/main" id="{9BF2132D-7D72-438E-96D6-10F0FD0A84B8}"/>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23</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DFCBCDC5-435F-4C27-8E77-799081781B9F}"/>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chemeClr val="tx2"/>
                </a:solidFill>
                <a:latin typeface="Times New Roman" panose="02020603050405020304" pitchFamily="18" charset="0"/>
                <a:cs typeface="Times New Roman" panose="02020603050405020304" pitchFamily="18" charset="0"/>
              </a:rPr>
              <a:t>Sisteme de ordinul doi</a:t>
            </a:r>
          </a:p>
        </p:txBody>
      </p:sp>
      <p:pic>
        <p:nvPicPr>
          <p:cNvPr id="26627" name="Picture 8">
            <a:extLst>
              <a:ext uri="{FF2B5EF4-FFF2-40B4-BE49-F238E27FC236}">
                <a16:creationId xmlns:a16="http://schemas.microsoft.com/office/drawing/2014/main" id="{50243546-4A1D-43F8-A552-CE5FAE97D0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3225" y="1752600"/>
            <a:ext cx="8286750" cy="3743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8" name="TextBox 5">
            <a:extLst>
              <a:ext uri="{FF2B5EF4-FFF2-40B4-BE49-F238E27FC236}">
                <a16:creationId xmlns:a16="http://schemas.microsoft.com/office/drawing/2014/main" id="{0FCAF047-59F0-479B-A1D4-45BF4B72B050}"/>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24</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50" name="Object 2">
            <a:extLst>
              <a:ext uri="{FF2B5EF4-FFF2-40B4-BE49-F238E27FC236}">
                <a16:creationId xmlns:a16="http://schemas.microsoft.com/office/drawing/2014/main" id="{EB5B34A7-4EA3-4E31-A336-D5E1CE84B90E}"/>
              </a:ext>
            </a:extLst>
          </p:cNvPr>
          <p:cNvGraphicFramePr>
            <a:graphicFrameLocks noChangeAspect="1"/>
          </p:cNvGraphicFramePr>
          <p:nvPr/>
        </p:nvGraphicFramePr>
        <p:xfrm>
          <a:off x="6162675" y="3644900"/>
          <a:ext cx="2514600" cy="498475"/>
        </p:xfrm>
        <a:graphic>
          <a:graphicData uri="http://schemas.openxmlformats.org/presentationml/2006/ole">
            <mc:AlternateContent xmlns:mc="http://schemas.openxmlformats.org/markup-compatibility/2006">
              <mc:Choice xmlns:v="urn:schemas-microsoft-com:vml" Requires="v">
                <p:oleObj spid="_x0000_s27658" name="Equation" r:id="rId4" imgW="1282700" imgH="254000" progId="">
                  <p:embed/>
                </p:oleObj>
              </mc:Choice>
              <mc:Fallback>
                <p:oleObj name="Equation" r:id="rId4" imgW="1282700" imgH="25400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2675" y="3644900"/>
                        <a:ext cx="25146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1" name="Object 3">
            <a:extLst>
              <a:ext uri="{FF2B5EF4-FFF2-40B4-BE49-F238E27FC236}">
                <a16:creationId xmlns:a16="http://schemas.microsoft.com/office/drawing/2014/main" id="{060ABA5E-89FA-4165-B1C0-A753E40C88D2}"/>
              </a:ext>
            </a:extLst>
          </p:cNvPr>
          <p:cNvGraphicFramePr>
            <a:graphicFrameLocks noChangeAspect="1"/>
          </p:cNvGraphicFramePr>
          <p:nvPr/>
        </p:nvGraphicFramePr>
        <p:xfrm>
          <a:off x="6137275" y="1371600"/>
          <a:ext cx="2895600" cy="736600"/>
        </p:xfrm>
        <a:graphic>
          <a:graphicData uri="http://schemas.openxmlformats.org/presentationml/2006/ole">
            <mc:AlternateContent xmlns:mc="http://schemas.openxmlformats.org/markup-compatibility/2006">
              <mc:Choice xmlns:v="urn:schemas-microsoft-com:vml" Requires="v">
                <p:oleObj spid="_x0000_s27659" name="Equation" r:id="rId6" imgW="1548728" imgH="393529" progId="">
                  <p:embed/>
                </p:oleObj>
              </mc:Choice>
              <mc:Fallback>
                <p:oleObj name="Equation" r:id="rId6" imgW="1548728" imgH="393529" progId="">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37275" y="1371600"/>
                        <a:ext cx="2895600" cy="73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7652" name="Object 4">
            <a:extLst>
              <a:ext uri="{FF2B5EF4-FFF2-40B4-BE49-F238E27FC236}">
                <a16:creationId xmlns:a16="http://schemas.microsoft.com/office/drawing/2014/main" id="{2DB00461-1730-4875-BB74-D5A2A7D4113C}"/>
              </a:ext>
            </a:extLst>
          </p:cNvPr>
          <p:cNvGraphicFramePr>
            <a:graphicFrameLocks noChangeAspect="1"/>
          </p:cNvGraphicFramePr>
          <p:nvPr/>
        </p:nvGraphicFramePr>
        <p:xfrm>
          <a:off x="6192838" y="4953000"/>
          <a:ext cx="2857500" cy="527050"/>
        </p:xfrm>
        <a:graphic>
          <a:graphicData uri="http://schemas.openxmlformats.org/presentationml/2006/ole">
            <mc:AlternateContent xmlns:mc="http://schemas.openxmlformats.org/markup-compatibility/2006">
              <mc:Choice xmlns:v="urn:schemas-microsoft-com:vml" Requires="v">
                <p:oleObj spid="_x0000_s27660" name="Equation" r:id="rId8" imgW="1447172" imgH="266584" progId="">
                  <p:embed/>
                </p:oleObj>
              </mc:Choice>
              <mc:Fallback>
                <p:oleObj name="Equation" r:id="rId8" imgW="1447172" imgH="266584" progId="">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92838" y="4953000"/>
                        <a:ext cx="2857500" cy="527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27653" name="Picture 9">
            <a:extLst>
              <a:ext uri="{FF2B5EF4-FFF2-40B4-BE49-F238E27FC236}">
                <a16:creationId xmlns:a16="http://schemas.microsoft.com/office/drawing/2014/main" id="{F53FDD0D-D3C2-4F35-A34B-72E26AA4C81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2400" y="1600200"/>
            <a:ext cx="550545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id="{AF66CB66-2404-46F0-BE0A-53B0B6C817FF}"/>
              </a:ext>
            </a:extLst>
          </p:cNvPr>
          <p:cNvSpPr txBox="1">
            <a:spLocks noRot="1" noChangeAspect="1" noMove="1" noResize="1" noEditPoints="1" noAdjustHandles="1" noChangeArrowheads="1" noChangeShapeType="1" noTextEdit="1"/>
          </p:cNvSpPr>
          <p:nvPr/>
        </p:nvSpPr>
        <p:spPr>
          <a:xfrm>
            <a:off x="5867400" y="2057400"/>
            <a:ext cx="3200400" cy="746808"/>
          </a:xfrm>
          <a:prstGeom prst="rect">
            <a:avLst/>
          </a:prstGeom>
          <a:blipFill rotWithShape="1">
            <a:blip r:embed="rId11"/>
            <a:stretch>
              <a:fillRect r="-2286"/>
            </a:stretch>
          </a:blipFill>
        </p:spPr>
        <p:txBody>
          <a:bodyPr/>
          <a:lstStyle/>
          <a:p>
            <a:pPr eaLnBrk="1" hangingPunct="1">
              <a:defRPr/>
            </a:pPr>
            <a:r>
              <a:rPr lang="en-US">
                <a:noFill/>
              </a:rPr>
              <a:t> </a:t>
            </a:r>
          </a:p>
        </p:txBody>
      </p:sp>
      <p:sp>
        <p:nvSpPr>
          <p:cNvPr id="3" name="TextBox 2">
            <a:extLst>
              <a:ext uri="{FF2B5EF4-FFF2-40B4-BE49-F238E27FC236}">
                <a16:creationId xmlns:a16="http://schemas.microsoft.com/office/drawing/2014/main" id="{AB47DAB9-626A-4C72-9AEE-7E06AECAD25D}"/>
              </a:ext>
            </a:extLst>
          </p:cNvPr>
          <p:cNvSpPr txBox="1">
            <a:spLocks noRot="1" noChangeAspect="1" noMove="1" noResize="1" noEditPoints="1" noAdjustHandles="1" noChangeArrowheads="1" noChangeShapeType="1" noTextEdit="1"/>
          </p:cNvSpPr>
          <p:nvPr/>
        </p:nvSpPr>
        <p:spPr>
          <a:xfrm>
            <a:off x="6162675" y="2983841"/>
            <a:ext cx="2373791" cy="661720"/>
          </a:xfrm>
          <a:prstGeom prst="rect">
            <a:avLst/>
          </a:prstGeom>
          <a:blipFill rotWithShape="1">
            <a:blip r:embed="rId12"/>
            <a:stretch>
              <a:fillRect r="-3085"/>
            </a:stretch>
          </a:blipFill>
        </p:spPr>
        <p:txBody>
          <a:bodyPr/>
          <a:lstStyle/>
          <a:p>
            <a:pPr eaLnBrk="1" hangingPunct="1">
              <a:defRPr/>
            </a:pPr>
            <a:r>
              <a:rPr lang="en-US">
                <a:noFill/>
              </a:rPr>
              <a:t> </a:t>
            </a:r>
          </a:p>
        </p:txBody>
      </p:sp>
      <p:sp>
        <p:nvSpPr>
          <p:cNvPr id="9" name="TextBox 8">
            <a:extLst>
              <a:ext uri="{FF2B5EF4-FFF2-40B4-BE49-F238E27FC236}">
                <a16:creationId xmlns:a16="http://schemas.microsoft.com/office/drawing/2014/main" id="{96FFCCF8-57F6-42F6-949C-CBD47AF36BB2}"/>
              </a:ext>
            </a:extLst>
          </p:cNvPr>
          <p:cNvSpPr txBox="1">
            <a:spLocks noRot="1" noChangeAspect="1" noMove="1" noResize="1" noEditPoints="1" noAdjustHandles="1" noChangeArrowheads="1" noChangeShapeType="1" noTextEdit="1"/>
          </p:cNvSpPr>
          <p:nvPr/>
        </p:nvSpPr>
        <p:spPr>
          <a:xfrm>
            <a:off x="6198235" y="4267200"/>
            <a:ext cx="2373791" cy="661720"/>
          </a:xfrm>
          <a:prstGeom prst="rect">
            <a:avLst/>
          </a:prstGeom>
          <a:blipFill rotWithShape="1">
            <a:blip r:embed="rId13"/>
            <a:stretch>
              <a:fillRect r="-3085"/>
            </a:stretch>
          </a:blipFill>
        </p:spPr>
        <p:txBody>
          <a:bodyPr/>
          <a:lstStyle/>
          <a:p>
            <a:pPr eaLnBrk="1" hangingPunct="1">
              <a:defRPr/>
            </a:pPr>
            <a:r>
              <a:rPr lang="en-US">
                <a:noFill/>
              </a:rPr>
              <a:t> </a:t>
            </a:r>
          </a:p>
        </p:txBody>
      </p:sp>
      <p:sp>
        <p:nvSpPr>
          <p:cNvPr id="27657" name="TextBox 9">
            <a:extLst>
              <a:ext uri="{FF2B5EF4-FFF2-40B4-BE49-F238E27FC236}">
                <a16:creationId xmlns:a16="http://schemas.microsoft.com/office/drawing/2014/main" id="{984C3169-33C0-45CF-8DA1-BC66F5018BF1}"/>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25</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id="{3A4F5D10-CC90-4E5C-90DF-36971F66026E}"/>
              </a:ext>
            </a:extLst>
          </p:cNvPr>
          <p:cNvSpPr>
            <a:spLocks noGrp="1"/>
          </p:cNvSpPr>
          <p:nvPr>
            <p:ph type="title"/>
          </p:nvPr>
        </p:nvSpPr>
        <p:spPr>
          <a:xfrm>
            <a:off x="304800" y="609600"/>
            <a:ext cx="8839200" cy="1143000"/>
          </a:xfrm>
        </p:spPr>
        <p:txBody>
          <a:bodyPr/>
          <a:lstStyle/>
          <a:p>
            <a:r>
              <a:rPr lang="ro-RO" altLang="ro-RO" sz="4000">
                <a:latin typeface="Times New Roman" panose="02020603050405020304" pitchFamily="18" charset="0"/>
                <a:cs typeface="Times New Roman" panose="02020603050405020304" pitchFamily="18" charset="0"/>
              </a:rPr>
              <a:t>Răspunsul unui sistem liniar şi invariant în timp discret la un</a:t>
            </a:r>
            <a:br>
              <a:rPr lang="ro-RO" altLang="ro-RO" sz="4000">
                <a:latin typeface="Times New Roman" panose="02020603050405020304" pitchFamily="18" charset="0"/>
                <a:cs typeface="Times New Roman" panose="02020603050405020304" pitchFamily="18" charset="0"/>
              </a:rPr>
            </a:br>
            <a:r>
              <a:rPr lang="ro-RO" altLang="ro-RO" sz="4000">
                <a:latin typeface="Times New Roman" panose="02020603050405020304" pitchFamily="18" charset="0"/>
                <a:cs typeface="Times New Roman" panose="02020603050405020304" pitchFamily="18" charset="0"/>
              </a:rPr>
              <a:t>semnal de intrare oarecare</a:t>
            </a:r>
            <a:endParaRPr lang="en-US" altLang="ro-RO" sz="4000">
              <a:latin typeface="Times New Roman" panose="02020603050405020304" pitchFamily="18" charset="0"/>
              <a:cs typeface="Times New Roman" panose="02020603050405020304" pitchFamily="18" charset="0"/>
            </a:endParaRPr>
          </a:p>
        </p:txBody>
      </p:sp>
      <p:pic>
        <p:nvPicPr>
          <p:cNvPr id="28675" name="Picture 3">
            <a:extLst>
              <a:ext uri="{FF2B5EF4-FFF2-40B4-BE49-F238E27FC236}">
                <a16:creationId xmlns:a16="http://schemas.microsoft.com/office/drawing/2014/main" id="{308356D5-B8EF-4D5A-9B76-1AB13B499D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133600"/>
            <a:ext cx="638175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676" name="Picture 4">
            <a:extLst>
              <a:ext uri="{FF2B5EF4-FFF2-40B4-BE49-F238E27FC236}">
                <a16:creationId xmlns:a16="http://schemas.microsoft.com/office/drawing/2014/main" id="{B39E2F5D-9D87-4F5B-9A6B-2AAF0F2693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5025" y="3429000"/>
            <a:ext cx="7496175" cy="226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677" name="TextBox 4">
            <a:extLst>
              <a:ext uri="{FF2B5EF4-FFF2-40B4-BE49-F238E27FC236}">
                <a16:creationId xmlns:a16="http://schemas.microsoft.com/office/drawing/2014/main" id="{257FBAF1-C979-4FD6-AF31-A481C2ACFBD6}"/>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26</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a:extLst>
              <a:ext uri="{FF2B5EF4-FFF2-40B4-BE49-F238E27FC236}">
                <a16:creationId xmlns:a16="http://schemas.microsoft.com/office/drawing/2014/main" id="{290DB9BD-19DB-4933-ACCF-D66E695AD9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11263"/>
            <a:ext cx="6838950" cy="5103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699" name="Title 1">
            <a:extLst>
              <a:ext uri="{FF2B5EF4-FFF2-40B4-BE49-F238E27FC236}">
                <a16:creationId xmlns:a16="http://schemas.microsoft.com/office/drawing/2014/main" id="{06C6C705-8E14-4DD4-9454-FDBCDCFE5A1C}"/>
              </a:ext>
            </a:extLst>
          </p:cNvPr>
          <p:cNvSpPr txBox="1">
            <a:spLocks/>
          </p:cNvSpPr>
          <p:nvPr/>
        </p:nvSpPr>
        <p:spPr bwMode="auto">
          <a:xfrm>
            <a:off x="0" y="68263"/>
            <a:ext cx="8839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ro-RO" altLang="ro-RO" sz="4000">
                <a:solidFill>
                  <a:schemeClr val="tx2"/>
                </a:solidFill>
                <a:latin typeface="Times New Roman" panose="02020603050405020304" pitchFamily="18" charset="0"/>
                <a:cs typeface="Times New Roman" panose="02020603050405020304" pitchFamily="18" charset="0"/>
              </a:rPr>
              <a:t>Metoda armonică</a:t>
            </a:r>
            <a:endParaRPr lang="en-US" altLang="ro-RO" sz="4000">
              <a:solidFill>
                <a:schemeClr val="tx2"/>
              </a:solidFill>
              <a:latin typeface="Times New Roman" panose="02020603050405020304" pitchFamily="18" charset="0"/>
              <a:cs typeface="Times New Roman" panose="02020603050405020304" pitchFamily="18" charset="0"/>
            </a:endParaRPr>
          </a:p>
        </p:txBody>
      </p:sp>
      <p:sp>
        <p:nvSpPr>
          <p:cNvPr id="29700" name="TextBox 3">
            <a:extLst>
              <a:ext uri="{FF2B5EF4-FFF2-40B4-BE49-F238E27FC236}">
                <a16:creationId xmlns:a16="http://schemas.microsoft.com/office/drawing/2014/main" id="{A5BEA21C-8F4D-4BFF-B451-ADF2974834F5}"/>
              </a:ext>
            </a:extLst>
          </p:cNvPr>
          <p:cNvSpPr txBox="1">
            <a:spLocks noChangeArrowheads="1"/>
          </p:cNvSpPr>
          <p:nvPr/>
        </p:nvSpPr>
        <p:spPr bwMode="auto">
          <a:xfrm>
            <a:off x="8534400" y="6256338"/>
            <a:ext cx="381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1400">
                <a:latin typeface="Times New Roman" panose="02020603050405020304" pitchFamily="18" charset="0"/>
                <a:cs typeface="Times New Roman" panose="02020603050405020304" pitchFamily="18" charset="0"/>
              </a:rPr>
              <a:t>27</a:t>
            </a:r>
            <a:endParaRPr lang="en-US" altLang="ro-RO" sz="1400">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a:extLst>
              <a:ext uri="{FF2B5EF4-FFF2-40B4-BE49-F238E27FC236}">
                <a16:creationId xmlns:a16="http://schemas.microsoft.com/office/drawing/2014/main" id="{1EBC9140-751A-41DE-9832-3449EA74D302}"/>
              </a:ext>
            </a:extLst>
          </p:cNvPr>
          <p:cNvSpPr>
            <a:spLocks noChangeArrowheads="1"/>
          </p:cNvSpPr>
          <p:nvPr/>
        </p:nvSpPr>
        <p:spPr bwMode="auto">
          <a:xfrm>
            <a:off x="685800" y="1676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rgbClr val="FF0000"/>
                </a:solidFill>
                <a:latin typeface="Times New Roman" panose="02020603050405020304" pitchFamily="18" charset="0"/>
                <a:cs typeface="Times New Roman" panose="02020603050405020304" pitchFamily="18" charset="0"/>
              </a:rPr>
              <a:t>Func</a:t>
            </a:r>
            <a:r>
              <a:rPr lang="ro-RO" altLang="ro-RO" sz="4000">
                <a:solidFill>
                  <a:srgbClr val="FF0000"/>
                </a:solidFill>
                <a:latin typeface="Times New Roman" panose="02020603050405020304" pitchFamily="18" charset="0"/>
                <a:cs typeface="Times New Roman" panose="02020603050405020304" pitchFamily="18" charset="0"/>
              </a:rPr>
              <a:t>ţ</a:t>
            </a:r>
            <a:r>
              <a:rPr lang="en-GB" altLang="ro-RO" sz="4000">
                <a:solidFill>
                  <a:srgbClr val="FF0000"/>
                </a:solidFill>
                <a:latin typeface="Times New Roman" panose="02020603050405020304" pitchFamily="18" charset="0"/>
                <a:cs typeface="Times New Roman" panose="02020603050405020304" pitchFamily="18" charset="0"/>
              </a:rPr>
              <a:t>ia de intercorela</a:t>
            </a:r>
            <a:r>
              <a:rPr lang="ro-RO" altLang="ro-RO" sz="4000">
                <a:solidFill>
                  <a:srgbClr val="FF0000"/>
                </a:solidFill>
                <a:latin typeface="Times New Roman" panose="02020603050405020304" pitchFamily="18" charset="0"/>
                <a:cs typeface="Times New Roman" panose="02020603050405020304" pitchFamily="18" charset="0"/>
              </a:rPr>
              <a:t>ţ</a:t>
            </a:r>
            <a:r>
              <a:rPr lang="en-GB" altLang="ro-RO" sz="4000">
                <a:solidFill>
                  <a:srgbClr val="FF0000"/>
                </a:solidFill>
                <a:latin typeface="Times New Roman" panose="02020603050405020304" pitchFamily="18" charset="0"/>
                <a:cs typeface="Times New Roman" panose="02020603050405020304" pitchFamily="18" charset="0"/>
              </a:rPr>
              <a:t>ie pentru semnalele discrete de energie infinit</a:t>
            </a:r>
            <a:r>
              <a:rPr lang="ro-RO" altLang="ro-RO" sz="4000">
                <a:solidFill>
                  <a:srgbClr val="FF0000"/>
                </a:solidFill>
                <a:latin typeface="Times New Roman" panose="02020603050405020304" pitchFamily="18" charset="0"/>
                <a:cs typeface="Times New Roman" panose="02020603050405020304" pitchFamily="18" charset="0"/>
              </a:rPr>
              <a:t>ă</a:t>
            </a:r>
            <a:r>
              <a:rPr lang="en-GB" altLang="ro-RO" sz="4000">
                <a:solidFill>
                  <a:srgbClr val="FF0000"/>
                </a:solidFill>
                <a:latin typeface="Times New Roman" panose="02020603050405020304" pitchFamily="18" charset="0"/>
                <a:cs typeface="Times New Roman" panose="02020603050405020304" pitchFamily="18" charset="0"/>
              </a:rPr>
              <a:t> dar de putere</a:t>
            </a:r>
            <a:br>
              <a:rPr lang="en-GB" altLang="ro-RO" sz="4000">
                <a:solidFill>
                  <a:srgbClr val="FF0000"/>
                </a:solidFill>
                <a:latin typeface="Times New Roman" panose="02020603050405020304" pitchFamily="18" charset="0"/>
                <a:cs typeface="Times New Roman" panose="02020603050405020304" pitchFamily="18" charset="0"/>
              </a:rPr>
            </a:br>
            <a:r>
              <a:rPr lang="en-GB" altLang="ro-RO" sz="4000">
                <a:solidFill>
                  <a:srgbClr val="FF0000"/>
                </a:solidFill>
                <a:latin typeface="Times New Roman" panose="02020603050405020304" pitchFamily="18" charset="0"/>
                <a:cs typeface="Times New Roman" panose="02020603050405020304" pitchFamily="18" charset="0"/>
              </a:rPr>
              <a:t>medie finit</a:t>
            </a:r>
            <a:r>
              <a:rPr lang="ro-RO" altLang="ro-RO" sz="4000">
                <a:solidFill>
                  <a:srgbClr val="FF0000"/>
                </a:solidFill>
                <a:latin typeface="Times New Roman" panose="02020603050405020304" pitchFamily="18" charset="0"/>
                <a:cs typeface="Times New Roman" panose="02020603050405020304" pitchFamily="18" charset="0"/>
              </a:rPr>
              <a:t>ă</a:t>
            </a:r>
            <a:br>
              <a:rPr lang="en-GB" altLang="ro-RO" sz="4400">
                <a:solidFill>
                  <a:schemeClr val="tx2"/>
                </a:solidFill>
                <a:latin typeface="TimesNewRoman,Bold"/>
              </a:rPr>
            </a:br>
            <a:endParaRPr lang="en-GB" altLang="ro-RO" sz="4400">
              <a:solidFill>
                <a:schemeClr val="tx2"/>
              </a:solidFill>
              <a:latin typeface="TimesNewRoman,Bold"/>
            </a:endParaRPr>
          </a:p>
        </p:txBody>
      </p:sp>
      <p:graphicFrame>
        <p:nvGraphicFramePr>
          <p:cNvPr id="30723" name="Object 2">
            <a:extLst>
              <a:ext uri="{FF2B5EF4-FFF2-40B4-BE49-F238E27FC236}">
                <a16:creationId xmlns:a16="http://schemas.microsoft.com/office/drawing/2014/main" id="{5FE54EE2-2EF1-4486-8F9F-0EDBB0283E7C}"/>
              </a:ext>
            </a:extLst>
          </p:cNvPr>
          <p:cNvGraphicFramePr>
            <a:graphicFrameLocks noChangeAspect="1"/>
          </p:cNvGraphicFramePr>
          <p:nvPr/>
        </p:nvGraphicFramePr>
        <p:xfrm>
          <a:off x="381000" y="3411538"/>
          <a:ext cx="8077200" cy="3105150"/>
        </p:xfrm>
        <a:graphic>
          <a:graphicData uri="http://schemas.openxmlformats.org/presentationml/2006/ole">
            <mc:AlternateContent xmlns:mc="http://schemas.openxmlformats.org/markup-compatibility/2006">
              <mc:Choice xmlns:v="urn:schemas-microsoft-com:vml" Requires="v">
                <p:oleObj spid="_x0000_s30724" name="Equation" r:id="rId4" imgW="4127500" imgH="1587500" progId="">
                  <p:embed/>
                </p:oleObj>
              </mc:Choice>
              <mc:Fallback>
                <p:oleObj name="Equation" r:id="rId4" imgW="4127500" imgH="158750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3411538"/>
                        <a:ext cx="8077200" cy="310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a:extLst>
              <a:ext uri="{FF2B5EF4-FFF2-40B4-BE49-F238E27FC236}">
                <a16:creationId xmlns:a16="http://schemas.microsoft.com/office/drawing/2014/main" id="{8D8C3FE1-68C6-4880-9521-00B3E33D26E5}"/>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000">
                <a:solidFill>
                  <a:srgbClr val="FF0000"/>
                </a:solidFill>
                <a:latin typeface="Times New Roman" panose="02020603050405020304" pitchFamily="18" charset="0"/>
                <a:cs typeface="Times New Roman" panose="02020603050405020304" pitchFamily="18" charset="0"/>
              </a:rPr>
              <a:t>Propriet</a:t>
            </a:r>
            <a:r>
              <a:rPr lang="ro-RO" altLang="ro-RO" sz="4000">
                <a:solidFill>
                  <a:srgbClr val="FF0000"/>
                </a:solidFill>
                <a:latin typeface="Times New Roman" panose="02020603050405020304" pitchFamily="18" charset="0"/>
                <a:cs typeface="Times New Roman" panose="02020603050405020304" pitchFamily="18" charset="0"/>
              </a:rPr>
              <a:t>ăţ</a:t>
            </a:r>
            <a:r>
              <a:rPr lang="en-US" altLang="ro-RO" sz="4000">
                <a:solidFill>
                  <a:srgbClr val="FF0000"/>
                </a:solidFill>
                <a:latin typeface="Times New Roman" panose="02020603050405020304" pitchFamily="18" charset="0"/>
                <a:cs typeface="Times New Roman" panose="02020603050405020304" pitchFamily="18" charset="0"/>
              </a:rPr>
              <a:t>i</a:t>
            </a:r>
            <a:endParaRPr lang="en-GB" altLang="ro-RO" sz="4000">
              <a:solidFill>
                <a:srgbClr val="FF0000"/>
              </a:solidFill>
              <a:latin typeface="Times New Roman" panose="02020603050405020304" pitchFamily="18" charset="0"/>
              <a:cs typeface="Times New Roman" panose="02020603050405020304" pitchFamily="18" charset="0"/>
            </a:endParaRPr>
          </a:p>
        </p:txBody>
      </p:sp>
      <p:graphicFrame>
        <p:nvGraphicFramePr>
          <p:cNvPr id="31747" name="Object 2">
            <a:extLst>
              <a:ext uri="{FF2B5EF4-FFF2-40B4-BE49-F238E27FC236}">
                <a16:creationId xmlns:a16="http://schemas.microsoft.com/office/drawing/2014/main" id="{3265C5FA-DE31-4C85-91E4-A21DBF932B0C}"/>
              </a:ext>
            </a:extLst>
          </p:cNvPr>
          <p:cNvGraphicFramePr>
            <a:graphicFrameLocks noChangeAspect="1"/>
          </p:cNvGraphicFramePr>
          <p:nvPr/>
        </p:nvGraphicFramePr>
        <p:xfrm>
          <a:off x="1524000" y="2336800"/>
          <a:ext cx="5867400" cy="1628775"/>
        </p:xfrm>
        <a:graphic>
          <a:graphicData uri="http://schemas.openxmlformats.org/presentationml/2006/ole">
            <mc:AlternateContent xmlns:mc="http://schemas.openxmlformats.org/markup-compatibility/2006">
              <mc:Choice xmlns:v="urn:schemas-microsoft-com:vml" Requires="v">
                <p:oleObj spid="_x0000_s31748" name="Equation" r:id="rId3" imgW="2971800" imgH="825500" progId="">
                  <p:embed/>
                </p:oleObj>
              </mc:Choice>
              <mc:Fallback>
                <p:oleObj name="Equation" r:id="rId3" imgW="2971800" imgH="8255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336800"/>
                        <a:ext cx="5867400" cy="162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a:extLst>
              <a:ext uri="{FF2B5EF4-FFF2-40B4-BE49-F238E27FC236}">
                <a16:creationId xmlns:a16="http://schemas.microsoft.com/office/drawing/2014/main" id="{008F2910-8519-48DA-BD59-C11E65AD89A3}"/>
              </a:ext>
            </a:extLst>
          </p:cNvPr>
          <p:cNvSpPr>
            <a:spLocks noChangeArrowheads="1"/>
          </p:cNvSpPr>
          <p:nvPr/>
        </p:nvSpPr>
        <p:spPr bwMode="auto">
          <a:xfrm>
            <a:off x="228600" y="12192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rgbClr val="FF0000"/>
                </a:solidFill>
                <a:latin typeface="Times New Roman" panose="02020603050405020304" pitchFamily="18" charset="0"/>
                <a:cs typeface="Times New Roman" panose="02020603050405020304" pitchFamily="18" charset="0"/>
              </a:rPr>
              <a:t>Func</a:t>
            </a:r>
            <a:r>
              <a:rPr lang="ro-RO" altLang="ro-RO" sz="4000">
                <a:solidFill>
                  <a:srgbClr val="FF0000"/>
                </a:solidFill>
                <a:latin typeface="Times New Roman" panose="02020603050405020304" pitchFamily="18" charset="0"/>
                <a:cs typeface="Times New Roman" panose="02020603050405020304" pitchFamily="18" charset="0"/>
              </a:rPr>
              <a:t>ţ</a:t>
            </a:r>
            <a:r>
              <a:rPr lang="en-GB" altLang="ro-RO" sz="4000">
                <a:solidFill>
                  <a:srgbClr val="FF0000"/>
                </a:solidFill>
                <a:latin typeface="Times New Roman" panose="02020603050405020304" pitchFamily="18" charset="0"/>
                <a:cs typeface="Times New Roman" panose="02020603050405020304" pitchFamily="18" charset="0"/>
              </a:rPr>
              <a:t>ia de </a:t>
            </a:r>
            <a:r>
              <a:rPr lang="ro-RO" altLang="ro-RO" sz="4000">
                <a:solidFill>
                  <a:srgbClr val="FF0000"/>
                </a:solidFill>
                <a:latin typeface="Times New Roman" panose="02020603050405020304" pitchFamily="18" charset="0"/>
                <a:cs typeface="Times New Roman" panose="02020603050405020304" pitchFamily="18" charset="0"/>
              </a:rPr>
              <a:t>inter</a:t>
            </a:r>
            <a:r>
              <a:rPr lang="en-GB" altLang="ro-RO" sz="4000">
                <a:solidFill>
                  <a:srgbClr val="FF0000"/>
                </a:solidFill>
                <a:latin typeface="Times New Roman" panose="02020603050405020304" pitchFamily="18" charset="0"/>
                <a:cs typeface="Times New Roman" panose="02020603050405020304" pitchFamily="18" charset="0"/>
              </a:rPr>
              <a:t>corela</a:t>
            </a:r>
            <a:r>
              <a:rPr lang="ro-RO" altLang="ro-RO" sz="4000">
                <a:solidFill>
                  <a:srgbClr val="FF0000"/>
                </a:solidFill>
                <a:latin typeface="Times New Roman" panose="02020603050405020304" pitchFamily="18" charset="0"/>
                <a:cs typeface="Times New Roman" panose="02020603050405020304" pitchFamily="18" charset="0"/>
              </a:rPr>
              <a:t>ţ</a:t>
            </a:r>
            <a:r>
              <a:rPr lang="en-GB" altLang="ro-RO" sz="4000">
                <a:solidFill>
                  <a:srgbClr val="FF0000"/>
                </a:solidFill>
                <a:latin typeface="Times New Roman" panose="02020603050405020304" pitchFamily="18" charset="0"/>
                <a:cs typeface="Times New Roman" panose="02020603050405020304" pitchFamily="18" charset="0"/>
              </a:rPr>
              <a:t>ie pentru semnalele discrete de energie finit</a:t>
            </a:r>
            <a:r>
              <a:rPr lang="ro-RO" altLang="ro-RO" sz="4000">
                <a:solidFill>
                  <a:srgbClr val="FF0000"/>
                </a:solidFill>
                <a:latin typeface="Times New Roman" panose="02020603050405020304" pitchFamily="18" charset="0"/>
                <a:cs typeface="Times New Roman" panose="02020603050405020304" pitchFamily="18" charset="0"/>
              </a:rPr>
              <a:t>ă</a:t>
            </a:r>
            <a:br>
              <a:rPr lang="en-GB" altLang="ro-RO" sz="4400">
                <a:solidFill>
                  <a:schemeClr val="tx2"/>
                </a:solidFill>
                <a:latin typeface="TimesNewRoman,Bold"/>
              </a:rPr>
            </a:br>
            <a:endParaRPr lang="en-GB" altLang="ro-RO" sz="4400">
              <a:solidFill>
                <a:schemeClr val="tx2"/>
              </a:solidFill>
              <a:latin typeface="TimesNewRoman,Bold"/>
            </a:endParaRPr>
          </a:p>
        </p:txBody>
      </p:sp>
      <p:graphicFrame>
        <p:nvGraphicFramePr>
          <p:cNvPr id="32771" name="Object 2">
            <a:extLst>
              <a:ext uri="{FF2B5EF4-FFF2-40B4-BE49-F238E27FC236}">
                <a16:creationId xmlns:a16="http://schemas.microsoft.com/office/drawing/2014/main" id="{4EF29BC8-98AC-4A04-BB80-D6E044212178}"/>
              </a:ext>
            </a:extLst>
          </p:cNvPr>
          <p:cNvGraphicFramePr>
            <a:graphicFrameLocks noChangeAspect="1"/>
          </p:cNvGraphicFramePr>
          <p:nvPr/>
        </p:nvGraphicFramePr>
        <p:xfrm>
          <a:off x="533400" y="2962275"/>
          <a:ext cx="8153400" cy="2620963"/>
        </p:xfrm>
        <a:graphic>
          <a:graphicData uri="http://schemas.openxmlformats.org/presentationml/2006/ole">
            <mc:AlternateContent xmlns:mc="http://schemas.openxmlformats.org/markup-compatibility/2006">
              <mc:Choice xmlns:v="urn:schemas-microsoft-com:vml" Requires="v">
                <p:oleObj spid="_x0000_s32772" name="Equation" r:id="rId3" imgW="4457700" imgH="1358900" progId="">
                  <p:embed/>
                </p:oleObj>
              </mc:Choice>
              <mc:Fallback>
                <p:oleObj name="Equation" r:id="rId3" imgW="4457700" imgH="13589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2962275"/>
                        <a:ext cx="8153400" cy="262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a:extLst>
              <a:ext uri="{FF2B5EF4-FFF2-40B4-BE49-F238E27FC236}">
                <a16:creationId xmlns:a16="http://schemas.microsoft.com/office/drawing/2014/main" id="{DD66F538-72B0-417D-B4E2-5EE8E6670084}"/>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000">
                <a:solidFill>
                  <a:srgbClr val="FF0000"/>
                </a:solidFill>
                <a:latin typeface="Times New Roman" panose="02020603050405020304" pitchFamily="18" charset="0"/>
                <a:cs typeface="Times New Roman" panose="02020603050405020304" pitchFamily="18" charset="0"/>
              </a:rPr>
              <a:t>Propriet</a:t>
            </a:r>
            <a:r>
              <a:rPr lang="ro-RO" altLang="ro-RO" sz="4000">
                <a:solidFill>
                  <a:srgbClr val="FF0000"/>
                </a:solidFill>
                <a:latin typeface="Times New Roman" panose="02020603050405020304" pitchFamily="18" charset="0"/>
                <a:cs typeface="Times New Roman" panose="02020603050405020304" pitchFamily="18" charset="0"/>
              </a:rPr>
              <a:t>ăţ</a:t>
            </a:r>
            <a:r>
              <a:rPr lang="en-US" altLang="ro-RO" sz="4000">
                <a:solidFill>
                  <a:srgbClr val="FF0000"/>
                </a:solidFill>
                <a:latin typeface="Times New Roman" panose="02020603050405020304" pitchFamily="18" charset="0"/>
                <a:cs typeface="Times New Roman" panose="02020603050405020304" pitchFamily="18" charset="0"/>
              </a:rPr>
              <a:t>i ale func</a:t>
            </a:r>
            <a:r>
              <a:rPr lang="ro-RO" altLang="ro-RO" sz="4000">
                <a:solidFill>
                  <a:srgbClr val="FF0000"/>
                </a:solidFill>
                <a:latin typeface="Times New Roman" panose="02020603050405020304" pitchFamily="18" charset="0"/>
                <a:cs typeface="Times New Roman" panose="02020603050405020304" pitchFamily="18" charset="0"/>
              </a:rPr>
              <a:t>ţ</a:t>
            </a:r>
            <a:r>
              <a:rPr lang="en-US" altLang="ro-RO" sz="4000">
                <a:solidFill>
                  <a:srgbClr val="FF0000"/>
                </a:solidFill>
                <a:latin typeface="Times New Roman" panose="02020603050405020304" pitchFamily="18" charset="0"/>
                <a:cs typeface="Times New Roman" panose="02020603050405020304" pitchFamily="18" charset="0"/>
              </a:rPr>
              <a:t>iei de autocorela</a:t>
            </a:r>
            <a:r>
              <a:rPr lang="ro-RO" altLang="ro-RO" sz="4000">
                <a:solidFill>
                  <a:srgbClr val="FF0000"/>
                </a:solidFill>
                <a:latin typeface="Times New Roman" panose="02020603050405020304" pitchFamily="18" charset="0"/>
                <a:cs typeface="Times New Roman" panose="02020603050405020304" pitchFamily="18" charset="0"/>
              </a:rPr>
              <a:t>ţ</a:t>
            </a:r>
            <a:r>
              <a:rPr lang="en-US" altLang="ro-RO" sz="4000">
                <a:solidFill>
                  <a:srgbClr val="FF0000"/>
                </a:solidFill>
                <a:latin typeface="Times New Roman" panose="02020603050405020304" pitchFamily="18" charset="0"/>
                <a:cs typeface="Times New Roman" panose="02020603050405020304" pitchFamily="18" charset="0"/>
              </a:rPr>
              <a:t>ie a semnalelor discrete de energie finit</a:t>
            </a:r>
            <a:r>
              <a:rPr lang="ro-RO" altLang="ro-RO" sz="4000">
                <a:solidFill>
                  <a:srgbClr val="FF0000"/>
                </a:solidFill>
                <a:latin typeface="Times New Roman" panose="02020603050405020304" pitchFamily="18" charset="0"/>
                <a:cs typeface="Times New Roman" panose="02020603050405020304" pitchFamily="18" charset="0"/>
              </a:rPr>
              <a:t>ă</a:t>
            </a:r>
            <a:endParaRPr lang="en-GB" altLang="ro-RO" sz="4000">
              <a:solidFill>
                <a:srgbClr val="FF0000"/>
              </a:solidFill>
              <a:latin typeface="Times New Roman" panose="02020603050405020304" pitchFamily="18" charset="0"/>
              <a:cs typeface="Times New Roman" panose="02020603050405020304" pitchFamily="18" charset="0"/>
            </a:endParaRPr>
          </a:p>
        </p:txBody>
      </p:sp>
      <p:graphicFrame>
        <p:nvGraphicFramePr>
          <p:cNvPr id="33795" name="Object 2">
            <a:extLst>
              <a:ext uri="{FF2B5EF4-FFF2-40B4-BE49-F238E27FC236}">
                <a16:creationId xmlns:a16="http://schemas.microsoft.com/office/drawing/2014/main" id="{D3BA204C-30E5-4C3B-982F-F53795F8F33E}"/>
              </a:ext>
            </a:extLst>
          </p:cNvPr>
          <p:cNvGraphicFramePr>
            <a:graphicFrameLocks noChangeAspect="1"/>
          </p:cNvGraphicFramePr>
          <p:nvPr/>
        </p:nvGraphicFramePr>
        <p:xfrm>
          <a:off x="685800" y="2700338"/>
          <a:ext cx="6858000" cy="3373437"/>
        </p:xfrm>
        <a:graphic>
          <a:graphicData uri="http://schemas.openxmlformats.org/presentationml/2006/ole">
            <mc:AlternateContent xmlns:mc="http://schemas.openxmlformats.org/markup-compatibility/2006">
              <mc:Choice xmlns:v="urn:schemas-microsoft-com:vml" Requires="v">
                <p:oleObj spid="_x0000_s33796" name="Equation" r:id="rId3" imgW="3175000" imgH="1562100" progId="">
                  <p:embed/>
                </p:oleObj>
              </mc:Choice>
              <mc:Fallback>
                <p:oleObj name="Equation" r:id="rId3" imgW="3175000" imgH="1562100" progId="">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2700338"/>
                        <a:ext cx="6858000" cy="337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4" descr="fig83">
            <a:extLst>
              <a:ext uri="{FF2B5EF4-FFF2-40B4-BE49-F238E27FC236}">
                <a16:creationId xmlns:a16="http://schemas.microsoft.com/office/drawing/2014/main" id="{0415DCBD-B810-41AF-A254-6A8E2DEA6C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19" name="Picture 5" descr="fig84">
            <a:extLst>
              <a:ext uri="{FF2B5EF4-FFF2-40B4-BE49-F238E27FC236}">
                <a16:creationId xmlns:a16="http://schemas.microsoft.com/office/drawing/2014/main" id="{6560CE91-B5A9-4AE2-BFE4-A0D42B1E82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3486150"/>
            <a:ext cx="4495800" cy="337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D322AEF6-5B55-4847-8F63-F1D14AB1DEE1}"/>
              </a:ext>
            </a:extLst>
          </p:cNvPr>
          <p:cNvSpPr>
            <a:spLocks noChangeArrowheads="1"/>
          </p:cNvSpPr>
          <p:nvPr/>
        </p:nvSpPr>
        <p:spPr bwMode="auto">
          <a:xfrm>
            <a:off x="609600" y="1676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GB" altLang="ro-RO" sz="4000">
                <a:solidFill>
                  <a:srgbClr val="FF0000"/>
                </a:solidFill>
                <a:latin typeface="Times New Roman" panose="02020603050405020304" pitchFamily="18" charset="0"/>
                <a:cs typeface="Times New Roman" panose="02020603050405020304" pitchFamily="18" charset="0"/>
              </a:rPr>
              <a:t>Rela</a:t>
            </a:r>
            <a:r>
              <a:rPr lang="ro-RO" altLang="ro-RO" sz="4000">
                <a:solidFill>
                  <a:srgbClr val="FF0000"/>
                </a:solidFill>
                <a:latin typeface="Times New Roman" panose="02020603050405020304" pitchFamily="18" charset="0"/>
                <a:cs typeface="Times New Roman" panose="02020603050405020304" pitchFamily="18" charset="0"/>
              </a:rPr>
              <a:t>ţ</a:t>
            </a:r>
            <a:r>
              <a:rPr lang="en-GB" altLang="ro-RO" sz="4000">
                <a:solidFill>
                  <a:srgbClr val="FF0000"/>
                </a:solidFill>
                <a:latin typeface="Times New Roman" panose="02020603050405020304" pitchFamily="18" charset="0"/>
                <a:cs typeface="Times New Roman" panose="02020603050405020304" pitchFamily="18" charset="0"/>
              </a:rPr>
              <a:t>ia </a:t>
            </a:r>
            <a:r>
              <a:rPr lang="ro-RO" altLang="ro-RO" sz="4000">
                <a:solidFill>
                  <a:srgbClr val="FF0000"/>
                </a:solidFill>
                <a:latin typeface="Times New Roman" panose="02020603050405020304" pitchFamily="18" charset="0"/>
                <a:cs typeface="Times New Roman" panose="02020603050405020304" pitchFamily="18" charset="0"/>
              </a:rPr>
              <a:t>î</a:t>
            </a:r>
            <a:r>
              <a:rPr lang="en-GB" altLang="ro-RO" sz="4000">
                <a:solidFill>
                  <a:srgbClr val="FF0000"/>
                </a:solidFill>
                <a:latin typeface="Times New Roman" panose="02020603050405020304" pitchFamily="18" charset="0"/>
                <a:cs typeface="Times New Roman" panose="02020603050405020304" pitchFamily="18" charset="0"/>
              </a:rPr>
              <a:t>ntre densit</a:t>
            </a:r>
            <a:r>
              <a:rPr lang="ro-RO" altLang="ro-RO" sz="4000">
                <a:solidFill>
                  <a:srgbClr val="FF0000"/>
                </a:solidFill>
                <a:latin typeface="Times New Roman" panose="02020603050405020304" pitchFamily="18" charset="0"/>
                <a:cs typeface="Times New Roman" panose="02020603050405020304" pitchFamily="18" charset="0"/>
              </a:rPr>
              <a:t>ăţ</a:t>
            </a:r>
            <a:r>
              <a:rPr lang="en-GB" altLang="ro-RO" sz="4000">
                <a:solidFill>
                  <a:srgbClr val="FF0000"/>
                </a:solidFill>
                <a:latin typeface="Times New Roman" panose="02020603050405020304" pitchFamily="18" charset="0"/>
                <a:cs typeface="Times New Roman" panose="02020603050405020304" pitchFamily="18" charset="0"/>
              </a:rPr>
              <a:t>ile spectrale de putere </a:t>
            </a:r>
            <a:r>
              <a:rPr lang="ro-RO" altLang="ro-RO" sz="4000">
                <a:solidFill>
                  <a:srgbClr val="FF0000"/>
                </a:solidFill>
                <a:latin typeface="Times New Roman" panose="02020603050405020304" pitchFamily="18" charset="0"/>
                <a:cs typeface="Times New Roman" panose="02020603050405020304" pitchFamily="18" charset="0"/>
              </a:rPr>
              <a:t>ş</a:t>
            </a:r>
            <a:r>
              <a:rPr lang="en-GB" altLang="ro-RO" sz="4000">
                <a:solidFill>
                  <a:srgbClr val="FF0000"/>
                </a:solidFill>
                <a:latin typeface="Times New Roman" panose="02020603050405020304" pitchFamily="18" charset="0"/>
                <a:cs typeface="Times New Roman" panose="02020603050405020304" pitchFamily="18" charset="0"/>
              </a:rPr>
              <a:t>i de energie ale semnalelor ce trec prin</a:t>
            </a:r>
            <a:r>
              <a:rPr lang="en-US" altLang="ro-RO" sz="4000">
                <a:solidFill>
                  <a:srgbClr val="FF0000"/>
                </a:solidFill>
                <a:latin typeface="Times New Roman" panose="02020603050405020304" pitchFamily="18" charset="0"/>
                <a:cs typeface="Times New Roman" panose="02020603050405020304" pitchFamily="18" charset="0"/>
              </a:rPr>
              <a:t> </a:t>
            </a:r>
            <a:r>
              <a:rPr lang="en-GB" altLang="ro-RO" sz="4000">
                <a:solidFill>
                  <a:srgbClr val="FF0000"/>
                </a:solidFill>
                <a:latin typeface="Times New Roman" panose="02020603050405020304" pitchFamily="18" charset="0"/>
                <a:cs typeface="Times New Roman" panose="02020603050405020304" pitchFamily="18" charset="0"/>
              </a:rPr>
              <a:t>sisteme discrete,</a:t>
            </a:r>
            <a:r>
              <a:rPr lang="en-US" altLang="ro-RO" sz="4000">
                <a:solidFill>
                  <a:srgbClr val="FF0000"/>
                </a:solidFill>
                <a:latin typeface="Times New Roman" panose="02020603050405020304" pitchFamily="18" charset="0"/>
                <a:cs typeface="Times New Roman" panose="02020603050405020304" pitchFamily="18" charset="0"/>
              </a:rPr>
              <a:t> </a:t>
            </a:r>
            <a:r>
              <a:rPr lang="en-GB" altLang="ro-RO" sz="4000">
                <a:solidFill>
                  <a:srgbClr val="FF0000"/>
                </a:solidFill>
                <a:latin typeface="Times New Roman" panose="02020603050405020304" pitchFamily="18" charset="0"/>
                <a:cs typeface="Times New Roman" panose="02020603050405020304" pitchFamily="18" charset="0"/>
              </a:rPr>
              <a:t>linare </a:t>
            </a:r>
            <a:r>
              <a:rPr lang="ro-RO" altLang="ro-RO" sz="4000">
                <a:solidFill>
                  <a:srgbClr val="FF0000"/>
                </a:solidFill>
                <a:latin typeface="Times New Roman" panose="02020603050405020304" pitchFamily="18" charset="0"/>
                <a:cs typeface="Times New Roman" panose="02020603050405020304" pitchFamily="18" charset="0"/>
              </a:rPr>
              <a:t>ş</a:t>
            </a:r>
            <a:r>
              <a:rPr lang="en-GB" altLang="ro-RO" sz="4000">
                <a:solidFill>
                  <a:srgbClr val="FF0000"/>
                </a:solidFill>
                <a:latin typeface="Times New Roman" panose="02020603050405020304" pitchFamily="18" charset="0"/>
                <a:cs typeface="Times New Roman" panose="02020603050405020304" pitchFamily="18" charset="0"/>
              </a:rPr>
              <a:t>i invariante </a:t>
            </a:r>
            <a:r>
              <a:rPr lang="ro-RO" altLang="ro-RO" sz="4000">
                <a:solidFill>
                  <a:srgbClr val="FF0000"/>
                </a:solidFill>
                <a:latin typeface="Times New Roman" panose="02020603050405020304" pitchFamily="18" charset="0"/>
                <a:cs typeface="Times New Roman" panose="02020603050405020304" pitchFamily="18" charset="0"/>
              </a:rPr>
              <a:t>î</a:t>
            </a:r>
            <a:r>
              <a:rPr lang="en-GB" altLang="ro-RO" sz="4000">
                <a:solidFill>
                  <a:srgbClr val="FF0000"/>
                </a:solidFill>
                <a:latin typeface="Times New Roman" panose="02020603050405020304" pitchFamily="18" charset="0"/>
                <a:cs typeface="Times New Roman" panose="02020603050405020304" pitchFamily="18" charset="0"/>
              </a:rPr>
              <a:t>n timp</a:t>
            </a:r>
            <a:br>
              <a:rPr lang="en-GB" altLang="ro-RO" sz="4400">
                <a:solidFill>
                  <a:schemeClr val="tx2"/>
                </a:solidFill>
                <a:latin typeface="TimesNewRoman,Bold"/>
              </a:rPr>
            </a:br>
            <a:endParaRPr lang="en-GB" altLang="ro-RO" sz="4400">
              <a:solidFill>
                <a:schemeClr val="tx2"/>
              </a:solidFill>
              <a:latin typeface="TimesNewRoman,Bold"/>
            </a:endParaRPr>
          </a:p>
        </p:txBody>
      </p:sp>
      <p:graphicFrame>
        <p:nvGraphicFramePr>
          <p:cNvPr id="35843" name="Object 2">
            <a:extLst>
              <a:ext uri="{FF2B5EF4-FFF2-40B4-BE49-F238E27FC236}">
                <a16:creationId xmlns:a16="http://schemas.microsoft.com/office/drawing/2014/main" id="{88CB2E95-1BD2-4C7D-B98F-41250498146E}"/>
              </a:ext>
            </a:extLst>
          </p:cNvPr>
          <p:cNvGraphicFramePr>
            <a:graphicFrameLocks noChangeAspect="1"/>
          </p:cNvGraphicFramePr>
          <p:nvPr/>
        </p:nvGraphicFramePr>
        <p:xfrm>
          <a:off x="381000" y="3738563"/>
          <a:ext cx="8534400" cy="2217737"/>
        </p:xfrm>
        <a:graphic>
          <a:graphicData uri="http://schemas.openxmlformats.org/presentationml/2006/ole">
            <mc:AlternateContent xmlns:mc="http://schemas.openxmlformats.org/markup-compatibility/2006">
              <mc:Choice xmlns:v="urn:schemas-microsoft-com:vml" Requires="v">
                <p:oleObj spid="_x0000_s35845" name="Equation" r:id="rId4" imgW="4597400" imgH="1193800" progId="">
                  <p:embed/>
                </p:oleObj>
              </mc:Choice>
              <mc:Fallback>
                <p:oleObj name="Equation" r:id="rId4" imgW="4597400" imgH="119380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3738563"/>
                        <a:ext cx="8534400" cy="221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844" name="Text Box 6">
            <a:extLst>
              <a:ext uri="{FF2B5EF4-FFF2-40B4-BE49-F238E27FC236}">
                <a16:creationId xmlns:a16="http://schemas.microsoft.com/office/drawing/2014/main" id="{22F47053-4A08-4DBB-B9C8-F770923BEA5D}"/>
              </a:ext>
            </a:extLst>
          </p:cNvPr>
          <p:cNvSpPr txBox="1">
            <a:spLocks noChangeArrowheads="1"/>
          </p:cNvSpPr>
          <p:nvPr/>
        </p:nvSpPr>
        <p:spPr bwMode="auto">
          <a:xfrm>
            <a:off x="457200" y="6019800"/>
            <a:ext cx="815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corelatoare</a:t>
            </a:r>
            <a:endParaRPr lang="ro-RO" altLang="ro-RO" sz="2400">
              <a:latin typeface="Times New Roman" panose="02020603050405020304"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BCD45DC6-81FD-4ED2-A613-04DB3CB5D1E7}"/>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000">
                <a:solidFill>
                  <a:srgbClr val="FF0000"/>
                </a:solidFill>
                <a:latin typeface="Times New Roman" panose="02020603050405020304" pitchFamily="18" charset="0"/>
                <a:cs typeface="Times New Roman" panose="02020603050405020304" pitchFamily="18" charset="0"/>
              </a:rPr>
              <a:t>Transformata Fourier discretă</a:t>
            </a:r>
            <a:r>
              <a:rPr lang="en-US" altLang="ro-RO" sz="4000">
                <a:solidFill>
                  <a:srgbClr val="FF0000"/>
                </a:solidFill>
                <a:latin typeface="Times New Roman" panose="02020603050405020304" pitchFamily="18" charset="0"/>
                <a:cs typeface="Times New Roman" panose="02020603050405020304" pitchFamily="18" charset="0"/>
              </a:rPr>
              <a:t> </a:t>
            </a:r>
            <a:r>
              <a:rPr lang="ro-RO" altLang="ro-RO" sz="4000">
                <a:solidFill>
                  <a:srgbClr val="FF0000"/>
                </a:solidFill>
                <a:latin typeface="Times New Roman" panose="02020603050405020304" pitchFamily="18" charset="0"/>
                <a:cs typeface="Times New Roman" panose="02020603050405020304" pitchFamily="18" charset="0"/>
              </a:rPr>
              <a:t>(TFD)</a:t>
            </a:r>
            <a:endParaRPr lang="en-US" altLang="ro-RO" sz="4000">
              <a:solidFill>
                <a:srgbClr val="FF0000"/>
              </a:solidFill>
              <a:latin typeface="Times New Roman" panose="02020603050405020304" pitchFamily="18" charset="0"/>
              <a:cs typeface="Times New Roman" panose="02020603050405020304" pitchFamily="18" charset="0"/>
            </a:endParaRPr>
          </a:p>
        </p:txBody>
      </p:sp>
      <p:sp>
        <p:nvSpPr>
          <p:cNvPr id="36867" name="Rectangle 5">
            <a:extLst>
              <a:ext uri="{FF2B5EF4-FFF2-40B4-BE49-F238E27FC236}">
                <a16:creationId xmlns:a16="http://schemas.microsoft.com/office/drawing/2014/main" id="{0CBC911A-D16E-4A26-A91A-CE51F849EDD7}"/>
              </a:ext>
            </a:extLst>
          </p:cNvPr>
          <p:cNvSpPr>
            <a:spLocks noChangeArrowheads="1"/>
          </p:cNvSpPr>
          <p:nvPr/>
        </p:nvSpPr>
        <p:spPr bwMode="auto">
          <a:xfrm>
            <a:off x="685800" y="1981200"/>
            <a:ext cx="38100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ro-RO" altLang="ro-RO" sz="2800"/>
              <a:t> </a:t>
            </a:r>
            <a:endParaRPr lang="en-US" altLang="ro-RO" sz="2800"/>
          </a:p>
        </p:txBody>
      </p:sp>
      <p:sp>
        <p:nvSpPr>
          <p:cNvPr id="36868" name="Rectangle 6">
            <a:extLst>
              <a:ext uri="{FF2B5EF4-FFF2-40B4-BE49-F238E27FC236}">
                <a16:creationId xmlns:a16="http://schemas.microsoft.com/office/drawing/2014/main" id="{74571A4F-C01A-4DA9-BE28-1A93E6CF327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sp>
        <p:nvSpPr>
          <p:cNvPr id="36869" name="Rectangle 8">
            <a:extLst>
              <a:ext uri="{FF2B5EF4-FFF2-40B4-BE49-F238E27FC236}">
                <a16:creationId xmlns:a16="http://schemas.microsoft.com/office/drawing/2014/main" id="{1ABD80D3-53AE-4544-B514-7DA2C8AF54D1}"/>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aphicFrame>
        <p:nvGraphicFramePr>
          <p:cNvPr id="36870" name="Object 9">
            <a:extLst>
              <a:ext uri="{FF2B5EF4-FFF2-40B4-BE49-F238E27FC236}">
                <a16:creationId xmlns:a16="http://schemas.microsoft.com/office/drawing/2014/main" id="{363B9377-85C4-4392-B717-F30706DF746D}"/>
              </a:ext>
            </a:extLst>
          </p:cNvPr>
          <p:cNvGraphicFramePr>
            <a:graphicFrameLocks noChangeAspect="1"/>
          </p:cNvGraphicFramePr>
          <p:nvPr/>
        </p:nvGraphicFramePr>
        <p:xfrm>
          <a:off x="2819400" y="1905000"/>
          <a:ext cx="5103813" cy="647700"/>
        </p:xfrm>
        <a:graphic>
          <a:graphicData uri="http://schemas.openxmlformats.org/presentationml/2006/ole">
            <mc:AlternateContent xmlns:mc="http://schemas.openxmlformats.org/markup-compatibility/2006">
              <mc:Choice xmlns:v="urn:schemas-microsoft-com:vml" Requires="v">
                <p:oleObj spid="_x0000_s36876" name="Equation" r:id="rId4" imgW="2032000" imgH="254000" progId="Equation.DSMT4">
                  <p:embed/>
                </p:oleObj>
              </mc:Choice>
              <mc:Fallback>
                <p:oleObj name="Equation" r:id="rId4" imgW="2032000" imgH="2540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1905000"/>
                        <a:ext cx="51038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1" name="Rectangle 10">
            <a:extLst>
              <a:ext uri="{FF2B5EF4-FFF2-40B4-BE49-F238E27FC236}">
                <a16:creationId xmlns:a16="http://schemas.microsoft.com/office/drawing/2014/main" id="{12A9A254-DA37-4AE0-B2C8-66FC9AD4542D}"/>
              </a:ext>
            </a:extLst>
          </p:cNvPr>
          <p:cNvSpPr>
            <a:spLocks noChangeArrowheads="1"/>
          </p:cNvSpPr>
          <p:nvPr/>
        </p:nvSpPr>
        <p:spPr bwMode="auto">
          <a:xfrm>
            <a:off x="0" y="3062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aphicFrame>
        <p:nvGraphicFramePr>
          <p:cNvPr id="36872" name="Object 11">
            <a:extLst>
              <a:ext uri="{FF2B5EF4-FFF2-40B4-BE49-F238E27FC236}">
                <a16:creationId xmlns:a16="http://schemas.microsoft.com/office/drawing/2014/main" id="{C219F093-BFEB-4CFD-9239-7910A0326C20}"/>
              </a:ext>
            </a:extLst>
          </p:cNvPr>
          <p:cNvGraphicFramePr>
            <a:graphicFrameLocks noChangeAspect="1"/>
          </p:cNvGraphicFramePr>
          <p:nvPr/>
        </p:nvGraphicFramePr>
        <p:xfrm>
          <a:off x="242888" y="2971800"/>
          <a:ext cx="8356600" cy="1668463"/>
        </p:xfrm>
        <a:graphic>
          <a:graphicData uri="http://schemas.openxmlformats.org/presentationml/2006/ole">
            <mc:AlternateContent xmlns:mc="http://schemas.openxmlformats.org/markup-compatibility/2006">
              <mc:Choice xmlns:v="urn:schemas-microsoft-com:vml" Requires="v">
                <p:oleObj spid="_x0000_s36877" name="Equation" r:id="rId6" imgW="3670300" imgH="736600" progId="Equation.DSMT4">
                  <p:embed/>
                </p:oleObj>
              </mc:Choice>
              <mc:Fallback>
                <p:oleObj name="Equation" r:id="rId6" imgW="3670300" imgH="73660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2888" y="2971800"/>
                        <a:ext cx="8356600" cy="166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873" name="Rectangle 12">
            <a:extLst>
              <a:ext uri="{FF2B5EF4-FFF2-40B4-BE49-F238E27FC236}">
                <a16:creationId xmlns:a16="http://schemas.microsoft.com/office/drawing/2014/main" id="{772FB2DC-CC0A-4CE0-A724-DC470D2C5A02}"/>
              </a:ext>
            </a:extLst>
          </p:cNvPr>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ro-RO"/>
          </a:p>
        </p:txBody>
      </p:sp>
      <p:graphicFrame>
        <p:nvGraphicFramePr>
          <p:cNvPr id="36874" name="Object 13">
            <a:extLst>
              <a:ext uri="{FF2B5EF4-FFF2-40B4-BE49-F238E27FC236}">
                <a16:creationId xmlns:a16="http://schemas.microsoft.com/office/drawing/2014/main" id="{1EFCFF0D-8A6A-475C-9920-61C0730C6D14}"/>
              </a:ext>
            </a:extLst>
          </p:cNvPr>
          <p:cNvGraphicFramePr>
            <a:graphicFrameLocks noChangeAspect="1"/>
          </p:cNvGraphicFramePr>
          <p:nvPr/>
        </p:nvGraphicFramePr>
        <p:xfrm>
          <a:off x="2133600" y="4953000"/>
          <a:ext cx="4456113" cy="1214438"/>
        </p:xfrm>
        <a:graphic>
          <a:graphicData uri="http://schemas.openxmlformats.org/presentationml/2006/ole">
            <mc:AlternateContent xmlns:mc="http://schemas.openxmlformats.org/markup-compatibility/2006">
              <mc:Choice xmlns:v="urn:schemas-microsoft-com:vml" Requires="v">
                <p:oleObj spid="_x0000_s36878" name="Equation" r:id="rId8" imgW="1714500" imgH="469900" progId="Equation.DSMT4">
                  <p:embed/>
                </p:oleObj>
              </mc:Choice>
              <mc:Fallback>
                <p:oleObj name="Equation" r:id="rId8" imgW="1714500" imgH="469900" progId="Equation.DSMT4">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33600" y="4953000"/>
                        <a:ext cx="4456113"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875" name="Object 14">
            <a:extLst>
              <a:ext uri="{FF2B5EF4-FFF2-40B4-BE49-F238E27FC236}">
                <a16:creationId xmlns:a16="http://schemas.microsoft.com/office/drawing/2014/main" id="{140912B0-2FC6-46A1-BDB2-D2CDD205C917}"/>
              </a:ext>
            </a:extLst>
          </p:cNvPr>
          <p:cNvGraphicFramePr>
            <a:graphicFrameLocks noChangeAspect="1"/>
          </p:cNvGraphicFramePr>
          <p:nvPr/>
        </p:nvGraphicFramePr>
        <p:xfrm>
          <a:off x="425450" y="1970088"/>
          <a:ext cx="2027238" cy="554037"/>
        </p:xfrm>
        <a:graphic>
          <a:graphicData uri="http://schemas.openxmlformats.org/presentationml/2006/ole">
            <mc:AlternateContent xmlns:mc="http://schemas.openxmlformats.org/markup-compatibility/2006">
              <mc:Choice xmlns:v="urn:schemas-microsoft-com:vml" Requires="v">
                <p:oleObj spid="_x0000_s36879" name="Equation" r:id="rId10" imgW="558558" imgH="152334" progId="Equation.3">
                  <p:embed/>
                </p:oleObj>
              </mc:Choice>
              <mc:Fallback>
                <p:oleObj name="Equation" r:id="rId10" imgW="558558" imgH="152334"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25450" y="1970088"/>
                        <a:ext cx="2027238" cy="55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a:extLst>
              <a:ext uri="{FF2B5EF4-FFF2-40B4-BE49-F238E27FC236}">
                <a16:creationId xmlns:a16="http://schemas.microsoft.com/office/drawing/2014/main" id="{7519F75C-CFF5-4C38-847F-DC6DDB31132B}"/>
              </a:ext>
            </a:extLst>
          </p:cNvPr>
          <p:cNvSpPr>
            <a:spLocks noChangeArrowheads="1"/>
          </p:cNvSpPr>
          <p:nvPr/>
        </p:nvSpPr>
        <p:spPr bwMode="auto">
          <a:xfrm>
            <a:off x="685800" y="3810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400">
                <a:solidFill>
                  <a:srgbClr val="FF0000"/>
                </a:solidFill>
                <a:latin typeface="Times New Roman" panose="02020603050405020304" pitchFamily="18" charset="0"/>
                <a:cs typeface="Times New Roman" panose="02020603050405020304" pitchFamily="18" charset="0"/>
              </a:rPr>
              <a:t>Exemplu</a:t>
            </a:r>
            <a:endParaRPr lang="en-US" altLang="ro-RO" sz="4400">
              <a:solidFill>
                <a:srgbClr val="FF0000"/>
              </a:solidFill>
              <a:latin typeface="Times New Roman" panose="02020603050405020304" pitchFamily="18" charset="0"/>
              <a:cs typeface="Times New Roman" panose="02020603050405020304" pitchFamily="18" charset="0"/>
            </a:endParaRPr>
          </a:p>
        </p:txBody>
      </p:sp>
      <p:graphicFrame>
        <p:nvGraphicFramePr>
          <p:cNvPr id="37891" name="Object 5">
            <a:extLst>
              <a:ext uri="{FF2B5EF4-FFF2-40B4-BE49-F238E27FC236}">
                <a16:creationId xmlns:a16="http://schemas.microsoft.com/office/drawing/2014/main" id="{9B179370-6310-4C3C-9EA8-BE31EF0BEC6B}"/>
              </a:ext>
            </a:extLst>
          </p:cNvPr>
          <p:cNvGraphicFramePr>
            <a:graphicFrameLocks noChangeAspect="1"/>
          </p:cNvGraphicFramePr>
          <p:nvPr/>
        </p:nvGraphicFramePr>
        <p:xfrm>
          <a:off x="152400" y="1374775"/>
          <a:ext cx="2971800" cy="382588"/>
        </p:xfrm>
        <a:graphic>
          <a:graphicData uri="http://schemas.openxmlformats.org/presentationml/2006/ole">
            <mc:AlternateContent xmlns:mc="http://schemas.openxmlformats.org/markup-compatibility/2006">
              <mc:Choice xmlns:v="urn:schemas-microsoft-com:vml" Requires="v">
                <p:oleObj spid="_x0000_s37895" name="Equation" r:id="rId3" imgW="1675673" imgH="215806" progId="Equation.DSMT4">
                  <p:embed/>
                </p:oleObj>
              </mc:Choice>
              <mc:Fallback>
                <p:oleObj name="Equation" r:id="rId3" imgW="1675673" imgH="215806"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374775"/>
                        <a:ext cx="29718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2" name="Object 6">
            <a:extLst>
              <a:ext uri="{FF2B5EF4-FFF2-40B4-BE49-F238E27FC236}">
                <a16:creationId xmlns:a16="http://schemas.microsoft.com/office/drawing/2014/main" id="{9B08B7C1-212A-48E5-8035-A1C86A98E00B}"/>
              </a:ext>
            </a:extLst>
          </p:cNvPr>
          <p:cNvGraphicFramePr>
            <a:graphicFrameLocks noChangeAspect="1"/>
          </p:cNvGraphicFramePr>
          <p:nvPr/>
        </p:nvGraphicFramePr>
        <p:xfrm>
          <a:off x="614363" y="1981200"/>
          <a:ext cx="3648075" cy="1004888"/>
        </p:xfrm>
        <a:graphic>
          <a:graphicData uri="http://schemas.openxmlformats.org/presentationml/2006/ole">
            <mc:AlternateContent xmlns:mc="http://schemas.openxmlformats.org/markup-compatibility/2006">
              <mc:Choice xmlns:v="urn:schemas-microsoft-com:vml" Requires="v">
                <p:oleObj spid="_x0000_s37896" name="Equation" r:id="rId5" imgW="2489200" imgH="685800" progId="Equation.DSMT4">
                  <p:embed/>
                </p:oleObj>
              </mc:Choice>
              <mc:Fallback>
                <p:oleObj name="Equation" r:id="rId5" imgW="2489200" imgH="6858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4363" y="1981200"/>
                        <a:ext cx="3648075"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7893" name="Object 7">
            <a:extLst>
              <a:ext uri="{FF2B5EF4-FFF2-40B4-BE49-F238E27FC236}">
                <a16:creationId xmlns:a16="http://schemas.microsoft.com/office/drawing/2014/main" id="{C26B44A9-00E2-4BAF-8488-88FD1C5499F6}"/>
              </a:ext>
            </a:extLst>
          </p:cNvPr>
          <p:cNvGraphicFramePr>
            <a:graphicFrameLocks noChangeAspect="1"/>
          </p:cNvGraphicFramePr>
          <p:nvPr/>
        </p:nvGraphicFramePr>
        <p:xfrm>
          <a:off x="4506913" y="1905000"/>
          <a:ext cx="4092575" cy="1000125"/>
        </p:xfrm>
        <a:graphic>
          <a:graphicData uri="http://schemas.openxmlformats.org/presentationml/2006/ole">
            <mc:AlternateContent xmlns:mc="http://schemas.openxmlformats.org/markup-compatibility/2006">
              <mc:Choice xmlns:v="urn:schemas-microsoft-com:vml" Requires="v">
                <p:oleObj spid="_x0000_s37897" name="Equation" r:id="rId7" imgW="2806700" imgH="685800" progId="Equation.DSMT4">
                  <p:embed/>
                </p:oleObj>
              </mc:Choice>
              <mc:Fallback>
                <p:oleObj name="Equation" r:id="rId7" imgW="2806700" imgH="68580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06913" y="1905000"/>
                        <a:ext cx="40925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37894" name="Picture 8">
            <a:extLst>
              <a:ext uri="{FF2B5EF4-FFF2-40B4-BE49-F238E27FC236}">
                <a16:creationId xmlns:a16="http://schemas.microsoft.com/office/drawing/2014/main" id="{E20DAD72-9A00-4961-9D51-29BA289F375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2600" y="3124200"/>
            <a:ext cx="5762625"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9AB392C8-7219-453F-A833-8A19EBB653B8}"/>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000">
                <a:solidFill>
                  <a:srgbClr val="FF0000"/>
                </a:solidFill>
                <a:latin typeface="Times New Roman" panose="02020603050405020304" pitchFamily="18" charset="0"/>
                <a:cs typeface="Times New Roman" panose="02020603050405020304" pitchFamily="18" charset="0"/>
              </a:rPr>
              <a:t>Algoritmul TFR (FFT) pentru calculul TFD</a:t>
            </a:r>
            <a:endParaRPr lang="en-US" altLang="ro-RO" sz="4000">
              <a:solidFill>
                <a:srgbClr val="FF0000"/>
              </a:solidFill>
              <a:latin typeface="Times New Roman" panose="02020603050405020304" pitchFamily="18" charset="0"/>
              <a:cs typeface="Times New Roman" panose="02020603050405020304" pitchFamily="18" charset="0"/>
            </a:endParaRPr>
          </a:p>
        </p:txBody>
      </p:sp>
      <p:sp>
        <p:nvSpPr>
          <p:cNvPr id="38915" name="Rectangle 5">
            <a:extLst>
              <a:ext uri="{FF2B5EF4-FFF2-40B4-BE49-F238E27FC236}">
                <a16:creationId xmlns:a16="http://schemas.microsoft.com/office/drawing/2014/main" id="{884BFEBD-6E87-4C99-A2C6-EB77ECF86BE7}"/>
              </a:ext>
            </a:extLst>
          </p:cNvPr>
          <p:cNvSpPr>
            <a:spLocks noChangeArrowheads="1"/>
          </p:cNvSpPr>
          <p:nvPr/>
        </p:nvSpPr>
        <p:spPr bwMode="auto">
          <a:xfrm>
            <a:off x="381000" y="1981200"/>
            <a:ext cx="8305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ro-RO" altLang="ro-RO" sz="2400">
                <a:latin typeface="Times New Roman" panose="02020603050405020304" pitchFamily="18" charset="0"/>
              </a:rPr>
              <a:t>Dezvoltarea prelucrării numerice a semnalelor a început odată cu elaborarea algoritmului de transformare Fourier rapidă (TFR, FFT conform iniţialelor din limba engleză). Acesta exploatează anumite proprietăţi ale exponenţialelor complexe. Implementarea algoritmului TFR este eficientă când lungimea suportului secvenţei de transformat, respectiv a perioadei semnalului periodizat este o putere a lui 2. Când această cerinţă nu este îndeplinită, se prelungeşte intervalul din </a:t>
            </a:r>
            <a:r>
              <a:rPr lang="en-US" altLang="ro-RO" sz="2400">
                <a:latin typeface="Times New Roman" panose="02020603050405020304" pitchFamily="18" charset="0"/>
              </a:rPr>
              <a:t>Z</a:t>
            </a:r>
            <a:r>
              <a:rPr lang="ro-RO" altLang="ro-RO" sz="2400">
                <a:latin typeface="Times New Roman" panose="02020603050405020304" pitchFamily="18" charset="0"/>
              </a:rPr>
              <a:t> pe care se face transformarea până ce lungimea sa devine o putere a lui 2, completând semnalul cu eşantioane nule.</a:t>
            </a:r>
            <a:r>
              <a:rPr lang="en-US" altLang="ro-RO" sz="2400"/>
              <a:t> </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938" name="Object 4">
            <a:extLst>
              <a:ext uri="{FF2B5EF4-FFF2-40B4-BE49-F238E27FC236}">
                <a16:creationId xmlns:a16="http://schemas.microsoft.com/office/drawing/2014/main" id="{2EF35FCE-7CAC-4E63-96D7-2EC0844C9172}"/>
              </a:ext>
            </a:extLst>
          </p:cNvPr>
          <p:cNvGraphicFramePr>
            <a:graphicFrameLocks noChangeAspect="1"/>
          </p:cNvGraphicFramePr>
          <p:nvPr/>
        </p:nvGraphicFramePr>
        <p:xfrm>
          <a:off x="1336675" y="609600"/>
          <a:ext cx="6697663" cy="1358900"/>
        </p:xfrm>
        <a:graphic>
          <a:graphicData uri="http://schemas.openxmlformats.org/presentationml/2006/ole">
            <mc:AlternateContent xmlns:mc="http://schemas.openxmlformats.org/markup-compatibility/2006">
              <mc:Choice xmlns:v="urn:schemas-microsoft-com:vml" Requires="v">
                <p:oleObj spid="_x0000_s39940" name="Equation" r:id="rId3" imgW="3505200" imgH="711200" progId="Equation.DSMT4">
                  <p:embed/>
                </p:oleObj>
              </mc:Choice>
              <mc:Fallback>
                <p:oleObj name="Equation" r:id="rId3" imgW="3505200" imgH="7112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6675" y="609600"/>
                        <a:ext cx="6697663"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9939" name="Text Box 5">
            <a:extLst>
              <a:ext uri="{FF2B5EF4-FFF2-40B4-BE49-F238E27FC236}">
                <a16:creationId xmlns:a16="http://schemas.microsoft.com/office/drawing/2014/main" id="{5118D97F-E37A-48CE-939A-C1C78424FC2D}"/>
              </a:ext>
            </a:extLst>
          </p:cNvPr>
          <p:cNvSpPr txBox="1">
            <a:spLocks noChangeArrowheads="1"/>
          </p:cNvSpPr>
          <p:nvPr/>
        </p:nvSpPr>
        <p:spPr bwMode="auto">
          <a:xfrm>
            <a:off x="304800" y="2590800"/>
            <a:ext cx="8382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O implementare naiv</a:t>
            </a:r>
            <a:r>
              <a:rPr lang="ro-RO" altLang="ro-RO" sz="2400">
                <a:latin typeface="Times New Roman" panose="02020603050405020304" pitchFamily="18" charset="0"/>
              </a:rPr>
              <a:t>ă</a:t>
            </a:r>
            <a:r>
              <a:rPr lang="en-US" altLang="ro-RO" sz="2400">
                <a:latin typeface="Times New Roman" panose="02020603050405020304" pitchFamily="18" charset="0"/>
              </a:rPr>
              <a:t> ar presupune calculul produsului vectorilor [ </a:t>
            </a:r>
            <a:r>
              <a:rPr lang="en-US" altLang="ro-RO" sz="2400" i="1">
                <a:latin typeface="Times New Roman" panose="02020603050405020304" pitchFamily="18" charset="0"/>
              </a:rPr>
              <a:t>x</a:t>
            </a:r>
            <a:r>
              <a:rPr lang="en-US" altLang="ro-RO" sz="2400">
                <a:latin typeface="Times New Roman" panose="02020603050405020304" pitchFamily="18" charset="0"/>
              </a:rPr>
              <a:t>[</a:t>
            </a:r>
            <a:r>
              <a:rPr lang="en-US" altLang="ro-RO" sz="2400" i="1">
                <a:latin typeface="Times New Roman" panose="02020603050405020304" pitchFamily="18" charset="0"/>
              </a:rPr>
              <a:t>N</a:t>
            </a:r>
            <a:r>
              <a:rPr lang="en-US" altLang="ro-RO" sz="2400" baseline="-25000">
                <a:latin typeface="Times New Roman" panose="02020603050405020304" pitchFamily="18" charset="0"/>
              </a:rPr>
              <a:t>1</a:t>
            </a:r>
            <a:r>
              <a:rPr lang="en-US" altLang="ro-RO" sz="2400">
                <a:latin typeface="Times New Roman" panose="02020603050405020304" pitchFamily="18" charset="0"/>
              </a:rPr>
              <a:t>] </a:t>
            </a:r>
            <a:r>
              <a:rPr lang="en-US" altLang="ro-RO" sz="2400" i="1">
                <a:latin typeface="Times New Roman" panose="02020603050405020304" pitchFamily="18" charset="0"/>
              </a:rPr>
              <a:t>x</a:t>
            </a:r>
            <a:r>
              <a:rPr lang="en-US" altLang="ro-RO" sz="2400">
                <a:latin typeface="Times New Roman" panose="02020603050405020304" pitchFamily="18" charset="0"/>
              </a:rPr>
              <a:t>[</a:t>
            </a:r>
            <a:r>
              <a:rPr lang="en-US" altLang="ro-RO" sz="2400" i="1">
                <a:latin typeface="Times New Roman" panose="02020603050405020304" pitchFamily="18" charset="0"/>
              </a:rPr>
              <a:t>N</a:t>
            </a:r>
            <a:r>
              <a:rPr lang="en-US" altLang="ro-RO" sz="2400" baseline="-25000">
                <a:latin typeface="Times New Roman" panose="02020603050405020304" pitchFamily="18" charset="0"/>
              </a:rPr>
              <a:t>1</a:t>
            </a:r>
            <a:r>
              <a:rPr lang="en-US" altLang="ro-RO" sz="2400">
                <a:latin typeface="Times New Roman" panose="02020603050405020304" pitchFamily="18" charset="0"/>
              </a:rPr>
              <a:t>+1]… </a:t>
            </a:r>
            <a:r>
              <a:rPr lang="en-US" altLang="ro-RO" sz="2400" i="1">
                <a:latin typeface="Times New Roman" panose="02020603050405020304" pitchFamily="18" charset="0"/>
              </a:rPr>
              <a:t>x</a:t>
            </a:r>
            <a:r>
              <a:rPr lang="en-US" altLang="ro-RO" sz="2400">
                <a:latin typeface="Times New Roman" panose="02020603050405020304" pitchFamily="18" charset="0"/>
              </a:rPr>
              <a:t>[</a:t>
            </a:r>
            <a:r>
              <a:rPr lang="en-US" altLang="ro-RO" sz="2400" i="1">
                <a:latin typeface="Times New Roman" panose="02020603050405020304" pitchFamily="18" charset="0"/>
              </a:rPr>
              <a:t>N</a:t>
            </a:r>
            <a:r>
              <a:rPr lang="en-US" altLang="ro-RO" sz="2400" baseline="-25000">
                <a:latin typeface="Times New Roman" panose="02020603050405020304" pitchFamily="18" charset="0"/>
              </a:rPr>
              <a:t>2</a:t>
            </a:r>
            <a:r>
              <a:rPr lang="en-US" altLang="ro-RO" sz="2400">
                <a:latin typeface="Times New Roman" panose="02020603050405020304" pitchFamily="18" charset="0"/>
              </a:rPr>
              <a:t>] ] </a:t>
            </a:r>
            <a:r>
              <a:rPr lang="ro-RO" altLang="ro-RO" sz="2400">
                <a:latin typeface="Times New Roman" panose="02020603050405020304" pitchFamily="18" charset="0"/>
              </a:rPr>
              <a:t>ş</a:t>
            </a:r>
            <a:r>
              <a:rPr lang="en-US" altLang="ro-RO" sz="2400">
                <a:latin typeface="Times New Roman" panose="02020603050405020304" pitchFamily="18" charset="0"/>
              </a:rPr>
              <a:t>i [ </a:t>
            </a:r>
            <a:r>
              <a:rPr lang="en-US" altLang="ro-RO" sz="2400" i="1">
                <a:latin typeface="Times New Roman" panose="02020603050405020304" pitchFamily="18" charset="0"/>
              </a:rPr>
              <a:t>w</a:t>
            </a:r>
            <a:r>
              <a:rPr lang="en-US" altLang="ro-RO" sz="2400" i="1" baseline="-25000">
                <a:latin typeface="Times New Roman" panose="02020603050405020304" pitchFamily="18" charset="0"/>
              </a:rPr>
              <a:t>N</a:t>
            </a:r>
            <a:r>
              <a:rPr lang="en-US" altLang="ro-RO" sz="2400" i="1" baseline="30000">
                <a:latin typeface="Times New Roman" panose="02020603050405020304" pitchFamily="18" charset="0"/>
              </a:rPr>
              <a:t>kN</a:t>
            </a:r>
            <a:r>
              <a:rPr lang="en-US" altLang="ro-RO" baseline="30000">
                <a:latin typeface="Times New Roman" panose="02020603050405020304" pitchFamily="18" charset="0"/>
              </a:rPr>
              <a:t>1 </a:t>
            </a:r>
            <a:r>
              <a:rPr lang="en-US" altLang="ro-RO" sz="2400" i="1">
                <a:latin typeface="Times New Roman" panose="02020603050405020304" pitchFamily="18" charset="0"/>
              </a:rPr>
              <a:t>w</a:t>
            </a:r>
            <a:r>
              <a:rPr lang="en-US" altLang="ro-RO" sz="2400" i="1" baseline="-25000">
                <a:latin typeface="Times New Roman" panose="02020603050405020304" pitchFamily="18" charset="0"/>
              </a:rPr>
              <a:t>N</a:t>
            </a:r>
            <a:r>
              <a:rPr lang="en-US" altLang="ro-RO" sz="2400" i="1" baseline="30000">
                <a:latin typeface="Times New Roman" panose="02020603050405020304" pitchFamily="18" charset="0"/>
              </a:rPr>
              <a:t>k(N</a:t>
            </a:r>
            <a:r>
              <a:rPr lang="en-US" altLang="ro-RO" baseline="30000">
                <a:latin typeface="Times New Roman" panose="02020603050405020304" pitchFamily="18" charset="0"/>
              </a:rPr>
              <a:t>1</a:t>
            </a:r>
            <a:r>
              <a:rPr lang="en-US" altLang="ro-RO" sz="2400" baseline="30000">
                <a:latin typeface="Times New Roman" panose="02020603050405020304" pitchFamily="18" charset="0"/>
              </a:rPr>
              <a:t>+1)</a:t>
            </a:r>
            <a:r>
              <a:rPr lang="en-US" altLang="ro-RO" sz="2400">
                <a:latin typeface="Times New Roman" panose="02020603050405020304" pitchFamily="18" charset="0"/>
              </a:rPr>
              <a:t>… </a:t>
            </a:r>
            <a:r>
              <a:rPr lang="en-US" altLang="ro-RO" sz="2400" i="1">
                <a:latin typeface="Times New Roman" panose="02020603050405020304" pitchFamily="18" charset="0"/>
              </a:rPr>
              <a:t>w</a:t>
            </a:r>
            <a:r>
              <a:rPr lang="en-US" altLang="ro-RO" sz="2400" i="1" baseline="-25000">
                <a:latin typeface="Times New Roman" panose="02020603050405020304" pitchFamily="18" charset="0"/>
              </a:rPr>
              <a:t>N</a:t>
            </a:r>
            <a:r>
              <a:rPr lang="en-US" altLang="ro-RO" sz="2400" i="1" baseline="30000">
                <a:latin typeface="Times New Roman" panose="02020603050405020304" pitchFamily="18" charset="0"/>
              </a:rPr>
              <a:t>kN</a:t>
            </a:r>
            <a:r>
              <a:rPr lang="en-US" altLang="ro-RO" baseline="30000">
                <a:latin typeface="Times New Roman" panose="02020603050405020304" pitchFamily="18" charset="0"/>
              </a:rPr>
              <a:t>2</a:t>
            </a:r>
            <a:r>
              <a:rPr lang="en-US" altLang="ro-RO" sz="2400">
                <a:latin typeface="Times New Roman" panose="02020603050405020304" pitchFamily="18" charset="0"/>
              </a:rPr>
              <a:t> ]</a:t>
            </a:r>
            <a:r>
              <a:rPr lang="en-US" altLang="ro-RO" sz="2400" baseline="30000">
                <a:latin typeface="Times New Roman" panose="02020603050405020304" pitchFamily="18" charset="0"/>
              </a:rPr>
              <a:t>T</a:t>
            </a:r>
            <a:r>
              <a:rPr lang="en-US" altLang="ro-RO" sz="2400">
                <a:latin typeface="Times New Roman" panose="02020603050405020304" pitchFamily="18" charset="0"/>
              </a:rPr>
              <a:t>. Deoarece calculul fiec</a:t>
            </a:r>
            <a:r>
              <a:rPr lang="ro-RO" altLang="ro-RO" sz="2400">
                <a:latin typeface="Times New Roman" panose="02020603050405020304" pitchFamily="18" charset="0"/>
              </a:rPr>
              <a:t>ă</a:t>
            </a:r>
            <a:r>
              <a:rPr lang="en-US" altLang="ro-RO" sz="2400">
                <a:latin typeface="Times New Roman" panose="02020603050405020304" pitchFamily="18" charset="0"/>
              </a:rPr>
              <a:t>rui produs necesit</a:t>
            </a:r>
            <a:r>
              <a:rPr lang="ro-RO" altLang="ro-RO" sz="2400">
                <a:latin typeface="Times New Roman" panose="02020603050405020304" pitchFamily="18" charset="0"/>
              </a:rPr>
              <a:t>ă</a:t>
            </a:r>
            <a:r>
              <a:rPr lang="en-US" altLang="ro-RO" sz="2400">
                <a:latin typeface="Times New Roman" panose="02020603050405020304" pitchFamily="18" charset="0"/>
              </a:rPr>
              <a:t> </a:t>
            </a:r>
            <a:r>
              <a:rPr lang="en-US" altLang="ro-RO" sz="2400" i="1">
                <a:latin typeface="Times New Roman" panose="02020603050405020304" pitchFamily="18" charset="0"/>
              </a:rPr>
              <a:t>N</a:t>
            </a:r>
            <a:r>
              <a:rPr lang="en-US" altLang="ro-RO" sz="2400">
                <a:latin typeface="Times New Roman" panose="02020603050405020304" pitchFamily="18" charset="0"/>
              </a:rPr>
              <a:t> </a:t>
            </a:r>
            <a:r>
              <a:rPr lang="ro-RO" altLang="ro-RO" sz="2400">
                <a:latin typeface="Times New Roman" panose="02020603050405020304" pitchFamily="18" charset="0"/>
              </a:rPr>
              <a:t>î</a:t>
            </a:r>
            <a:r>
              <a:rPr lang="en-US" altLang="ro-RO" sz="2400">
                <a:latin typeface="Times New Roman" panose="02020603050405020304" pitchFamily="18" charset="0"/>
              </a:rPr>
              <a:t>nmul</a:t>
            </a:r>
            <a:r>
              <a:rPr lang="ro-RO" altLang="ro-RO" sz="2400">
                <a:latin typeface="Times New Roman" panose="02020603050405020304" pitchFamily="18" charset="0"/>
              </a:rPr>
              <a:t>ţ</a:t>
            </a:r>
            <a:r>
              <a:rPr lang="en-US" altLang="ro-RO" sz="2400">
                <a:latin typeface="Times New Roman" panose="02020603050405020304" pitchFamily="18" charset="0"/>
              </a:rPr>
              <a:t>iri </a:t>
            </a:r>
            <a:r>
              <a:rPr lang="ro-RO" altLang="ro-RO" sz="2400">
                <a:latin typeface="Times New Roman" panose="02020603050405020304" pitchFamily="18" charset="0"/>
              </a:rPr>
              <a:t>ş</a:t>
            </a:r>
            <a:r>
              <a:rPr lang="en-US" altLang="ro-RO" sz="2400">
                <a:latin typeface="Times New Roman" panose="02020603050405020304" pitchFamily="18" charset="0"/>
              </a:rPr>
              <a:t>i </a:t>
            </a:r>
            <a:r>
              <a:rPr lang="en-US" altLang="ro-RO" sz="2400" i="1">
                <a:latin typeface="Times New Roman" panose="02020603050405020304" pitchFamily="18" charset="0"/>
              </a:rPr>
              <a:t>N</a:t>
            </a:r>
            <a:r>
              <a:rPr lang="en-US" altLang="ro-RO" sz="2400">
                <a:latin typeface="Times New Roman" panose="02020603050405020304" pitchFamily="18" charset="0"/>
              </a:rPr>
              <a:t> adun</a:t>
            </a:r>
            <a:r>
              <a:rPr lang="ro-RO" altLang="ro-RO" sz="2400">
                <a:latin typeface="Times New Roman" panose="02020603050405020304" pitchFamily="18" charset="0"/>
              </a:rPr>
              <a:t>ă</a:t>
            </a:r>
            <a:r>
              <a:rPr lang="en-US" altLang="ro-RO" sz="2400">
                <a:latin typeface="Times New Roman" panose="02020603050405020304" pitchFamily="18" charset="0"/>
              </a:rPr>
              <a:t>ri, num</a:t>
            </a:r>
            <a:r>
              <a:rPr lang="ro-RO" altLang="ro-RO" sz="2400">
                <a:latin typeface="Times New Roman" panose="02020603050405020304" pitchFamily="18" charset="0"/>
              </a:rPr>
              <a:t>ă</a:t>
            </a:r>
            <a:r>
              <a:rPr lang="en-US" altLang="ro-RO" sz="2400">
                <a:latin typeface="Times New Roman" panose="02020603050405020304" pitchFamily="18" charset="0"/>
              </a:rPr>
              <a:t>rul  total de opera</a:t>
            </a:r>
            <a:r>
              <a:rPr lang="ro-RO" altLang="ro-RO" sz="2400">
                <a:latin typeface="Times New Roman" panose="02020603050405020304" pitchFamily="18" charset="0"/>
              </a:rPr>
              <a:t>ţ</a:t>
            </a:r>
            <a:r>
              <a:rPr lang="en-US" altLang="ro-RO" sz="2400">
                <a:latin typeface="Times New Roman" panose="02020603050405020304" pitchFamily="18" charset="0"/>
              </a:rPr>
              <a:t>ii este propor</a:t>
            </a:r>
            <a:r>
              <a:rPr lang="ro-RO" altLang="ro-RO" sz="2400">
                <a:latin typeface="Times New Roman" panose="02020603050405020304" pitchFamily="18" charset="0"/>
              </a:rPr>
              <a:t>ţ</a:t>
            </a:r>
            <a:r>
              <a:rPr lang="en-US" altLang="ro-RO" sz="2400">
                <a:latin typeface="Times New Roman" panose="02020603050405020304" pitchFamily="18" charset="0"/>
              </a:rPr>
              <a:t>ional cu </a:t>
            </a:r>
            <a:r>
              <a:rPr lang="en-US" altLang="ro-RO" sz="2400" i="1">
                <a:latin typeface="Times New Roman" panose="02020603050405020304" pitchFamily="18" charset="0"/>
              </a:rPr>
              <a:t>N</a:t>
            </a:r>
            <a:r>
              <a:rPr lang="en-US" altLang="ro-RO" sz="2400" baseline="30000">
                <a:latin typeface="Times New Roman" panose="02020603050405020304" pitchFamily="18" charset="0"/>
              </a:rPr>
              <a:t>2</a:t>
            </a:r>
            <a:r>
              <a:rPr lang="en-US" altLang="ro-RO" sz="2400">
                <a:latin typeface="Times New Roman" panose="02020603050405020304" pitchFamily="18" charset="0"/>
              </a:rPr>
              <a:t> (este un algoritm de tipul O(</a:t>
            </a:r>
            <a:r>
              <a:rPr lang="en-US" altLang="ro-RO" sz="2400" i="1">
                <a:latin typeface="Times New Roman" panose="02020603050405020304" pitchFamily="18" charset="0"/>
              </a:rPr>
              <a:t>N</a:t>
            </a:r>
            <a:r>
              <a:rPr lang="en-US" altLang="ro-RO" sz="2400" baseline="30000">
                <a:latin typeface="Times New Roman" panose="02020603050405020304" pitchFamily="18" charset="0"/>
              </a:rPr>
              <a:t>2</a:t>
            </a:r>
            <a:r>
              <a:rPr lang="en-US" altLang="ro-RO" sz="2400">
                <a:latin typeface="Times New Roman" panose="02020603050405020304" pitchFamily="18" charset="0"/>
              </a:rPr>
              <a:t>)). Printr-o rearanjare inteligent</a:t>
            </a:r>
            <a:r>
              <a:rPr lang="ro-RO" altLang="ro-RO" sz="2400">
                <a:latin typeface="Times New Roman" panose="02020603050405020304" pitchFamily="18" charset="0"/>
              </a:rPr>
              <a:t>ă</a:t>
            </a:r>
            <a:r>
              <a:rPr lang="en-US" altLang="ro-RO" sz="2400">
                <a:latin typeface="Times New Roman" panose="02020603050405020304" pitchFamily="18" charset="0"/>
              </a:rPr>
              <a:t> a acestor opera</a:t>
            </a:r>
            <a:r>
              <a:rPr lang="ro-RO" altLang="ro-RO" sz="2400">
                <a:latin typeface="Times New Roman" panose="02020603050405020304" pitchFamily="18" charset="0"/>
              </a:rPr>
              <a:t>ţ</a:t>
            </a:r>
            <a:r>
              <a:rPr lang="en-US" altLang="ro-RO" sz="2400">
                <a:latin typeface="Times New Roman" panose="02020603050405020304" pitchFamily="18" charset="0"/>
              </a:rPr>
              <a:t>ii se poate ob</a:t>
            </a:r>
            <a:r>
              <a:rPr lang="ro-RO" altLang="ro-RO" sz="2400">
                <a:latin typeface="Times New Roman" panose="02020603050405020304" pitchFamily="18" charset="0"/>
              </a:rPr>
              <a:t>ţ</a:t>
            </a:r>
            <a:r>
              <a:rPr lang="en-US" altLang="ro-RO" sz="2400">
                <a:latin typeface="Times New Roman" panose="02020603050405020304" pitchFamily="18" charset="0"/>
              </a:rPr>
              <a:t>ine un algoritm de tipul O(</a:t>
            </a:r>
            <a:r>
              <a:rPr lang="en-US" altLang="ro-RO" sz="2400" i="1">
                <a:latin typeface="Times New Roman" panose="02020603050405020304" pitchFamily="18" charset="0"/>
              </a:rPr>
              <a:t>N</a:t>
            </a:r>
            <a:r>
              <a:rPr lang="en-US" altLang="ro-RO" sz="2400">
                <a:latin typeface="Times New Roman" panose="02020603050405020304" pitchFamily="18" charset="0"/>
              </a:rPr>
              <a:t> log</a:t>
            </a:r>
            <a:r>
              <a:rPr lang="en-US" altLang="ro-RO" sz="2400" baseline="-25000">
                <a:latin typeface="Times New Roman" panose="02020603050405020304" pitchFamily="18" charset="0"/>
              </a:rPr>
              <a:t>2</a:t>
            </a:r>
            <a:r>
              <a:rPr lang="en-US" altLang="ro-RO" sz="2400">
                <a:latin typeface="Times New Roman" panose="02020603050405020304" pitchFamily="18" charset="0"/>
              </a:rPr>
              <a:t>(</a:t>
            </a:r>
            <a:r>
              <a:rPr lang="en-US" altLang="ro-RO" sz="2400" i="1">
                <a:latin typeface="Times New Roman" panose="02020603050405020304" pitchFamily="18" charset="0"/>
              </a:rPr>
              <a:t>N</a:t>
            </a:r>
            <a:r>
              <a:rPr lang="en-US" altLang="ro-RO" sz="2400">
                <a:latin typeface="Times New Roman" panose="02020603050405020304" pitchFamily="18" charset="0"/>
              </a:rPr>
              <a:t>)), ceea ce, pentru valori mari ale lui </a:t>
            </a:r>
            <a:r>
              <a:rPr lang="en-US" altLang="ro-RO" sz="2400" i="1">
                <a:latin typeface="Times New Roman" panose="02020603050405020304" pitchFamily="18" charset="0"/>
              </a:rPr>
              <a:t>N </a:t>
            </a:r>
            <a:r>
              <a:rPr lang="en-US" altLang="ro-RO" sz="2400">
                <a:latin typeface="Times New Roman" panose="02020603050405020304" pitchFamily="18" charset="0"/>
              </a:rPr>
              <a:t>reprezint</a:t>
            </a:r>
            <a:r>
              <a:rPr lang="ro-RO" altLang="ro-RO" sz="2400">
                <a:latin typeface="Times New Roman" panose="02020603050405020304" pitchFamily="18" charset="0"/>
              </a:rPr>
              <a:t>ă</a:t>
            </a:r>
            <a:r>
              <a:rPr lang="en-US" altLang="ro-RO" sz="2400">
                <a:latin typeface="Times New Roman" panose="02020603050405020304" pitchFamily="18" charset="0"/>
              </a:rPr>
              <a:t> o mare diferen</a:t>
            </a:r>
            <a:r>
              <a:rPr lang="ro-RO" altLang="ro-RO" sz="2400">
                <a:latin typeface="Times New Roman" panose="02020603050405020304" pitchFamily="18" charset="0"/>
              </a:rPr>
              <a:t>ţă</a:t>
            </a:r>
            <a:r>
              <a:rPr lang="en-US" altLang="ro-RO" sz="2400">
                <a:latin typeface="Times New Roman" panose="02020603050405020304" pitchFamily="18" charset="0"/>
              </a:rPr>
              <a:t>. Aceast</a:t>
            </a:r>
            <a:r>
              <a:rPr lang="ro-RO" altLang="ro-RO" sz="2400">
                <a:latin typeface="Times New Roman" panose="02020603050405020304" pitchFamily="18" charset="0"/>
              </a:rPr>
              <a:t>ă</a:t>
            </a:r>
            <a:r>
              <a:rPr lang="en-US" altLang="ro-RO" sz="2400">
                <a:latin typeface="Times New Roman" panose="02020603050405020304" pitchFamily="18" charset="0"/>
              </a:rPr>
              <a:t> variant</a:t>
            </a:r>
            <a:r>
              <a:rPr lang="ro-RO" altLang="ro-RO" sz="2400">
                <a:latin typeface="Times New Roman" panose="02020603050405020304" pitchFamily="18" charset="0"/>
              </a:rPr>
              <a:t>ă</a:t>
            </a:r>
            <a:r>
              <a:rPr lang="en-US" altLang="ro-RO" sz="2400">
                <a:latin typeface="Times New Roman" panose="02020603050405020304" pitchFamily="18" charset="0"/>
              </a:rPr>
              <a:t> optimizat</a:t>
            </a:r>
            <a:r>
              <a:rPr lang="ro-RO" altLang="ro-RO" sz="2400">
                <a:latin typeface="Times New Roman" panose="02020603050405020304" pitchFamily="18" charset="0"/>
              </a:rPr>
              <a:t>ă</a:t>
            </a:r>
            <a:r>
              <a:rPr lang="en-US" altLang="ro-RO" sz="2400">
                <a:latin typeface="Times New Roman" panose="02020603050405020304" pitchFamily="18" charset="0"/>
              </a:rPr>
              <a:t> a algoritmului se nume</a:t>
            </a:r>
            <a:r>
              <a:rPr lang="ro-RO" altLang="ro-RO" sz="2400">
                <a:latin typeface="Times New Roman" panose="02020603050405020304" pitchFamily="18" charset="0"/>
              </a:rPr>
              <a:t>ş</a:t>
            </a:r>
            <a:r>
              <a:rPr lang="en-US" altLang="ro-RO" sz="2400">
                <a:latin typeface="Times New Roman" panose="02020603050405020304" pitchFamily="18" charset="0"/>
              </a:rPr>
              <a:t>te TFR (FFT).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87A4A07F-E4E2-43AB-B98D-AC5C2646FD89}"/>
              </a:ext>
            </a:extLst>
          </p:cNvPr>
          <p:cNvSpPr>
            <a:spLocks noChangeArrowheads="1"/>
          </p:cNvSpPr>
          <p:nvPr/>
        </p:nvSpPr>
        <p:spPr bwMode="auto">
          <a:xfrm>
            <a:off x="457200" y="1447800"/>
            <a:ext cx="800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90000"/>
              </a:lnSpc>
              <a:spcBef>
                <a:spcPct val="20000"/>
              </a:spcBef>
            </a:pPr>
            <a:r>
              <a:rPr lang="en-US" altLang="ro-RO" sz="2400"/>
              <a:t>    </a:t>
            </a:r>
            <a:r>
              <a:rPr lang="en-US" altLang="ro-RO" sz="2400">
                <a:latin typeface="Times New Roman" panose="02020603050405020304" pitchFamily="18" charset="0"/>
              </a:rPr>
              <a:t>S</a:t>
            </a:r>
            <a:r>
              <a:rPr lang="ro-RO" altLang="ro-RO" sz="2400">
                <a:latin typeface="Times New Roman" panose="02020603050405020304" pitchFamily="18" charset="0"/>
              </a:rPr>
              <a:t>ă</a:t>
            </a:r>
            <a:r>
              <a:rPr lang="en-US" altLang="ro-RO" sz="2400">
                <a:latin typeface="Times New Roman" panose="02020603050405020304" pitchFamily="18" charset="0"/>
              </a:rPr>
              <a:t> presupunem c</a:t>
            </a:r>
            <a:r>
              <a:rPr lang="ro-RO" altLang="ro-RO" sz="2400">
                <a:latin typeface="Times New Roman" panose="02020603050405020304" pitchFamily="18" charset="0"/>
              </a:rPr>
              <a:t>ă</a:t>
            </a:r>
            <a:r>
              <a:rPr lang="en-US" altLang="ro-RO" sz="2400">
                <a:latin typeface="Times New Roman" panose="02020603050405020304" pitchFamily="18" charset="0"/>
              </a:rPr>
              <a:t> vrem s</a:t>
            </a:r>
            <a:r>
              <a:rPr lang="ro-RO" altLang="ro-RO" sz="2400">
                <a:latin typeface="Times New Roman" panose="02020603050405020304" pitchFamily="18" charset="0"/>
              </a:rPr>
              <a:t>ă</a:t>
            </a:r>
            <a:r>
              <a:rPr lang="en-US" altLang="ro-RO" sz="2400">
                <a:latin typeface="Times New Roman" panose="02020603050405020304" pitchFamily="18" charset="0"/>
              </a:rPr>
              <a:t> calcul</a:t>
            </a:r>
            <a:r>
              <a:rPr lang="ro-RO" altLang="ro-RO" sz="2400">
                <a:latin typeface="Times New Roman" panose="02020603050405020304" pitchFamily="18" charset="0"/>
              </a:rPr>
              <a:t>ă</a:t>
            </a:r>
            <a:r>
              <a:rPr lang="en-US" altLang="ro-RO" sz="2400">
                <a:latin typeface="Times New Roman" panose="02020603050405020304" pitchFamily="18" charset="0"/>
              </a:rPr>
              <a:t>m TFD a semnalului sonor </a:t>
            </a:r>
            <a:r>
              <a:rPr lang="ro-RO" altLang="ro-RO" sz="2400">
                <a:latin typeface="Times New Roman" panose="02020603050405020304" pitchFamily="18" charset="0"/>
              </a:rPr>
              <a:t>î</a:t>
            </a:r>
            <a:r>
              <a:rPr lang="en-US" altLang="ro-RO" sz="2400">
                <a:latin typeface="Times New Roman" panose="02020603050405020304" pitchFamily="18" charset="0"/>
              </a:rPr>
              <a:t>nregistrat pe un CD. Frecven</a:t>
            </a:r>
            <a:r>
              <a:rPr lang="ro-RO" altLang="ro-RO" sz="2400">
                <a:latin typeface="Times New Roman" panose="02020603050405020304" pitchFamily="18" charset="0"/>
              </a:rPr>
              <a:t>ţ</a:t>
            </a:r>
            <a:r>
              <a:rPr lang="en-US" altLang="ro-RO" sz="2400">
                <a:latin typeface="Times New Roman" panose="02020603050405020304" pitchFamily="18" charset="0"/>
              </a:rPr>
              <a:t>a de e</a:t>
            </a:r>
            <a:r>
              <a:rPr lang="ro-RO" altLang="ro-RO" sz="2400">
                <a:latin typeface="Times New Roman" panose="02020603050405020304" pitchFamily="18" charset="0"/>
              </a:rPr>
              <a:t>ş</a:t>
            </a:r>
            <a:r>
              <a:rPr lang="en-US" altLang="ro-RO" sz="2400">
                <a:latin typeface="Times New Roman" panose="02020603050405020304" pitchFamily="18" charset="0"/>
              </a:rPr>
              <a:t>antionare folosit</a:t>
            </a:r>
            <a:r>
              <a:rPr lang="ro-RO" altLang="ro-RO" sz="2400">
                <a:latin typeface="Times New Roman" panose="02020603050405020304" pitchFamily="18" charset="0"/>
              </a:rPr>
              <a:t>ă</a:t>
            </a:r>
            <a:r>
              <a:rPr lang="en-US" altLang="ro-RO" sz="2400">
                <a:latin typeface="Times New Roman" panose="02020603050405020304" pitchFamily="18" charset="0"/>
              </a:rPr>
              <a:t> pentru generarea acestui semnal este de 44 kHz, iar rezolu</a:t>
            </a:r>
            <a:r>
              <a:rPr lang="ro-RO" altLang="ro-RO" sz="2400">
                <a:latin typeface="Times New Roman" panose="02020603050405020304" pitchFamily="18" charset="0"/>
              </a:rPr>
              <a:t>ţ</a:t>
            </a:r>
            <a:r>
              <a:rPr lang="en-US" altLang="ro-RO" sz="2400">
                <a:latin typeface="Times New Roman" panose="02020603050405020304" pitchFamily="18" charset="0"/>
              </a:rPr>
              <a:t>ia sa este de 8 bi</a:t>
            </a:r>
            <a:r>
              <a:rPr lang="ro-RO" altLang="ro-RO" sz="2400">
                <a:latin typeface="Times New Roman" panose="02020603050405020304" pitchFamily="18" charset="0"/>
              </a:rPr>
              <a:t>ţ</a:t>
            </a:r>
            <a:r>
              <a:rPr lang="en-US" altLang="ro-RO" sz="2400">
                <a:latin typeface="Times New Roman" panose="02020603050405020304" pitchFamily="18" charset="0"/>
              </a:rPr>
              <a:t>i/e</a:t>
            </a:r>
            <a:r>
              <a:rPr lang="ro-RO" altLang="ro-RO" sz="2400">
                <a:latin typeface="Times New Roman" panose="02020603050405020304" pitchFamily="18" charset="0"/>
              </a:rPr>
              <a:t>ş</a:t>
            </a:r>
            <a:r>
              <a:rPr lang="en-US" altLang="ro-RO" sz="2400">
                <a:latin typeface="Times New Roman" panose="02020603050405020304" pitchFamily="18" charset="0"/>
              </a:rPr>
              <a:t>antion. S</a:t>
            </a:r>
            <a:r>
              <a:rPr lang="ro-RO" altLang="ro-RO" sz="2400">
                <a:latin typeface="Times New Roman" panose="02020603050405020304" pitchFamily="18" charset="0"/>
              </a:rPr>
              <a:t>ă</a:t>
            </a:r>
            <a:r>
              <a:rPr lang="en-US" altLang="ro-RO" sz="2400">
                <a:latin typeface="Times New Roman" panose="02020603050405020304" pitchFamily="18" charset="0"/>
              </a:rPr>
              <a:t> presupunem c</a:t>
            </a:r>
            <a:r>
              <a:rPr lang="ro-RO" altLang="ro-RO" sz="2400">
                <a:latin typeface="Times New Roman" panose="02020603050405020304" pitchFamily="18" charset="0"/>
              </a:rPr>
              <a:t>ă</a:t>
            </a:r>
            <a:r>
              <a:rPr lang="en-US" altLang="ro-RO" sz="2400">
                <a:latin typeface="Times New Roman" panose="02020603050405020304" pitchFamily="18" charset="0"/>
              </a:rPr>
              <a:t> folosim un registru cu capacitatea de 1 koctet pentru memorarea datelor de pe CD </a:t>
            </a:r>
            <a:r>
              <a:rPr lang="ro-RO" altLang="ro-RO" sz="2400">
                <a:latin typeface="Times New Roman" panose="02020603050405020304" pitchFamily="18" charset="0"/>
              </a:rPr>
              <a:t>î</a:t>
            </a:r>
            <a:r>
              <a:rPr lang="en-US" altLang="ro-RO" sz="2400">
                <a:latin typeface="Times New Roman" panose="02020603050405020304" pitchFamily="18" charset="0"/>
              </a:rPr>
              <a:t>n vederea red</a:t>
            </a:r>
            <a:r>
              <a:rPr lang="ro-RO" altLang="ro-RO" sz="2400">
                <a:latin typeface="Times New Roman" panose="02020603050405020304" pitchFamily="18" charset="0"/>
              </a:rPr>
              <a:t>ă</a:t>
            </a:r>
            <a:r>
              <a:rPr lang="en-US" altLang="ro-RO" sz="2400">
                <a:latin typeface="Times New Roman" panose="02020603050405020304" pitchFamily="18" charset="0"/>
              </a:rPr>
              <a:t>rii semnalului sonor. Acesta va trebui s</a:t>
            </a:r>
            <a:r>
              <a:rPr lang="ro-RO" altLang="ro-RO" sz="2400">
                <a:latin typeface="Times New Roman" panose="02020603050405020304" pitchFamily="18" charset="0"/>
              </a:rPr>
              <a:t>ă</a:t>
            </a:r>
            <a:r>
              <a:rPr lang="en-US" altLang="ro-RO" sz="2400">
                <a:latin typeface="Times New Roman" panose="02020603050405020304" pitchFamily="18" charset="0"/>
              </a:rPr>
              <a:t> fie citit </a:t>
            </a:r>
            <a:r>
              <a:rPr lang="ro-RO" altLang="ro-RO" sz="2400">
                <a:latin typeface="Times New Roman" panose="02020603050405020304" pitchFamily="18" charset="0"/>
              </a:rPr>
              <a:t>ş</a:t>
            </a:r>
            <a:r>
              <a:rPr lang="en-US" altLang="ro-RO" sz="2400">
                <a:latin typeface="Times New Roman" panose="02020603050405020304" pitchFamily="18" charset="0"/>
              </a:rPr>
              <a:t>i re</a:t>
            </a:r>
            <a:r>
              <a:rPr lang="ro-RO" altLang="ro-RO" sz="2400">
                <a:latin typeface="Times New Roman" panose="02020603050405020304" pitchFamily="18" charset="0"/>
              </a:rPr>
              <a:t>î</a:t>
            </a:r>
            <a:r>
              <a:rPr lang="en-US" altLang="ro-RO" sz="2400">
                <a:latin typeface="Times New Roman" panose="02020603050405020304" pitchFamily="18" charset="0"/>
              </a:rPr>
              <a:t>nc</a:t>
            </a:r>
            <a:r>
              <a:rPr lang="ro-RO" altLang="ro-RO" sz="2400">
                <a:latin typeface="Times New Roman" panose="02020603050405020304" pitchFamily="18" charset="0"/>
              </a:rPr>
              <a:t>ă</a:t>
            </a:r>
            <a:r>
              <a:rPr lang="en-US" altLang="ro-RO" sz="2400">
                <a:latin typeface="Times New Roman" panose="02020603050405020304" pitchFamily="18" charset="0"/>
              </a:rPr>
              <a:t>rcat de 44 de ori pe secund</a:t>
            </a:r>
            <a:r>
              <a:rPr lang="ro-RO" altLang="ro-RO" sz="2400">
                <a:latin typeface="Times New Roman" panose="02020603050405020304" pitchFamily="18" charset="0"/>
              </a:rPr>
              <a:t>ă</a:t>
            </a:r>
            <a:r>
              <a:rPr lang="en-US" altLang="ro-RO" sz="2400">
                <a:latin typeface="Times New Roman" panose="02020603050405020304" pitchFamily="18" charset="0"/>
              </a:rPr>
              <a:t>. La fiecare citire trebuie calculat</a:t>
            </a:r>
            <a:r>
              <a:rPr lang="ro-RO" altLang="ro-RO" sz="2400">
                <a:latin typeface="Times New Roman" panose="02020603050405020304" pitchFamily="18" charset="0"/>
              </a:rPr>
              <a:t>ă</a:t>
            </a:r>
            <a:r>
              <a:rPr lang="en-US" altLang="ro-RO" sz="2400">
                <a:latin typeface="Times New Roman" panose="02020603050405020304" pitchFamily="18" charset="0"/>
              </a:rPr>
              <a:t> TFD a unui semnal con</a:t>
            </a:r>
            <a:r>
              <a:rPr lang="ro-RO" altLang="ro-RO" sz="2400">
                <a:latin typeface="Times New Roman" panose="02020603050405020304" pitchFamily="18" charset="0"/>
              </a:rPr>
              <a:t>ţ</a:t>
            </a:r>
            <a:r>
              <a:rPr lang="en-US" altLang="ro-RO" sz="2400">
                <a:latin typeface="Times New Roman" panose="02020603050405020304" pitchFamily="18" charset="0"/>
              </a:rPr>
              <a:t>in</a:t>
            </a:r>
            <a:r>
              <a:rPr lang="ro-RO" altLang="ro-RO" sz="2400">
                <a:latin typeface="Times New Roman" panose="02020603050405020304" pitchFamily="18" charset="0"/>
              </a:rPr>
              <a:t>â</a:t>
            </a:r>
            <a:r>
              <a:rPr lang="en-US" altLang="ro-RO" sz="2400">
                <a:latin typeface="Times New Roman" panose="02020603050405020304" pitchFamily="18" charset="0"/>
              </a:rPr>
              <a:t>nd 1000 de e</a:t>
            </a:r>
            <a:r>
              <a:rPr lang="ro-RO" altLang="ro-RO" sz="2400">
                <a:latin typeface="Times New Roman" panose="02020603050405020304" pitchFamily="18" charset="0"/>
              </a:rPr>
              <a:t>ş</a:t>
            </a:r>
            <a:r>
              <a:rPr lang="en-US" altLang="ro-RO" sz="2400">
                <a:latin typeface="Times New Roman" panose="02020603050405020304" pitchFamily="18" charset="0"/>
              </a:rPr>
              <a:t>antioane (</a:t>
            </a:r>
            <a:r>
              <a:rPr lang="en-US" altLang="ro-RO" sz="2400" i="1">
                <a:latin typeface="Times New Roman" panose="02020603050405020304" pitchFamily="18" charset="0"/>
              </a:rPr>
              <a:t>N</a:t>
            </a:r>
            <a:r>
              <a:rPr lang="en-US" altLang="ro-RO" sz="2400">
                <a:latin typeface="Times New Roman" panose="02020603050405020304" pitchFamily="18" charset="0"/>
              </a:rPr>
              <a:t>=1000). </a:t>
            </a:r>
          </a:p>
          <a:p>
            <a:pPr eaLnBrk="1" hangingPunct="1">
              <a:lnSpc>
                <a:spcPct val="90000"/>
              </a:lnSpc>
              <a:spcBef>
                <a:spcPct val="20000"/>
              </a:spcBef>
            </a:pPr>
            <a:r>
              <a:rPr lang="en-US" altLang="ro-RO" sz="2400">
                <a:latin typeface="Times New Roman" panose="02020603050405020304" pitchFamily="18" charset="0"/>
              </a:rPr>
              <a:t>   </a:t>
            </a:r>
            <a:r>
              <a:rPr lang="ro-RO" altLang="ro-RO" sz="2400">
                <a:latin typeface="Times New Roman" panose="02020603050405020304" pitchFamily="18" charset="0"/>
              </a:rPr>
              <a:t>Î</a:t>
            </a:r>
            <a:r>
              <a:rPr lang="en-US" altLang="ro-RO" sz="2400">
                <a:latin typeface="Times New Roman" panose="02020603050405020304" pitchFamily="18" charset="0"/>
              </a:rPr>
              <a:t>n acest caz: </a:t>
            </a:r>
            <a:r>
              <a:rPr lang="en-US" altLang="ro-RO" sz="2400" i="1">
                <a:latin typeface="Times New Roman" panose="02020603050405020304" pitchFamily="18" charset="0"/>
              </a:rPr>
              <a:t>N</a:t>
            </a:r>
            <a:r>
              <a:rPr lang="en-US" altLang="ro-RO" sz="2400" baseline="30000">
                <a:latin typeface="Times New Roman" panose="02020603050405020304" pitchFamily="18" charset="0"/>
              </a:rPr>
              <a:t>2</a:t>
            </a:r>
            <a:r>
              <a:rPr lang="en-US" altLang="ro-RO" sz="2400">
                <a:latin typeface="Times New Roman" panose="02020603050405020304" pitchFamily="18" charset="0"/>
              </a:rPr>
              <a:t>=1000000 </a:t>
            </a:r>
            <a:r>
              <a:rPr lang="ro-RO" altLang="ro-RO" sz="2400">
                <a:latin typeface="Times New Roman" panose="02020603050405020304" pitchFamily="18" charset="0"/>
              </a:rPr>
              <a:t>ş</a:t>
            </a:r>
            <a:r>
              <a:rPr lang="en-US" altLang="ro-RO" sz="2400">
                <a:latin typeface="Times New Roman" panose="02020603050405020304" pitchFamily="18" charset="0"/>
              </a:rPr>
              <a:t>i </a:t>
            </a:r>
            <a:r>
              <a:rPr lang="en-US" altLang="ro-RO" sz="2400" i="1">
                <a:latin typeface="Times New Roman" panose="02020603050405020304" pitchFamily="18" charset="0"/>
              </a:rPr>
              <a:t>N</a:t>
            </a:r>
            <a:r>
              <a:rPr lang="en-US" altLang="ro-RO" sz="2400">
                <a:latin typeface="Times New Roman" panose="02020603050405020304" pitchFamily="18" charset="0"/>
              </a:rPr>
              <a:t>log</a:t>
            </a:r>
            <a:r>
              <a:rPr lang="en-US" altLang="ro-RO" sz="2400" baseline="-25000">
                <a:latin typeface="Times New Roman" panose="02020603050405020304" pitchFamily="18" charset="0"/>
              </a:rPr>
              <a:t>2</a:t>
            </a:r>
            <a:r>
              <a:rPr lang="en-US" altLang="ro-RO" sz="2400">
                <a:latin typeface="Times New Roman" panose="02020603050405020304" pitchFamily="18" charset="0"/>
              </a:rPr>
              <a:t>(</a:t>
            </a:r>
            <a:r>
              <a:rPr lang="en-US" altLang="ro-RO" sz="2400" i="1">
                <a:latin typeface="Times New Roman" panose="02020603050405020304" pitchFamily="18" charset="0"/>
              </a:rPr>
              <a:t>N</a:t>
            </a:r>
            <a:r>
              <a:rPr lang="en-US" altLang="ro-RO" sz="2400">
                <a:latin typeface="Times New Roman" panose="02020603050405020304" pitchFamily="18" charset="0"/>
              </a:rPr>
              <a:t>)=9965,8.  </a:t>
            </a:r>
          </a:p>
          <a:p>
            <a:pPr eaLnBrk="1" hangingPunct="1">
              <a:lnSpc>
                <a:spcPct val="90000"/>
              </a:lnSpc>
              <a:spcBef>
                <a:spcPct val="20000"/>
              </a:spcBef>
            </a:pPr>
            <a:r>
              <a:rPr lang="en-US" altLang="ro-RO" sz="2400">
                <a:latin typeface="Times New Roman" panose="02020603050405020304" pitchFamily="18" charset="0"/>
              </a:rPr>
              <a:t>   Deci utilizarea algoritmului TFR face posibil</a:t>
            </a:r>
            <a:r>
              <a:rPr lang="ro-RO" altLang="ro-RO" sz="2400">
                <a:latin typeface="Times New Roman" panose="02020603050405020304" pitchFamily="18" charset="0"/>
              </a:rPr>
              <a:t>ă</a:t>
            </a:r>
            <a:r>
              <a:rPr lang="en-US" altLang="ro-RO" sz="2400">
                <a:latin typeface="Times New Roman" panose="02020603050405020304" pitchFamily="18" charset="0"/>
              </a:rPr>
              <a:t> reducerea num</a:t>
            </a:r>
            <a:r>
              <a:rPr lang="ro-RO" altLang="ro-RO" sz="2400">
                <a:latin typeface="Times New Roman" panose="02020603050405020304" pitchFamily="18" charset="0"/>
              </a:rPr>
              <a:t>ă</a:t>
            </a:r>
            <a:r>
              <a:rPr lang="en-US" altLang="ro-RO" sz="2400">
                <a:latin typeface="Times New Roman" panose="02020603050405020304" pitchFamily="18" charset="0"/>
              </a:rPr>
              <a:t>rului de opera</a:t>
            </a:r>
            <a:r>
              <a:rPr lang="ro-RO" altLang="ro-RO" sz="2400">
                <a:latin typeface="Times New Roman" panose="02020603050405020304" pitchFamily="18" charset="0"/>
              </a:rPr>
              <a:t>ţ</a:t>
            </a:r>
            <a:r>
              <a:rPr lang="en-US" altLang="ro-RO" sz="2400">
                <a:latin typeface="Times New Roman" panose="02020603050405020304" pitchFamily="18" charset="0"/>
              </a:rPr>
              <a:t>ii de peste 100 de ori.</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E67746F4-8F1C-4AFB-9D9D-E63332EA09F4}"/>
              </a:ext>
            </a:extLst>
          </p:cNvPr>
          <p:cNvSpPr>
            <a:spLocks noChangeArrowheads="1"/>
          </p:cNvSpPr>
          <p:nvPr/>
        </p:nvSpPr>
        <p:spPr bwMode="auto">
          <a:xfrm>
            <a:off x="674688" y="1524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ro-RO" altLang="ro-RO" sz="4000">
                <a:solidFill>
                  <a:srgbClr val="FF0000"/>
                </a:solidFill>
                <a:latin typeface="Times New Roman" panose="02020603050405020304" pitchFamily="18" charset="0"/>
                <a:cs typeface="Times New Roman" panose="02020603050405020304" pitchFamily="18" charset="0"/>
              </a:rPr>
              <a:t>Varianta </a:t>
            </a:r>
            <a:r>
              <a:rPr lang="en-US" altLang="ro-RO" sz="4000">
                <a:solidFill>
                  <a:srgbClr val="FF0000"/>
                </a:solidFill>
                <a:latin typeface="Times New Roman" panose="02020603050405020304" pitchFamily="18" charset="0"/>
                <a:cs typeface="Times New Roman" panose="02020603050405020304" pitchFamily="18" charset="0"/>
              </a:rPr>
              <a:t>Cooley-Tukey</a:t>
            </a:r>
            <a:r>
              <a:rPr lang="en-US" altLang="ro-RO" sz="4400" u="sng">
                <a:solidFill>
                  <a:srgbClr val="FF0000"/>
                </a:solidFill>
                <a:latin typeface="Times New Roman" panose="02020603050405020304" pitchFamily="18" charset="0"/>
                <a:cs typeface="Times New Roman" panose="02020603050405020304" pitchFamily="18" charset="0"/>
              </a:rPr>
              <a:t> </a:t>
            </a:r>
          </a:p>
        </p:txBody>
      </p:sp>
      <p:pic>
        <p:nvPicPr>
          <p:cNvPr id="41987" name="Picture 5">
            <a:extLst>
              <a:ext uri="{FF2B5EF4-FFF2-40B4-BE49-F238E27FC236}">
                <a16:creationId xmlns:a16="http://schemas.microsoft.com/office/drawing/2014/main" id="{928D03C9-AE17-4485-8B39-1A6EFF2EAC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219200"/>
            <a:ext cx="790575"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8" name="Picture 6">
            <a:extLst>
              <a:ext uri="{FF2B5EF4-FFF2-40B4-BE49-F238E27FC236}">
                <a16:creationId xmlns:a16="http://schemas.microsoft.com/office/drawing/2014/main" id="{E459D94D-17C5-43B0-AE7F-AAB2B5C13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1219200"/>
            <a:ext cx="73977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Text Box 7">
            <a:extLst>
              <a:ext uri="{FF2B5EF4-FFF2-40B4-BE49-F238E27FC236}">
                <a16:creationId xmlns:a16="http://schemas.microsoft.com/office/drawing/2014/main" id="{8C50E993-F6DC-47DF-AFAD-27B7CAF6EDD2}"/>
              </a:ext>
            </a:extLst>
          </p:cNvPr>
          <p:cNvSpPr txBox="1">
            <a:spLocks noChangeArrowheads="1"/>
          </p:cNvSpPr>
          <p:nvPr/>
        </p:nvSpPr>
        <p:spPr bwMode="auto">
          <a:xfrm>
            <a:off x="228600" y="2133600"/>
            <a:ext cx="87630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ro-RO" altLang="ro-RO" sz="2400">
                <a:latin typeface="Times New Roman" panose="02020603050405020304" pitchFamily="18" charset="0"/>
              </a:rPr>
              <a:t>Descompune iterativ o TFD de dimensiune </a:t>
            </a:r>
            <a:r>
              <a:rPr lang="en-US" altLang="ro-RO" sz="2400" i="1">
                <a:latin typeface="Times New Roman" panose="02020603050405020304" pitchFamily="18" charset="0"/>
              </a:rPr>
              <a:t>N</a:t>
            </a:r>
            <a:r>
              <a:rPr lang="en-US" altLang="ro-RO" sz="2400">
                <a:latin typeface="Times New Roman" panose="02020603050405020304" pitchFamily="18" charset="0"/>
              </a:rPr>
              <a:t> = </a:t>
            </a:r>
            <a:r>
              <a:rPr lang="en-US" altLang="ro-RO" sz="2400" i="1">
                <a:latin typeface="Times New Roman" panose="02020603050405020304" pitchFamily="18" charset="0"/>
              </a:rPr>
              <a:t>N’</a:t>
            </a:r>
            <a:r>
              <a:rPr lang="en-US" altLang="ro-RO" sz="2400" baseline="-25000">
                <a:latin typeface="Times New Roman" panose="02020603050405020304" pitchFamily="18" charset="0"/>
              </a:rPr>
              <a:t>1</a:t>
            </a:r>
            <a:r>
              <a:rPr lang="en-US" altLang="ro-RO" sz="2400" i="1">
                <a:latin typeface="Times New Roman" panose="02020603050405020304" pitchFamily="18" charset="0"/>
              </a:rPr>
              <a:t>N’</a:t>
            </a:r>
            <a:r>
              <a:rPr lang="en-US" altLang="ro-RO" sz="2400" baseline="-25000">
                <a:latin typeface="Times New Roman" panose="02020603050405020304" pitchFamily="18" charset="0"/>
              </a:rPr>
              <a:t>2</a:t>
            </a:r>
            <a:r>
              <a:rPr lang="ro-RO" altLang="ro-RO" sz="2400">
                <a:latin typeface="Times New Roman" panose="02020603050405020304" pitchFamily="18" charset="0"/>
              </a:rPr>
              <a:t> în mai multe TFD-uri de dimensiuni</a:t>
            </a:r>
            <a:r>
              <a:rPr lang="en-US" altLang="ro-RO" sz="2400">
                <a:latin typeface="Times New Roman" panose="02020603050405020304" pitchFamily="18" charset="0"/>
              </a:rPr>
              <a:t> </a:t>
            </a:r>
            <a:r>
              <a:rPr lang="en-US" altLang="ro-RO" sz="2400" i="1">
                <a:latin typeface="Times New Roman" panose="02020603050405020304" pitchFamily="18" charset="0"/>
              </a:rPr>
              <a:t>N’</a:t>
            </a:r>
            <a:r>
              <a:rPr lang="en-US" altLang="ro-RO" sz="2400" baseline="-25000">
                <a:latin typeface="Times New Roman" panose="02020603050405020304" pitchFamily="18" charset="0"/>
              </a:rPr>
              <a:t>1</a:t>
            </a:r>
            <a:r>
              <a:rPr lang="en-US" altLang="ro-RO" sz="2400">
                <a:latin typeface="Times New Roman" panose="02020603050405020304" pitchFamily="18" charset="0"/>
              </a:rPr>
              <a:t> </a:t>
            </a:r>
            <a:r>
              <a:rPr lang="ro-RO" altLang="ro-RO" sz="2400">
                <a:latin typeface="Times New Roman" panose="02020603050405020304" pitchFamily="18" charset="0"/>
              </a:rPr>
              <a:t>şi</a:t>
            </a:r>
            <a:r>
              <a:rPr lang="en-US" altLang="ro-RO" sz="2400">
                <a:latin typeface="Times New Roman" panose="02020603050405020304" pitchFamily="18" charset="0"/>
              </a:rPr>
              <a:t> </a:t>
            </a:r>
            <a:r>
              <a:rPr lang="en-US" altLang="ro-RO" sz="2400" i="1">
                <a:latin typeface="Times New Roman" panose="02020603050405020304" pitchFamily="18" charset="0"/>
              </a:rPr>
              <a:t>N’</a:t>
            </a:r>
            <a:r>
              <a:rPr lang="en-US" altLang="ro-RO" sz="2400" baseline="-25000">
                <a:latin typeface="Times New Roman" panose="02020603050405020304" pitchFamily="18" charset="0"/>
              </a:rPr>
              <a:t>2</a:t>
            </a:r>
            <a:r>
              <a:rPr lang="en-US" altLang="ro-RO" sz="2400">
                <a:latin typeface="Times New Roman" panose="02020603050405020304" pitchFamily="18" charset="0"/>
              </a:rPr>
              <a:t>, </a:t>
            </a:r>
            <a:r>
              <a:rPr lang="ro-RO" altLang="ro-RO" sz="2400">
                <a:latin typeface="Times New Roman" panose="02020603050405020304" pitchFamily="18" charset="0"/>
              </a:rPr>
              <a:t>efectuând</a:t>
            </a:r>
            <a:r>
              <a:rPr lang="en-US" altLang="ro-RO" sz="2400">
                <a:latin typeface="Times New Roman" panose="02020603050405020304" pitchFamily="18" charset="0"/>
              </a:rPr>
              <a:t> O(</a:t>
            </a:r>
            <a:r>
              <a:rPr lang="en-US" altLang="ro-RO" sz="2400" i="1">
                <a:latin typeface="Times New Roman" panose="02020603050405020304" pitchFamily="18" charset="0"/>
              </a:rPr>
              <a:t>N</a:t>
            </a:r>
            <a:r>
              <a:rPr lang="en-US" altLang="ro-RO" sz="2400">
                <a:latin typeface="Times New Roman" panose="02020603050405020304" pitchFamily="18" charset="0"/>
              </a:rPr>
              <a:t>) </a:t>
            </a:r>
            <a:r>
              <a:rPr lang="ro-RO" altLang="ro-RO" sz="2400">
                <a:latin typeface="Times New Roman" panose="02020603050405020304" pitchFamily="18" charset="0"/>
              </a:rPr>
              <a:t>înmulţiri cu rădăcini complexe ale unităţii</a:t>
            </a:r>
            <a:r>
              <a:rPr lang="en-US" altLang="ro-RO" sz="2400">
                <a:latin typeface="Times New Roman" panose="02020603050405020304" pitchFamily="18" charset="0"/>
              </a:rPr>
              <a:t>.</a:t>
            </a:r>
          </a:p>
          <a:p>
            <a:pPr eaLnBrk="1" hangingPunct="1"/>
            <a:r>
              <a:rPr lang="ro-RO" altLang="ro-RO" sz="2400">
                <a:latin typeface="Times New Roman" panose="02020603050405020304" pitchFamily="18" charset="0"/>
              </a:rPr>
              <a:t>În utilizarea sa cea mai comună, la fiecare pas al algoritmului FFT se alege </a:t>
            </a:r>
            <a:r>
              <a:rPr lang="en-US" altLang="ro-RO" sz="2400" i="1">
                <a:latin typeface="Times New Roman" panose="02020603050405020304" pitchFamily="18" charset="0"/>
              </a:rPr>
              <a:t>N’</a:t>
            </a:r>
            <a:r>
              <a:rPr lang="en-US" altLang="ro-RO" sz="2400" baseline="-25000">
                <a:latin typeface="Times New Roman" panose="02020603050405020304" pitchFamily="18" charset="0"/>
              </a:rPr>
              <a:t>1</a:t>
            </a:r>
            <a:r>
              <a:rPr lang="en-US" altLang="ro-RO" sz="2400">
                <a:latin typeface="Times New Roman" panose="02020603050405020304" pitchFamily="18" charset="0"/>
              </a:rPr>
              <a:t>= </a:t>
            </a:r>
            <a:r>
              <a:rPr lang="en-US" altLang="ro-RO" sz="2400" i="1">
                <a:latin typeface="Times New Roman" panose="02020603050405020304" pitchFamily="18" charset="0"/>
              </a:rPr>
              <a:t>N’</a:t>
            </a:r>
            <a:r>
              <a:rPr lang="en-US" altLang="ro-RO" sz="2400" baseline="-25000">
                <a:latin typeface="Times New Roman" panose="02020603050405020304" pitchFamily="18" charset="0"/>
              </a:rPr>
              <a:t>2</a:t>
            </a:r>
            <a:r>
              <a:rPr lang="en-US" altLang="ro-RO" sz="2400">
                <a:latin typeface="Times New Roman" panose="02020603050405020304" pitchFamily="18" charset="0"/>
              </a:rPr>
              <a:t>=</a:t>
            </a:r>
            <a:r>
              <a:rPr lang="en-US" altLang="ro-RO" sz="2400" i="1">
                <a:latin typeface="Times New Roman" panose="02020603050405020304" pitchFamily="18" charset="0"/>
              </a:rPr>
              <a:t>N</a:t>
            </a:r>
            <a:r>
              <a:rPr lang="en-US" altLang="ro-RO" sz="2400">
                <a:latin typeface="Times New Roman" panose="02020603050405020304" pitchFamily="18" charset="0"/>
              </a:rPr>
              <a:t> / 2, motiv pentru care </a:t>
            </a:r>
            <a:r>
              <a:rPr lang="en-US" altLang="ro-RO" sz="2400" i="1">
                <a:latin typeface="Times New Roman" panose="02020603050405020304" pitchFamily="18" charset="0"/>
              </a:rPr>
              <a:t>N</a:t>
            </a:r>
            <a:r>
              <a:rPr lang="en-US" altLang="ro-RO" sz="2400">
                <a:latin typeface="Times New Roman" panose="02020603050405020304" pitchFamily="18" charset="0"/>
              </a:rPr>
              <a:t> trebuie s</a:t>
            </a:r>
            <a:r>
              <a:rPr lang="ro-RO" altLang="ro-RO" sz="2400">
                <a:latin typeface="Times New Roman" panose="02020603050405020304" pitchFamily="18" charset="0"/>
              </a:rPr>
              <a:t>ă</a:t>
            </a:r>
            <a:r>
              <a:rPr lang="en-US" altLang="ro-RO" sz="2400">
                <a:latin typeface="Times New Roman" panose="02020603050405020304" pitchFamily="18" charset="0"/>
              </a:rPr>
              <a:t> fie o putere a lui 2. Aceast</a:t>
            </a:r>
            <a:r>
              <a:rPr lang="ro-RO" altLang="ro-RO" sz="2400">
                <a:latin typeface="Times New Roman" panose="02020603050405020304" pitchFamily="18" charset="0"/>
              </a:rPr>
              <a:t>ă</a:t>
            </a:r>
            <a:r>
              <a:rPr lang="en-US" altLang="ro-RO" sz="2400">
                <a:latin typeface="Times New Roman" panose="02020603050405020304" pitchFamily="18" charset="0"/>
              </a:rPr>
              <a:t> variant</a:t>
            </a:r>
            <a:r>
              <a:rPr lang="ro-RO" altLang="ro-RO" sz="2400">
                <a:latin typeface="Times New Roman" panose="02020603050405020304" pitchFamily="18" charset="0"/>
              </a:rPr>
              <a:t>ă</a:t>
            </a:r>
            <a:r>
              <a:rPr lang="en-US" altLang="ro-RO" sz="2400">
                <a:latin typeface="Times New Roman" panose="02020603050405020304" pitchFamily="18" charset="0"/>
              </a:rPr>
              <a:t> se nume</a:t>
            </a:r>
            <a:r>
              <a:rPr lang="ro-RO" altLang="ro-RO" sz="2400">
                <a:latin typeface="Times New Roman" panose="02020603050405020304" pitchFamily="18" charset="0"/>
              </a:rPr>
              <a:t>ş</a:t>
            </a:r>
            <a:r>
              <a:rPr lang="en-US" altLang="ro-RO" sz="2400">
                <a:latin typeface="Times New Roman" panose="02020603050405020304" pitchFamily="18" charset="0"/>
              </a:rPr>
              <a:t>te </a:t>
            </a:r>
            <a:r>
              <a:rPr lang="en-US" altLang="ro-RO" sz="2400" b="1" i="1">
                <a:latin typeface="Times New Roman" panose="02020603050405020304" pitchFamily="18" charset="0"/>
              </a:rPr>
              <a:t>radix</a:t>
            </a:r>
            <a:r>
              <a:rPr lang="en-US" altLang="ro-RO" sz="2400" b="1">
                <a:latin typeface="Times New Roman" panose="02020603050405020304" pitchFamily="18" charset="0"/>
              </a:rPr>
              <a:t>-2.</a:t>
            </a:r>
            <a:r>
              <a:rPr lang="en-US" altLang="ro-RO" sz="2400">
                <a:latin typeface="Times New Roman" panose="02020603050405020304" pitchFamily="18" charset="0"/>
              </a:rPr>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a:extLst>
              <a:ext uri="{FF2B5EF4-FFF2-40B4-BE49-F238E27FC236}">
                <a16:creationId xmlns:a16="http://schemas.microsoft.com/office/drawing/2014/main" id="{782D3785-528E-4CC8-B722-3055B634F42F}"/>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400">
                <a:solidFill>
                  <a:srgbClr val="FF0000"/>
                </a:solidFill>
                <a:latin typeface="Times New Roman" panose="02020603050405020304" pitchFamily="18" charset="0"/>
                <a:cs typeface="Times New Roman" panose="02020603050405020304" pitchFamily="18" charset="0"/>
              </a:rPr>
              <a:t>Bazele matematice</a:t>
            </a:r>
          </a:p>
        </p:txBody>
      </p:sp>
      <p:graphicFrame>
        <p:nvGraphicFramePr>
          <p:cNvPr id="43011" name="Object 5">
            <a:extLst>
              <a:ext uri="{FF2B5EF4-FFF2-40B4-BE49-F238E27FC236}">
                <a16:creationId xmlns:a16="http://schemas.microsoft.com/office/drawing/2014/main" id="{77CE19F9-FF13-4B8B-A4C7-0916A63CB2F6}"/>
              </a:ext>
            </a:extLst>
          </p:cNvPr>
          <p:cNvGraphicFramePr>
            <a:graphicFrameLocks noChangeAspect="1"/>
          </p:cNvGraphicFramePr>
          <p:nvPr/>
        </p:nvGraphicFramePr>
        <p:xfrm>
          <a:off x="3276600" y="1630363"/>
          <a:ext cx="2514600" cy="808037"/>
        </p:xfrm>
        <a:graphic>
          <a:graphicData uri="http://schemas.openxmlformats.org/presentationml/2006/ole">
            <mc:AlternateContent xmlns:mc="http://schemas.openxmlformats.org/markup-compatibility/2006">
              <mc:Choice xmlns:v="urn:schemas-microsoft-com:vml" Requires="v">
                <p:oleObj spid="_x0000_s43017" name="Equation" r:id="rId3" imgW="1459866" imgH="469696" progId="Equation.DSMT4">
                  <p:embed/>
                </p:oleObj>
              </mc:Choice>
              <mc:Fallback>
                <p:oleObj name="Equation" r:id="rId3" imgW="1459866" imgH="469696"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630363"/>
                        <a:ext cx="2514600" cy="808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2" name="Object 6">
            <a:extLst>
              <a:ext uri="{FF2B5EF4-FFF2-40B4-BE49-F238E27FC236}">
                <a16:creationId xmlns:a16="http://schemas.microsoft.com/office/drawing/2014/main" id="{26F6AC57-2452-4547-8BD4-1D665FE9E902}"/>
              </a:ext>
            </a:extLst>
          </p:cNvPr>
          <p:cNvGraphicFramePr>
            <a:graphicFrameLocks noChangeAspect="1"/>
          </p:cNvGraphicFramePr>
          <p:nvPr/>
        </p:nvGraphicFramePr>
        <p:xfrm>
          <a:off x="457200" y="3429000"/>
          <a:ext cx="8686800" cy="1514475"/>
        </p:xfrm>
        <a:graphic>
          <a:graphicData uri="http://schemas.openxmlformats.org/presentationml/2006/ole">
            <mc:AlternateContent xmlns:mc="http://schemas.openxmlformats.org/markup-compatibility/2006">
              <mc:Choice xmlns:v="urn:schemas-microsoft-com:vml" Requires="v">
                <p:oleObj spid="_x0000_s43018" name="Equation" r:id="rId5" imgW="5676900" imgH="990600" progId="Equation.DSMT4">
                  <p:embed/>
                </p:oleObj>
              </mc:Choice>
              <mc:Fallback>
                <p:oleObj name="Equation" r:id="rId5" imgW="5676900" imgH="9906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3429000"/>
                        <a:ext cx="8686800" cy="151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3013" name="Text Box 8">
            <a:extLst>
              <a:ext uri="{FF2B5EF4-FFF2-40B4-BE49-F238E27FC236}">
                <a16:creationId xmlns:a16="http://schemas.microsoft.com/office/drawing/2014/main" id="{FBEE53E2-AE31-45CD-BF83-7A774FB4571E}"/>
              </a:ext>
            </a:extLst>
          </p:cNvPr>
          <p:cNvSpPr txBox="1">
            <a:spLocks noChangeArrowheads="1"/>
          </p:cNvSpPr>
          <p:nvPr/>
        </p:nvSpPr>
        <p:spPr bwMode="auto">
          <a:xfrm>
            <a:off x="381000" y="2438400"/>
            <a:ext cx="838200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000">
                <a:latin typeface="Times New Roman" panose="02020603050405020304" pitchFamily="18" charset="0"/>
              </a:rPr>
              <a:t>F</a:t>
            </a:r>
            <a:r>
              <a:rPr lang="ro-RO" altLang="ro-RO" sz="2000">
                <a:latin typeface="Times New Roman" panose="02020603050405020304" pitchFamily="18" charset="0"/>
              </a:rPr>
              <a:t>ă</a:t>
            </a:r>
            <a:r>
              <a:rPr lang="en-US" altLang="ro-RO" sz="2000">
                <a:latin typeface="Times New Roman" panose="02020603050405020304" pitchFamily="18" charset="0"/>
              </a:rPr>
              <a:t>r</a:t>
            </a:r>
            <a:r>
              <a:rPr lang="ro-RO" altLang="ro-RO" sz="2000">
                <a:latin typeface="Times New Roman" panose="02020603050405020304" pitchFamily="18" charset="0"/>
              </a:rPr>
              <a:t>ă</a:t>
            </a:r>
            <a:r>
              <a:rPr lang="en-US" altLang="ro-RO" sz="2000">
                <a:latin typeface="Times New Roman" panose="02020603050405020304" pitchFamily="18" charset="0"/>
              </a:rPr>
              <a:t> a reduce din generalitate putem considera c</a:t>
            </a:r>
            <a:r>
              <a:rPr lang="ro-RO" altLang="ro-RO" sz="2000">
                <a:latin typeface="Times New Roman" panose="02020603050405020304" pitchFamily="18" charset="0"/>
              </a:rPr>
              <a:t>ă</a:t>
            </a:r>
            <a:r>
              <a:rPr lang="en-US" altLang="ro-RO" sz="2000">
                <a:latin typeface="Times New Roman" panose="02020603050405020304" pitchFamily="18" charset="0"/>
              </a:rPr>
              <a:t> </a:t>
            </a:r>
            <a:r>
              <a:rPr lang="en-US" altLang="ro-RO" sz="2000" i="1">
                <a:latin typeface="Times New Roman" panose="02020603050405020304" pitchFamily="18" charset="0"/>
              </a:rPr>
              <a:t>N</a:t>
            </a:r>
            <a:r>
              <a:rPr lang="en-US" altLang="ro-RO" sz="2000" baseline="-25000">
                <a:latin typeface="Times New Roman" panose="02020603050405020304" pitchFamily="18" charset="0"/>
              </a:rPr>
              <a:t>1</a:t>
            </a:r>
            <a:r>
              <a:rPr lang="en-US" altLang="ro-RO" sz="2000">
                <a:latin typeface="Times New Roman" panose="02020603050405020304" pitchFamily="18" charset="0"/>
              </a:rPr>
              <a:t>=0. </a:t>
            </a:r>
            <a:r>
              <a:rPr lang="en-US" altLang="ro-RO" sz="2000" baseline="-25000">
                <a:latin typeface="Times New Roman" panose="02020603050405020304" pitchFamily="18" charset="0"/>
              </a:rPr>
              <a:t> </a:t>
            </a:r>
            <a:r>
              <a:rPr lang="en-US" altLang="ro-RO" sz="2000">
                <a:latin typeface="Times New Roman" panose="02020603050405020304" pitchFamily="18" charset="0"/>
              </a:rPr>
              <a:t>Descompunem membrul drept </a:t>
            </a:r>
            <a:r>
              <a:rPr lang="ro-RO" altLang="ro-RO" sz="2000">
                <a:latin typeface="Times New Roman" panose="02020603050405020304" pitchFamily="18" charset="0"/>
              </a:rPr>
              <a:t>î</a:t>
            </a:r>
            <a:r>
              <a:rPr lang="en-US" altLang="ro-RO" sz="2000">
                <a:latin typeface="Times New Roman" panose="02020603050405020304" pitchFamily="18" charset="0"/>
              </a:rPr>
              <a:t>n 2 sume, prima con</a:t>
            </a:r>
            <a:r>
              <a:rPr lang="ro-RO" altLang="ro-RO" sz="2000">
                <a:latin typeface="Times New Roman" panose="02020603050405020304" pitchFamily="18" charset="0"/>
              </a:rPr>
              <a:t>ţ</a:t>
            </a:r>
            <a:r>
              <a:rPr lang="en-US" altLang="ro-RO" sz="2000">
                <a:latin typeface="Times New Roman" panose="02020603050405020304" pitchFamily="18" charset="0"/>
              </a:rPr>
              <a:t>in</a:t>
            </a:r>
            <a:r>
              <a:rPr lang="ro-RO" altLang="ro-RO" sz="2000">
                <a:latin typeface="Times New Roman" panose="02020603050405020304" pitchFamily="18" charset="0"/>
              </a:rPr>
              <a:t>â</a:t>
            </a:r>
            <a:r>
              <a:rPr lang="en-US" altLang="ro-RO" sz="2000">
                <a:latin typeface="Times New Roman" panose="02020603050405020304" pitchFamily="18" charset="0"/>
              </a:rPr>
              <a:t>nd valorile impare ale indicelui </a:t>
            </a:r>
            <a:r>
              <a:rPr lang="en-US" altLang="ro-RO" sz="2000" i="1">
                <a:latin typeface="Times New Roman" panose="02020603050405020304" pitchFamily="18" charset="0"/>
              </a:rPr>
              <a:t>n</a:t>
            </a:r>
            <a:r>
              <a:rPr lang="en-US" altLang="ro-RO" sz="2000">
                <a:latin typeface="Times New Roman" panose="02020603050405020304" pitchFamily="18" charset="0"/>
              </a:rPr>
              <a:t> iar cea de a doua valorile pare.</a:t>
            </a:r>
          </a:p>
        </p:txBody>
      </p:sp>
      <p:sp>
        <p:nvSpPr>
          <p:cNvPr id="43014" name="Text Box 9">
            <a:extLst>
              <a:ext uri="{FF2B5EF4-FFF2-40B4-BE49-F238E27FC236}">
                <a16:creationId xmlns:a16="http://schemas.microsoft.com/office/drawing/2014/main" id="{B6ED011E-E330-4ADE-B0CC-4F5022DCFD45}"/>
              </a:ext>
            </a:extLst>
          </p:cNvPr>
          <p:cNvSpPr txBox="1">
            <a:spLocks noChangeArrowheads="1"/>
          </p:cNvSpPr>
          <p:nvPr/>
        </p:nvSpPr>
        <p:spPr bwMode="auto">
          <a:xfrm>
            <a:off x="381000" y="5181600"/>
            <a:ext cx="815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000">
                <a:latin typeface="Times New Roman" panose="02020603050405020304" pitchFamily="18" charset="0"/>
              </a:rPr>
              <a:t>Dar:</a:t>
            </a:r>
          </a:p>
        </p:txBody>
      </p:sp>
      <p:graphicFrame>
        <p:nvGraphicFramePr>
          <p:cNvPr id="43015" name="Object 10">
            <a:extLst>
              <a:ext uri="{FF2B5EF4-FFF2-40B4-BE49-F238E27FC236}">
                <a16:creationId xmlns:a16="http://schemas.microsoft.com/office/drawing/2014/main" id="{8AAC3E29-0E0A-489E-82E9-8A39A09A52D2}"/>
              </a:ext>
            </a:extLst>
          </p:cNvPr>
          <p:cNvGraphicFramePr>
            <a:graphicFrameLocks noChangeAspect="1"/>
          </p:cNvGraphicFramePr>
          <p:nvPr/>
        </p:nvGraphicFramePr>
        <p:xfrm>
          <a:off x="1295400" y="4876800"/>
          <a:ext cx="4343400" cy="877888"/>
        </p:xfrm>
        <a:graphic>
          <a:graphicData uri="http://schemas.openxmlformats.org/presentationml/2006/ole">
            <mc:AlternateContent xmlns:mc="http://schemas.openxmlformats.org/markup-compatibility/2006">
              <mc:Choice xmlns:v="urn:schemas-microsoft-com:vml" Requires="v">
                <p:oleObj spid="_x0000_s43019" name="Equation" r:id="rId7" imgW="3022600" imgH="609600" progId="Equation.DSMT4">
                  <p:embed/>
                </p:oleObj>
              </mc:Choice>
              <mc:Fallback>
                <p:oleObj name="Equation" r:id="rId7" imgW="3022600" imgH="60960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5400" y="4876800"/>
                        <a:ext cx="4343400" cy="87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3016" name="Object 11">
            <a:extLst>
              <a:ext uri="{FF2B5EF4-FFF2-40B4-BE49-F238E27FC236}">
                <a16:creationId xmlns:a16="http://schemas.microsoft.com/office/drawing/2014/main" id="{EDC3AB21-CECD-41AC-AF11-05BE8B4E5317}"/>
              </a:ext>
            </a:extLst>
          </p:cNvPr>
          <p:cNvGraphicFramePr>
            <a:graphicFrameLocks noChangeAspect="1"/>
          </p:cNvGraphicFramePr>
          <p:nvPr/>
        </p:nvGraphicFramePr>
        <p:xfrm>
          <a:off x="1828800" y="5867400"/>
          <a:ext cx="4572000" cy="666750"/>
        </p:xfrm>
        <a:graphic>
          <a:graphicData uri="http://schemas.openxmlformats.org/presentationml/2006/ole">
            <mc:AlternateContent xmlns:mc="http://schemas.openxmlformats.org/markup-compatibility/2006">
              <mc:Choice xmlns:v="urn:schemas-microsoft-com:vml" Requires="v">
                <p:oleObj spid="_x0000_s43020" name="Equation" r:id="rId9" imgW="2527300" imgH="368300" progId="Equation.DSMT4">
                  <p:embed/>
                </p:oleObj>
              </mc:Choice>
              <mc:Fallback>
                <p:oleObj name="Equation" r:id="rId9" imgW="2527300" imgH="36830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28800" y="5867400"/>
                        <a:ext cx="457200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034" name="Object 4">
            <a:extLst>
              <a:ext uri="{FF2B5EF4-FFF2-40B4-BE49-F238E27FC236}">
                <a16:creationId xmlns:a16="http://schemas.microsoft.com/office/drawing/2014/main" id="{3AFC66CE-3BD3-4C1E-93B7-8AD2D49D0440}"/>
              </a:ext>
            </a:extLst>
          </p:cNvPr>
          <p:cNvGraphicFramePr>
            <a:graphicFrameLocks noChangeAspect="1"/>
          </p:cNvGraphicFramePr>
          <p:nvPr/>
        </p:nvGraphicFramePr>
        <p:xfrm>
          <a:off x="1600200" y="838200"/>
          <a:ext cx="5486400" cy="800100"/>
        </p:xfrm>
        <a:graphic>
          <a:graphicData uri="http://schemas.openxmlformats.org/presentationml/2006/ole">
            <mc:AlternateContent xmlns:mc="http://schemas.openxmlformats.org/markup-compatibility/2006">
              <mc:Choice xmlns:v="urn:schemas-microsoft-com:vml" Requires="v">
                <p:oleObj spid="_x0000_s44037" name="Equation" r:id="rId3" imgW="2527300" imgH="368300" progId="Equation.DSMT4">
                  <p:embed/>
                </p:oleObj>
              </mc:Choice>
              <mc:Fallback>
                <p:oleObj name="Equation" r:id="rId3" imgW="2527300" imgH="3683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0200" y="838200"/>
                        <a:ext cx="54864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35" name="Text Box 5">
            <a:extLst>
              <a:ext uri="{FF2B5EF4-FFF2-40B4-BE49-F238E27FC236}">
                <a16:creationId xmlns:a16="http://schemas.microsoft.com/office/drawing/2014/main" id="{3FBB07BD-F843-4676-8664-AB661D6EDF13}"/>
              </a:ext>
            </a:extLst>
          </p:cNvPr>
          <p:cNvSpPr txBox="1">
            <a:spLocks noChangeArrowheads="1"/>
          </p:cNvSpPr>
          <p:nvPr/>
        </p:nvSpPr>
        <p:spPr bwMode="auto">
          <a:xfrm>
            <a:off x="609600" y="1828800"/>
            <a:ext cx="7772400" cy="212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Cele 2 sume din membrul drept reprezint</a:t>
            </a:r>
            <a:r>
              <a:rPr lang="ro-RO" altLang="ro-RO" sz="2400">
                <a:latin typeface="Times New Roman" panose="02020603050405020304" pitchFamily="18" charset="0"/>
              </a:rPr>
              <a:t>ă</a:t>
            </a:r>
            <a:r>
              <a:rPr lang="en-US" altLang="ro-RO" sz="2400">
                <a:latin typeface="Times New Roman" panose="02020603050405020304" pitchFamily="18" charset="0"/>
              </a:rPr>
              <a:t> TFD a dou</a:t>
            </a:r>
            <a:r>
              <a:rPr lang="ro-RO" altLang="ro-RO" sz="2400">
                <a:latin typeface="Times New Roman" panose="02020603050405020304" pitchFamily="18" charset="0"/>
              </a:rPr>
              <a:t>ă</a:t>
            </a:r>
            <a:r>
              <a:rPr lang="en-US" altLang="ro-RO" sz="2400">
                <a:latin typeface="Times New Roman" panose="02020603050405020304" pitchFamily="18" charset="0"/>
              </a:rPr>
              <a:t> secven</a:t>
            </a:r>
            <a:r>
              <a:rPr lang="ro-RO" altLang="ro-RO" sz="2400">
                <a:latin typeface="Times New Roman" panose="02020603050405020304" pitchFamily="18" charset="0"/>
              </a:rPr>
              <a:t>ţ</a:t>
            </a:r>
            <a:r>
              <a:rPr lang="en-US" altLang="ro-RO" sz="2400">
                <a:latin typeface="Times New Roman" panose="02020603050405020304" pitchFamily="18" charset="0"/>
              </a:rPr>
              <a:t>e de durat</a:t>
            </a:r>
            <a:r>
              <a:rPr lang="ro-RO" altLang="ro-RO" sz="2400">
                <a:latin typeface="Times New Roman" panose="02020603050405020304" pitchFamily="18" charset="0"/>
              </a:rPr>
              <a:t>ă</a:t>
            </a:r>
            <a:r>
              <a:rPr lang="en-US" altLang="ro-RO" sz="2400">
                <a:latin typeface="Times New Roman" panose="02020603050405020304" pitchFamily="18" charset="0"/>
              </a:rPr>
              <a:t> </a:t>
            </a:r>
            <a:r>
              <a:rPr lang="en-US" altLang="ro-RO" sz="2400" i="1">
                <a:latin typeface="Times New Roman" panose="02020603050405020304" pitchFamily="18" charset="0"/>
              </a:rPr>
              <a:t>N</a:t>
            </a:r>
            <a:r>
              <a:rPr lang="en-US" altLang="ro-RO" sz="2400">
                <a:latin typeface="Times New Roman" panose="02020603050405020304" pitchFamily="18" charset="0"/>
              </a:rPr>
              <a:t>/2. </a:t>
            </a:r>
          </a:p>
          <a:p>
            <a:pPr eaLnBrk="1" hangingPunct="1">
              <a:spcBef>
                <a:spcPct val="50000"/>
              </a:spcBef>
            </a:pPr>
            <a:r>
              <a:rPr lang="en-US" altLang="ro-RO" sz="2400">
                <a:latin typeface="Times New Roman" panose="02020603050405020304" pitchFamily="18" charset="0"/>
              </a:rPr>
              <a:t>Dac</a:t>
            </a:r>
            <a:r>
              <a:rPr lang="ro-RO" altLang="ro-RO" sz="2400">
                <a:latin typeface="Times New Roman" panose="02020603050405020304" pitchFamily="18" charset="0"/>
              </a:rPr>
              <a:t>ă</a:t>
            </a:r>
            <a:r>
              <a:rPr lang="en-US" altLang="ro-RO" sz="2400">
                <a:latin typeface="Times New Roman" panose="02020603050405020304" pitchFamily="18" charset="0"/>
              </a:rPr>
              <a:t> </a:t>
            </a:r>
            <a:r>
              <a:rPr lang="en-US" altLang="ro-RO" sz="2400" i="1">
                <a:latin typeface="Times New Roman" panose="02020603050405020304" pitchFamily="18" charset="0"/>
              </a:rPr>
              <a:t>N</a:t>
            </a:r>
            <a:r>
              <a:rPr lang="en-US" altLang="ro-RO" sz="2400">
                <a:latin typeface="Times New Roman" panose="02020603050405020304" pitchFamily="18" charset="0"/>
              </a:rPr>
              <a:t> este o putere a lui 2, aceast</a:t>
            </a:r>
            <a:r>
              <a:rPr lang="ro-RO" altLang="ro-RO" sz="2400">
                <a:latin typeface="Times New Roman" panose="02020603050405020304" pitchFamily="18" charset="0"/>
              </a:rPr>
              <a:t>ă</a:t>
            </a:r>
            <a:r>
              <a:rPr lang="en-US" altLang="ro-RO" sz="2400">
                <a:latin typeface="Times New Roman" panose="02020603050405020304" pitchFamily="18" charset="0"/>
              </a:rPr>
              <a:t> divizare poate fi aplicat</a:t>
            </a:r>
            <a:r>
              <a:rPr lang="ro-RO" altLang="ro-RO" sz="2400">
                <a:latin typeface="Times New Roman" panose="02020603050405020304" pitchFamily="18" charset="0"/>
              </a:rPr>
              <a:t>ă</a:t>
            </a:r>
            <a:r>
              <a:rPr lang="en-US" altLang="ro-RO" sz="2400">
                <a:latin typeface="Times New Roman" panose="02020603050405020304" pitchFamily="18" charset="0"/>
              </a:rPr>
              <a:t> recursiv p</a:t>
            </a:r>
            <a:r>
              <a:rPr lang="ro-RO" altLang="ro-RO" sz="2400">
                <a:latin typeface="Times New Roman" panose="02020603050405020304" pitchFamily="18" charset="0"/>
              </a:rPr>
              <a:t>â</a:t>
            </a:r>
            <a:r>
              <a:rPr lang="en-US" altLang="ro-RO" sz="2400">
                <a:latin typeface="Times New Roman" panose="02020603050405020304" pitchFamily="18" charset="0"/>
              </a:rPr>
              <a:t>n</a:t>
            </a:r>
            <a:r>
              <a:rPr lang="ro-RO" altLang="ro-RO" sz="2400">
                <a:latin typeface="Times New Roman" panose="02020603050405020304" pitchFamily="18" charset="0"/>
              </a:rPr>
              <a:t>ă</a:t>
            </a:r>
            <a:r>
              <a:rPr lang="en-US" altLang="ro-RO" sz="2400">
                <a:latin typeface="Times New Roman" panose="02020603050405020304" pitchFamily="18" charset="0"/>
              </a:rPr>
              <a:t> c</a:t>
            </a:r>
            <a:r>
              <a:rPr lang="ro-RO" altLang="ro-RO" sz="2400">
                <a:latin typeface="Times New Roman" panose="02020603050405020304" pitchFamily="18" charset="0"/>
              </a:rPr>
              <a:t>â</a:t>
            </a:r>
            <a:r>
              <a:rPr lang="en-US" altLang="ro-RO" sz="2400">
                <a:latin typeface="Times New Roman" panose="02020603050405020304" pitchFamily="18" charset="0"/>
              </a:rPr>
              <a:t>nd se ajunge la calculul TFD a unor secven</a:t>
            </a:r>
            <a:r>
              <a:rPr lang="ro-RO" altLang="ro-RO" sz="2400">
                <a:latin typeface="Times New Roman" panose="02020603050405020304" pitchFamily="18" charset="0"/>
              </a:rPr>
              <a:t>ţ</a:t>
            </a:r>
            <a:r>
              <a:rPr lang="en-US" altLang="ro-RO" sz="2400">
                <a:latin typeface="Times New Roman" panose="02020603050405020304" pitchFamily="18" charset="0"/>
              </a:rPr>
              <a:t>e formate din 2 e</a:t>
            </a:r>
            <a:r>
              <a:rPr lang="ro-RO" altLang="ro-RO" sz="2400">
                <a:latin typeface="Times New Roman" panose="02020603050405020304" pitchFamily="18" charset="0"/>
              </a:rPr>
              <a:t>ş</a:t>
            </a:r>
            <a:r>
              <a:rPr lang="en-US" altLang="ro-RO" sz="2400">
                <a:latin typeface="Times New Roman" panose="02020603050405020304" pitchFamily="18" charset="0"/>
              </a:rPr>
              <a:t>antioane. </a:t>
            </a:r>
          </a:p>
        </p:txBody>
      </p:sp>
      <p:graphicFrame>
        <p:nvGraphicFramePr>
          <p:cNvPr id="44036" name="Object 6">
            <a:extLst>
              <a:ext uri="{FF2B5EF4-FFF2-40B4-BE49-F238E27FC236}">
                <a16:creationId xmlns:a16="http://schemas.microsoft.com/office/drawing/2014/main" id="{4D36D544-9CEE-4974-977C-1A905D61BD23}"/>
              </a:ext>
            </a:extLst>
          </p:cNvPr>
          <p:cNvGraphicFramePr>
            <a:graphicFrameLocks noChangeAspect="1"/>
          </p:cNvGraphicFramePr>
          <p:nvPr/>
        </p:nvGraphicFramePr>
        <p:xfrm>
          <a:off x="1066800" y="4114800"/>
          <a:ext cx="5819775" cy="2433638"/>
        </p:xfrm>
        <a:graphic>
          <a:graphicData uri="http://schemas.openxmlformats.org/presentationml/2006/ole">
            <mc:AlternateContent xmlns:mc="http://schemas.openxmlformats.org/markup-compatibility/2006">
              <mc:Choice xmlns:v="urn:schemas-microsoft-com:vml" Requires="v">
                <p:oleObj spid="_x0000_s44038" name="Equation" r:id="rId5" imgW="3009900" imgH="1257300" progId="Equation.DSMT4">
                  <p:embed/>
                </p:oleObj>
              </mc:Choice>
              <mc:Fallback>
                <p:oleObj name="Equation" r:id="rId5" imgW="3009900" imgH="125730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6800" y="4114800"/>
                        <a:ext cx="5819775" cy="2433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5058" name="Object 4">
            <a:extLst>
              <a:ext uri="{FF2B5EF4-FFF2-40B4-BE49-F238E27FC236}">
                <a16:creationId xmlns:a16="http://schemas.microsoft.com/office/drawing/2014/main" id="{610A2F24-35B6-4F1E-87A1-7E0B00EE5F6A}"/>
              </a:ext>
            </a:extLst>
          </p:cNvPr>
          <p:cNvGraphicFramePr>
            <a:graphicFrameLocks noChangeAspect="1"/>
          </p:cNvGraphicFramePr>
          <p:nvPr/>
        </p:nvGraphicFramePr>
        <p:xfrm>
          <a:off x="3429000" y="381000"/>
          <a:ext cx="2136775" cy="860425"/>
        </p:xfrm>
        <a:graphic>
          <a:graphicData uri="http://schemas.openxmlformats.org/presentationml/2006/ole">
            <mc:AlternateContent xmlns:mc="http://schemas.openxmlformats.org/markup-compatibility/2006">
              <mc:Choice xmlns:v="urn:schemas-microsoft-com:vml" Requires="v">
                <p:oleObj spid="_x0000_s45063" name="Equation" r:id="rId3" imgW="1104900" imgH="444500" progId="Equation.DSMT4">
                  <p:embed/>
                </p:oleObj>
              </mc:Choice>
              <mc:Fallback>
                <p:oleObj name="Equation" r:id="rId3" imgW="1104900" imgH="4445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381000"/>
                        <a:ext cx="2136775"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5059" name="Picture 5">
            <a:extLst>
              <a:ext uri="{FF2B5EF4-FFF2-40B4-BE49-F238E27FC236}">
                <a16:creationId xmlns:a16="http://schemas.microsoft.com/office/drawing/2014/main" id="{F1D58E65-B544-40CC-8046-46FB2FD6928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1828800"/>
            <a:ext cx="181927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6">
            <a:extLst>
              <a:ext uri="{FF2B5EF4-FFF2-40B4-BE49-F238E27FC236}">
                <a16:creationId xmlns:a16="http://schemas.microsoft.com/office/drawing/2014/main" id="{1E68C3B1-0704-4B56-AF58-3DCD96F62CF8}"/>
              </a:ext>
            </a:extLst>
          </p:cNvPr>
          <p:cNvSpPr txBox="1">
            <a:spLocks noChangeArrowheads="1"/>
          </p:cNvSpPr>
          <p:nvPr/>
        </p:nvSpPr>
        <p:spPr bwMode="auto">
          <a:xfrm>
            <a:off x="381000" y="1371600"/>
            <a:ext cx="838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Aceste TFD pot fi implementate cu structuri de tip fluture:</a:t>
            </a:r>
          </a:p>
        </p:txBody>
      </p:sp>
      <p:sp>
        <p:nvSpPr>
          <p:cNvPr id="45061" name="Text Box 7">
            <a:extLst>
              <a:ext uri="{FF2B5EF4-FFF2-40B4-BE49-F238E27FC236}">
                <a16:creationId xmlns:a16="http://schemas.microsoft.com/office/drawing/2014/main" id="{C6284D4C-82D1-448A-AF5B-C05F030B2954}"/>
              </a:ext>
            </a:extLst>
          </p:cNvPr>
          <p:cNvSpPr txBox="1">
            <a:spLocks noChangeArrowheads="1"/>
          </p:cNvSpPr>
          <p:nvPr/>
        </p:nvSpPr>
        <p:spPr bwMode="auto">
          <a:xfrm>
            <a:off x="304800" y="3124200"/>
            <a:ext cx="86106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ro-RO" altLang="ro-RO" sz="2400">
                <a:latin typeface="Times New Roman" panose="02020603050405020304" pitchFamily="18" charset="0"/>
              </a:rPr>
              <a:t>Î</a:t>
            </a:r>
            <a:r>
              <a:rPr lang="en-US" altLang="ro-RO" sz="2400">
                <a:latin typeface="Times New Roman" panose="02020603050405020304" pitchFamily="18" charset="0"/>
              </a:rPr>
              <a:t>n continuare, folosind aceea</a:t>
            </a:r>
            <a:r>
              <a:rPr lang="ro-RO" altLang="ro-RO" sz="2400">
                <a:latin typeface="Times New Roman" panose="02020603050405020304" pitchFamily="18" charset="0"/>
              </a:rPr>
              <a:t>ş</a:t>
            </a:r>
            <a:r>
              <a:rPr lang="en-US" altLang="ro-RO" sz="2400">
                <a:latin typeface="Times New Roman" panose="02020603050405020304" pitchFamily="18" charset="0"/>
              </a:rPr>
              <a:t>i strategie, TFD a unei secven</a:t>
            </a:r>
            <a:r>
              <a:rPr lang="ro-RO" altLang="ro-RO" sz="2400">
                <a:latin typeface="Times New Roman" panose="02020603050405020304" pitchFamily="18" charset="0"/>
              </a:rPr>
              <a:t>ţ</a:t>
            </a:r>
            <a:r>
              <a:rPr lang="en-US" altLang="ro-RO" sz="2400">
                <a:latin typeface="Times New Roman" panose="02020603050405020304" pitchFamily="18" charset="0"/>
              </a:rPr>
              <a:t>e care con</a:t>
            </a:r>
            <a:r>
              <a:rPr lang="ro-RO" altLang="ro-RO" sz="2400">
                <a:latin typeface="Times New Roman" panose="02020603050405020304" pitchFamily="18" charset="0"/>
              </a:rPr>
              <a:t>ţ</a:t>
            </a:r>
            <a:r>
              <a:rPr lang="en-US" altLang="ro-RO" sz="2400">
                <a:latin typeface="Times New Roman" panose="02020603050405020304" pitchFamily="18" charset="0"/>
              </a:rPr>
              <a:t>ine 4 e</a:t>
            </a:r>
            <a:r>
              <a:rPr lang="ro-RO" altLang="ro-RO" sz="2400">
                <a:latin typeface="Times New Roman" panose="02020603050405020304" pitchFamily="18" charset="0"/>
              </a:rPr>
              <a:t>ş</a:t>
            </a:r>
            <a:r>
              <a:rPr lang="en-US" altLang="ro-RO" sz="2400">
                <a:latin typeface="Times New Roman" panose="02020603050405020304" pitchFamily="18" charset="0"/>
              </a:rPr>
              <a:t>antioane poate fi redus</a:t>
            </a:r>
            <a:r>
              <a:rPr lang="ro-RO" altLang="ro-RO" sz="2400">
                <a:latin typeface="Times New Roman" panose="02020603050405020304" pitchFamily="18" charset="0"/>
              </a:rPr>
              <a:t>ă</a:t>
            </a:r>
            <a:r>
              <a:rPr lang="en-US" altLang="ro-RO" sz="2400">
                <a:latin typeface="Times New Roman" panose="02020603050405020304" pitchFamily="18" charset="0"/>
              </a:rPr>
              <a:t> la calculul a dou</a:t>
            </a:r>
            <a:r>
              <a:rPr lang="ro-RO" altLang="ro-RO" sz="2400">
                <a:latin typeface="Times New Roman" panose="02020603050405020304" pitchFamily="18" charset="0"/>
              </a:rPr>
              <a:t>ă</a:t>
            </a:r>
            <a:r>
              <a:rPr lang="en-US" altLang="ro-RO" sz="2400">
                <a:latin typeface="Times New Roman" panose="02020603050405020304" pitchFamily="18" charset="0"/>
              </a:rPr>
              <a:t> TFD ale unor secven</a:t>
            </a:r>
            <a:r>
              <a:rPr lang="ro-RO" altLang="ro-RO" sz="2400">
                <a:latin typeface="Times New Roman" panose="02020603050405020304" pitchFamily="18" charset="0"/>
              </a:rPr>
              <a:t>ţ</a:t>
            </a:r>
            <a:r>
              <a:rPr lang="en-US" altLang="ro-RO" sz="2400">
                <a:latin typeface="Times New Roman" panose="02020603050405020304" pitchFamily="18" charset="0"/>
              </a:rPr>
              <a:t>e av</a:t>
            </a:r>
            <a:r>
              <a:rPr lang="ro-RO" altLang="ro-RO" sz="2400">
                <a:latin typeface="Times New Roman" panose="02020603050405020304" pitchFamily="18" charset="0"/>
              </a:rPr>
              <a:t>â</a:t>
            </a:r>
            <a:r>
              <a:rPr lang="en-US" altLang="ro-RO" sz="2400">
                <a:latin typeface="Times New Roman" panose="02020603050405020304" pitchFamily="18" charset="0"/>
              </a:rPr>
              <a:t>nd c</a:t>
            </a:r>
            <a:r>
              <a:rPr lang="ro-RO" altLang="ro-RO" sz="2400">
                <a:latin typeface="Times New Roman" panose="02020603050405020304" pitchFamily="18" charset="0"/>
              </a:rPr>
              <a:t>â</a:t>
            </a:r>
            <a:r>
              <a:rPr lang="en-US" altLang="ro-RO" sz="2400">
                <a:latin typeface="Times New Roman" panose="02020603050405020304" pitchFamily="18" charset="0"/>
              </a:rPr>
              <a:t>te 2 elemente, prima corespunz</a:t>
            </a:r>
            <a:r>
              <a:rPr lang="ro-RO" altLang="ro-RO" sz="2400">
                <a:latin typeface="Times New Roman" panose="02020603050405020304" pitchFamily="18" charset="0"/>
              </a:rPr>
              <a:t>â</a:t>
            </a:r>
            <a:r>
              <a:rPr lang="en-US" altLang="ro-RO" sz="2400">
                <a:latin typeface="Times New Roman" panose="02020603050405020304" pitchFamily="18" charset="0"/>
              </a:rPr>
              <a:t>nd e</a:t>
            </a:r>
            <a:r>
              <a:rPr lang="ro-RO" altLang="ro-RO" sz="2400">
                <a:latin typeface="Times New Roman" panose="02020603050405020304" pitchFamily="18" charset="0"/>
              </a:rPr>
              <a:t>ş</a:t>
            </a:r>
            <a:r>
              <a:rPr lang="en-US" altLang="ro-RO" sz="2400">
                <a:latin typeface="Times New Roman" panose="02020603050405020304" pitchFamily="18" charset="0"/>
              </a:rPr>
              <a:t>antioanelor pare </a:t>
            </a:r>
            <a:r>
              <a:rPr lang="ro-RO" altLang="ro-RO" sz="2400">
                <a:latin typeface="Times New Roman" panose="02020603050405020304" pitchFamily="18" charset="0"/>
              </a:rPr>
              <a:t>ş</a:t>
            </a:r>
            <a:r>
              <a:rPr lang="en-US" altLang="ro-RO" sz="2400">
                <a:latin typeface="Times New Roman" panose="02020603050405020304" pitchFamily="18" charset="0"/>
              </a:rPr>
              <a:t>i cea de a doua e</a:t>
            </a:r>
            <a:r>
              <a:rPr lang="ro-RO" altLang="ro-RO" sz="2400">
                <a:latin typeface="Times New Roman" panose="02020603050405020304" pitchFamily="18" charset="0"/>
              </a:rPr>
              <a:t>ş</a:t>
            </a:r>
            <a:r>
              <a:rPr lang="en-US" altLang="ro-RO" sz="2400">
                <a:latin typeface="Times New Roman" panose="02020603050405020304" pitchFamily="18" charset="0"/>
              </a:rPr>
              <a:t>antioanelor impare. Secven</a:t>
            </a:r>
            <a:r>
              <a:rPr lang="ro-RO" altLang="ro-RO" sz="2400">
                <a:latin typeface="Times New Roman" panose="02020603050405020304" pitchFamily="18" charset="0"/>
              </a:rPr>
              <a:t>ţ</a:t>
            </a:r>
            <a:r>
              <a:rPr lang="en-US" altLang="ro-RO" sz="2400">
                <a:latin typeface="Times New Roman" panose="02020603050405020304" pitchFamily="18" charset="0"/>
              </a:rPr>
              <a:t>a corespunz</a:t>
            </a:r>
            <a:r>
              <a:rPr lang="ro-RO" altLang="ro-RO" sz="2400">
                <a:latin typeface="Times New Roman" panose="02020603050405020304" pitchFamily="18" charset="0"/>
              </a:rPr>
              <a:t>ă</a:t>
            </a:r>
            <a:r>
              <a:rPr lang="en-US" altLang="ro-RO" sz="2400">
                <a:latin typeface="Times New Roman" panose="02020603050405020304" pitchFamily="18" charset="0"/>
              </a:rPr>
              <a:t>toare e</a:t>
            </a:r>
            <a:r>
              <a:rPr lang="ro-RO" altLang="ro-RO" sz="2400">
                <a:latin typeface="Times New Roman" panose="02020603050405020304" pitchFamily="18" charset="0"/>
              </a:rPr>
              <a:t>ş</a:t>
            </a:r>
            <a:r>
              <a:rPr lang="en-US" altLang="ro-RO" sz="2400">
                <a:latin typeface="Times New Roman" panose="02020603050405020304" pitchFamily="18" charset="0"/>
              </a:rPr>
              <a:t>antioanelor impare va fi </a:t>
            </a:r>
            <a:r>
              <a:rPr lang="ro-RO" altLang="ro-RO" sz="2400">
                <a:latin typeface="Times New Roman" panose="02020603050405020304" pitchFamily="18" charset="0"/>
              </a:rPr>
              <a:t>î</a:t>
            </a:r>
            <a:r>
              <a:rPr lang="en-US" altLang="ro-RO" sz="2400">
                <a:latin typeface="Times New Roman" panose="02020603050405020304" pitchFamily="18" charset="0"/>
              </a:rPr>
              <a:t>nmul</a:t>
            </a:r>
            <a:r>
              <a:rPr lang="ro-RO" altLang="ro-RO" sz="2400">
                <a:latin typeface="Times New Roman" panose="02020603050405020304" pitchFamily="18" charset="0"/>
              </a:rPr>
              <a:t>ţ</a:t>
            </a:r>
            <a:r>
              <a:rPr lang="en-US" altLang="ro-RO" sz="2400">
                <a:latin typeface="Times New Roman" panose="02020603050405020304" pitchFamily="18" charset="0"/>
              </a:rPr>
              <a:t>it</a:t>
            </a:r>
            <a:r>
              <a:rPr lang="ro-RO" altLang="ro-RO" sz="2400">
                <a:latin typeface="Times New Roman" panose="02020603050405020304" pitchFamily="18" charset="0"/>
              </a:rPr>
              <a:t>ă</a:t>
            </a:r>
            <a:r>
              <a:rPr lang="en-US" altLang="ro-RO" sz="2400">
                <a:latin typeface="Times New Roman" panose="02020603050405020304" pitchFamily="18" charset="0"/>
              </a:rPr>
              <a:t> cu  </a:t>
            </a:r>
            <a:r>
              <a:rPr lang="en-US" altLang="ro-RO" sz="2400" i="1">
                <a:latin typeface="Times New Roman" panose="02020603050405020304" pitchFamily="18" charset="0"/>
              </a:rPr>
              <a:t>w</a:t>
            </a:r>
            <a:r>
              <a:rPr lang="en-US" altLang="ro-RO" sz="2400" baseline="-25000">
                <a:latin typeface="Times New Roman" panose="02020603050405020304" pitchFamily="18" charset="0"/>
              </a:rPr>
              <a:t>4</a:t>
            </a:r>
            <a:r>
              <a:rPr lang="en-US" altLang="ro-RO" sz="2400" baseline="30000">
                <a:latin typeface="Times New Roman" panose="02020603050405020304" pitchFamily="18" charset="0"/>
              </a:rPr>
              <a:t>k</a:t>
            </a:r>
            <a:r>
              <a:rPr lang="en-US" altLang="ro-RO" sz="2400">
                <a:latin typeface="Times New Roman" panose="02020603050405020304" pitchFamily="18" charset="0"/>
              </a:rPr>
              <a:t>. </a:t>
            </a:r>
          </a:p>
        </p:txBody>
      </p:sp>
      <p:graphicFrame>
        <p:nvGraphicFramePr>
          <p:cNvPr id="45062" name="Object 8">
            <a:extLst>
              <a:ext uri="{FF2B5EF4-FFF2-40B4-BE49-F238E27FC236}">
                <a16:creationId xmlns:a16="http://schemas.microsoft.com/office/drawing/2014/main" id="{D54D7FFE-F2DC-4605-97EE-3E54654D9268}"/>
              </a:ext>
            </a:extLst>
          </p:cNvPr>
          <p:cNvGraphicFramePr>
            <a:graphicFrameLocks noChangeAspect="1"/>
          </p:cNvGraphicFramePr>
          <p:nvPr/>
        </p:nvGraphicFramePr>
        <p:xfrm>
          <a:off x="2222500" y="5181600"/>
          <a:ext cx="5057775" cy="977900"/>
        </p:xfrm>
        <a:graphic>
          <a:graphicData uri="http://schemas.openxmlformats.org/presentationml/2006/ole">
            <mc:AlternateContent xmlns:mc="http://schemas.openxmlformats.org/markup-compatibility/2006">
              <mc:Choice xmlns:v="urn:schemas-microsoft-com:vml" Requires="v">
                <p:oleObj spid="_x0000_s45064" name="Equation" r:id="rId6" imgW="2298700" imgH="444500" progId="Equation.3">
                  <p:embed/>
                </p:oleObj>
              </mc:Choice>
              <mc:Fallback>
                <p:oleObj name="Equation" r:id="rId6" imgW="2298700" imgH="4445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2500" y="5181600"/>
                        <a:ext cx="5057775"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a:extLst>
              <a:ext uri="{FF2B5EF4-FFF2-40B4-BE49-F238E27FC236}">
                <a16:creationId xmlns:a16="http://schemas.microsoft.com/office/drawing/2014/main" id="{FB94815F-3F3A-48EC-927C-C2D33AD87A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1066800"/>
            <a:ext cx="283845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Text Box 5">
            <a:extLst>
              <a:ext uri="{FF2B5EF4-FFF2-40B4-BE49-F238E27FC236}">
                <a16:creationId xmlns:a16="http://schemas.microsoft.com/office/drawing/2014/main" id="{8B448704-A823-4D06-B91C-287F4476AB7F}"/>
              </a:ext>
            </a:extLst>
          </p:cNvPr>
          <p:cNvSpPr txBox="1">
            <a:spLocks noChangeArrowheads="1"/>
          </p:cNvSpPr>
          <p:nvPr/>
        </p:nvSpPr>
        <p:spPr bwMode="auto">
          <a:xfrm>
            <a:off x="381000" y="4038600"/>
            <a:ext cx="82296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solidFill>
                  <a:srgbClr val="FF3300"/>
                </a:solidFill>
                <a:latin typeface="Times New Roman" panose="02020603050405020304" pitchFamily="18" charset="0"/>
              </a:rPr>
              <a:t>Tema de curs</a:t>
            </a:r>
            <a:r>
              <a:rPr lang="ro-RO" altLang="ro-RO" sz="2400">
                <a:solidFill>
                  <a:srgbClr val="FF3300"/>
                </a:solidFill>
                <a:latin typeface="Times New Roman" panose="02020603050405020304" pitchFamily="18" charset="0"/>
              </a:rPr>
              <a:t> nr. 3</a:t>
            </a:r>
            <a:r>
              <a:rPr lang="en-US" altLang="ro-RO" sz="2400">
                <a:solidFill>
                  <a:srgbClr val="FF3300"/>
                </a:solidFill>
                <a:latin typeface="Times New Roman" panose="02020603050405020304" pitchFamily="18" charset="0"/>
              </a:rPr>
              <a:t>. Verifica</a:t>
            </a:r>
            <a:r>
              <a:rPr lang="ro-RO" altLang="ro-RO" sz="2400">
                <a:solidFill>
                  <a:srgbClr val="FF3300"/>
                </a:solidFill>
                <a:latin typeface="Times New Roman" panose="02020603050405020304" pitchFamily="18" charset="0"/>
              </a:rPr>
              <a:t>ţ</a:t>
            </a:r>
            <a:r>
              <a:rPr lang="en-US" altLang="ro-RO" sz="2400">
                <a:solidFill>
                  <a:srgbClr val="FF3300"/>
                </a:solidFill>
                <a:latin typeface="Times New Roman" panose="02020603050405020304" pitchFamily="18" charset="0"/>
              </a:rPr>
              <a:t>i dac</a:t>
            </a:r>
            <a:r>
              <a:rPr lang="ro-RO" altLang="ro-RO" sz="2400">
                <a:solidFill>
                  <a:srgbClr val="FF3300"/>
                </a:solidFill>
                <a:latin typeface="Times New Roman" panose="02020603050405020304" pitchFamily="18" charset="0"/>
              </a:rPr>
              <a:t>ă</a:t>
            </a:r>
            <a:r>
              <a:rPr lang="en-US" altLang="ro-RO" sz="2400">
                <a:solidFill>
                  <a:srgbClr val="FF3300"/>
                </a:solidFill>
                <a:latin typeface="Times New Roman" panose="02020603050405020304" pitchFamily="18" charset="0"/>
              </a:rPr>
              <a:t> aceast</a:t>
            </a:r>
            <a:r>
              <a:rPr lang="ro-RO" altLang="ro-RO" sz="2400">
                <a:solidFill>
                  <a:srgbClr val="FF3300"/>
                </a:solidFill>
                <a:latin typeface="Times New Roman" panose="02020603050405020304" pitchFamily="18" charset="0"/>
              </a:rPr>
              <a:t>ă</a:t>
            </a:r>
            <a:r>
              <a:rPr lang="en-US" altLang="ro-RO" sz="2400">
                <a:solidFill>
                  <a:srgbClr val="FF3300"/>
                </a:solidFill>
                <a:latin typeface="Times New Roman" panose="02020603050405020304" pitchFamily="18" charset="0"/>
              </a:rPr>
              <a:t> schem</a:t>
            </a:r>
            <a:r>
              <a:rPr lang="ro-RO" altLang="ro-RO" sz="2400">
                <a:solidFill>
                  <a:srgbClr val="FF3300"/>
                </a:solidFill>
                <a:latin typeface="Times New Roman" panose="02020603050405020304" pitchFamily="18" charset="0"/>
              </a:rPr>
              <a:t>ă</a:t>
            </a:r>
            <a:r>
              <a:rPr lang="en-US" altLang="ro-RO" sz="2400">
                <a:solidFill>
                  <a:srgbClr val="FF3300"/>
                </a:solidFill>
                <a:latin typeface="Times New Roman" panose="02020603050405020304" pitchFamily="18" charset="0"/>
              </a:rPr>
              <a:t> este corect</a:t>
            </a:r>
            <a:r>
              <a:rPr lang="ro-RO" altLang="ro-RO" sz="2400">
                <a:solidFill>
                  <a:srgbClr val="FF3300"/>
                </a:solidFill>
                <a:latin typeface="Times New Roman" panose="02020603050405020304" pitchFamily="18" charset="0"/>
              </a:rPr>
              <a:t>ă</a:t>
            </a:r>
            <a:r>
              <a:rPr lang="en-US" altLang="ro-RO" sz="2400">
                <a:solidFill>
                  <a:srgbClr val="FF3300"/>
                </a:solidFill>
                <a:latin typeface="Times New Roman" panose="02020603050405020304" pitchFamily="18" charset="0"/>
              </a:rPr>
              <a:t>. Apoi desena</a:t>
            </a:r>
            <a:r>
              <a:rPr lang="ro-RO" altLang="ro-RO" sz="2400">
                <a:solidFill>
                  <a:srgbClr val="FF3300"/>
                </a:solidFill>
                <a:latin typeface="Times New Roman" panose="02020603050405020304" pitchFamily="18" charset="0"/>
              </a:rPr>
              <a:t>ţ</a:t>
            </a:r>
            <a:r>
              <a:rPr lang="en-US" altLang="ro-RO" sz="2400">
                <a:solidFill>
                  <a:srgbClr val="FF3300"/>
                </a:solidFill>
                <a:latin typeface="Times New Roman" panose="02020603050405020304" pitchFamily="18" charset="0"/>
              </a:rPr>
              <a:t>i ordinograma algoritmului pentru cazul </a:t>
            </a:r>
            <a:r>
              <a:rPr lang="en-US" altLang="ro-RO" sz="2400" i="1">
                <a:solidFill>
                  <a:srgbClr val="FF3300"/>
                </a:solidFill>
                <a:latin typeface="Times New Roman" panose="02020603050405020304" pitchFamily="18" charset="0"/>
              </a:rPr>
              <a:t>N</a:t>
            </a:r>
            <a:r>
              <a:rPr lang="en-US" altLang="ro-RO" sz="2400">
                <a:solidFill>
                  <a:srgbClr val="FF3300"/>
                </a:solidFill>
                <a:latin typeface="Times New Roman" panose="02020603050405020304" pitchFamily="18" charset="0"/>
              </a:rPr>
              <a:t>=8.</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4">
            <a:extLst>
              <a:ext uri="{FF2B5EF4-FFF2-40B4-BE49-F238E27FC236}">
                <a16:creationId xmlns:a16="http://schemas.microsoft.com/office/drawing/2014/main" id="{B8BB1F75-1155-45FC-A49F-3541F41A343B}"/>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400">
                <a:solidFill>
                  <a:srgbClr val="FF0000"/>
                </a:solidFill>
                <a:latin typeface="Times New Roman" panose="02020603050405020304" pitchFamily="18" charset="0"/>
                <a:cs typeface="Times New Roman" panose="02020603050405020304" pitchFamily="18" charset="0"/>
              </a:rPr>
              <a:t>Cazul general</a:t>
            </a:r>
          </a:p>
        </p:txBody>
      </p:sp>
      <p:sp>
        <p:nvSpPr>
          <p:cNvPr id="47107" name="Rectangle 5">
            <a:extLst>
              <a:ext uri="{FF2B5EF4-FFF2-40B4-BE49-F238E27FC236}">
                <a16:creationId xmlns:a16="http://schemas.microsoft.com/office/drawing/2014/main" id="{DDF9AE91-1377-4B89-BCF4-7C9E43AF4A1B}"/>
              </a:ext>
            </a:extLst>
          </p:cNvPr>
          <p:cNvSpPr>
            <a:spLocks noChangeArrowheads="1"/>
          </p:cNvSpPr>
          <p:nvPr/>
        </p:nvSpPr>
        <p:spPr bwMode="auto">
          <a:xfrm>
            <a:off x="685800" y="1981200"/>
            <a:ext cx="83058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pPr>
            <a:r>
              <a:rPr lang="en-US" altLang="ro-RO" sz="2800">
                <a:latin typeface="Times New Roman" panose="02020603050405020304" pitchFamily="18" charset="0"/>
              </a:rPr>
              <a:t>Structurile de tip fluture din schema de implementare a algoritmului sunt de forma:</a:t>
            </a:r>
          </a:p>
          <a:p>
            <a:pPr eaLnBrk="1" hangingPunct="1">
              <a:spcBef>
                <a:spcPct val="20000"/>
              </a:spcBef>
            </a:pPr>
            <a:r>
              <a:rPr lang="en-US" altLang="ro-RO" sz="2800">
                <a:latin typeface="Times New Roman" panose="02020603050405020304" pitchFamily="18" charset="0"/>
              </a:rPr>
              <a:t>                               Aceasta structur</a:t>
            </a:r>
            <a:r>
              <a:rPr lang="ro-RO" altLang="ro-RO" sz="2800">
                <a:latin typeface="Times New Roman" panose="02020603050405020304" pitchFamily="18" charset="0"/>
              </a:rPr>
              <a:t>ă</a:t>
            </a:r>
            <a:r>
              <a:rPr lang="en-US" altLang="ro-RO" sz="2800">
                <a:latin typeface="Times New Roman" panose="02020603050405020304" pitchFamily="18" charset="0"/>
              </a:rPr>
              <a:t> poate fi </a:t>
            </a:r>
            <a:r>
              <a:rPr lang="ro-RO" altLang="ro-RO" sz="2800">
                <a:latin typeface="Times New Roman" panose="02020603050405020304" pitchFamily="18" charset="0"/>
              </a:rPr>
              <a:t>î</a:t>
            </a:r>
            <a:r>
              <a:rPr lang="en-US" altLang="ro-RO" sz="2800">
                <a:latin typeface="Times New Roman" panose="02020603050405020304" pitchFamily="18" charset="0"/>
              </a:rPr>
              <a:t>nc</a:t>
            </a:r>
            <a:r>
              <a:rPr lang="ro-RO" altLang="ro-RO" sz="2800">
                <a:latin typeface="Times New Roman" panose="02020603050405020304" pitchFamily="18" charset="0"/>
              </a:rPr>
              <a:t>ă</a:t>
            </a:r>
            <a:endParaRPr lang="en-US" altLang="ro-RO" sz="2800">
              <a:latin typeface="Times New Roman" panose="02020603050405020304" pitchFamily="18" charset="0"/>
            </a:endParaRPr>
          </a:p>
          <a:p>
            <a:pPr eaLnBrk="1" hangingPunct="1">
              <a:spcBef>
                <a:spcPct val="20000"/>
              </a:spcBef>
            </a:pPr>
            <a:r>
              <a:rPr lang="en-US" altLang="ro-RO" sz="2800">
                <a:latin typeface="Times New Roman" panose="02020603050405020304" pitchFamily="18" charset="0"/>
              </a:rPr>
              <a:t>                               simplificat</a:t>
            </a:r>
            <a:r>
              <a:rPr lang="ro-RO" altLang="ro-RO" sz="2800">
                <a:latin typeface="Times New Roman" panose="02020603050405020304" pitchFamily="18" charset="0"/>
              </a:rPr>
              <a:t>ă</a:t>
            </a:r>
            <a:r>
              <a:rPr lang="en-US" altLang="ro-RO" sz="2800">
                <a:latin typeface="Times New Roman" panose="02020603050405020304" pitchFamily="18" charset="0"/>
              </a:rPr>
              <a:t> </a:t>
            </a:r>
            <a:r>
              <a:rPr lang="ro-RO" altLang="ro-RO" sz="2800">
                <a:latin typeface="Times New Roman" panose="02020603050405020304" pitchFamily="18" charset="0"/>
              </a:rPr>
              <a:t>ţ</a:t>
            </a:r>
            <a:r>
              <a:rPr lang="en-US" altLang="ro-RO" sz="2800">
                <a:latin typeface="Times New Roman" panose="02020603050405020304" pitchFamily="18" charset="0"/>
              </a:rPr>
              <a:t>in</a:t>
            </a:r>
            <a:r>
              <a:rPr lang="ro-RO" altLang="ro-RO" sz="2800">
                <a:latin typeface="Times New Roman" panose="02020603050405020304" pitchFamily="18" charset="0"/>
              </a:rPr>
              <a:t>â</a:t>
            </a:r>
            <a:r>
              <a:rPr lang="en-US" altLang="ro-RO" sz="2800">
                <a:latin typeface="Times New Roman" panose="02020603050405020304" pitchFamily="18" charset="0"/>
              </a:rPr>
              <a:t>nd seama de</a:t>
            </a:r>
          </a:p>
          <a:p>
            <a:pPr eaLnBrk="1" hangingPunct="1">
              <a:spcBef>
                <a:spcPct val="20000"/>
              </a:spcBef>
            </a:pPr>
            <a:r>
              <a:rPr lang="en-US" altLang="ro-RO" sz="2800">
                <a:latin typeface="Times New Roman" panose="02020603050405020304" pitchFamily="18" charset="0"/>
              </a:rPr>
              <a:t>                               identitatea:</a:t>
            </a:r>
          </a:p>
        </p:txBody>
      </p:sp>
      <p:pic>
        <p:nvPicPr>
          <p:cNvPr id="47108" name="Picture 6">
            <a:extLst>
              <a:ext uri="{FF2B5EF4-FFF2-40B4-BE49-F238E27FC236}">
                <a16:creationId xmlns:a16="http://schemas.microsoft.com/office/drawing/2014/main" id="{78A75A98-FE2B-4C0B-A804-14787C91FF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819400"/>
            <a:ext cx="1889125"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7109" name="Object 7">
            <a:extLst>
              <a:ext uri="{FF2B5EF4-FFF2-40B4-BE49-F238E27FC236}">
                <a16:creationId xmlns:a16="http://schemas.microsoft.com/office/drawing/2014/main" id="{AE48FEDB-3B07-4FCC-8873-71597628D393}"/>
              </a:ext>
            </a:extLst>
          </p:cNvPr>
          <p:cNvGraphicFramePr>
            <a:graphicFrameLocks noChangeAspect="1"/>
          </p:cNvGraphicFramePr>
          <p:nvPr/>
        </p:nvGraphicFramePr>
        <p:xfrm>
          <a:off x="5181600" y="3962400"/>
          <a:ext cx="3352800" cy="501650"/>
        </p:xfrm>
        <a:graphic>
          <a:graphicData uri="http://schemas.openxmlformats.org/presentationml/2006/ole">
            <mc:AlternateContent xmlns:mc="http://schemas.openxmlformats.org/markup-compatibility/2006">
              <mc:Choice xmlns:v="urn:schemas-microsoft-com:vml" Requires="v">
                <p:oleObj spid="_x0000_s47111" name="Equation" r:id="rId4" imgW="1358310" imgH="203112" progId="Equation.DSMT4">
                  <p:embed/>
                </p:oleObj>
              </mc:Choice>
              <mc:Fallback>
                <p:oleObj name="Equation" r:id="rId4" imgW="1358310" imgH="203112"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81600" y="3962400"/>
                        <a:ext cx="335280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7110" name="Picture 8">
            <a:extLst>
              <a:ext uri="{FF2B5EF4-FFF2-40B4-BE49-F238E27FC236}">
                <a16:creationId xmlns:a16="http://schemas.microsoft.com/office/drawing/2014/main" id="{9DBDE46F-2E9B-4A4B-B8C7-D49E85877D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200" y="4921250"/>
            <a:ext cx="1905000"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a:extLst>
              <a:ext uri="{FF2B5EF4-FFF2-40B4-BE49-F238E27FC236}">
                <a16:creationId xmlns:a16="http://schemas.microsoft.com/office/drawing/2014/main" id="{FB197722-34C3-4667-804C-8579DD265D0A}"/>
              </a:ext>
            </a:extLst>
          </p:cNvPr>
          <p:cNvSpPr>
            <a:spLocks noChangeArrowheads="1"/>
          </p:cNvSpPr>
          <p:nvPr/>
        </p:nvSpPr>
        <p:spPr bwMode="auto">
          <a:xfrm>
            <a:off x="685800" y="228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000">
                <a:solidFill>
                  <a:srgbClr val="FF0000"/>
                </a:solidFill>
                <a:latin typeface="Times New Roman" panose="02020603050405020304" pitchFamily="18" charset="0"/>
                <a:cs typeface="Times New Roman" panose="02020603050405020304" pitchFamily="18" charset="0"/>
              </a:rPr>
              <a:t>Cazul N=4</a:t>
            </a:r>
          </a:p>
        </p:txBody>
      </p:sp>
      <p:pic>
        <p:nvPicPr>
          <p:cNvPr id="48131" name="Picture 5">
            <a:extLst>
              <a:ext uri="{FF2B5EF4-FFF2-40B4-BE49-F238E27FC236}">
                <a16:creationId xmlns:a16="http://schemas.microsoft.com/office/drawing/2014/main" id="{9118C952-9F58-4A8D-A081-6B6BDB11D6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95400"/>
            <a:ext cx="2838450"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8132" name="Object 6">
            <a:extLst>
              <a:ext uri="{FF2B5EF4-FFF2-40B4-BE49-F238E27FC236}">
                <a16:creationId xmlns:a16="http://schemas.microsoft.com/office/drawing/2014/main" id="{7A72ABFD-C805-4AE0-8FDB-DBFC1CCF1E56}"/>
              </a:ext>
            </a:extLst>
          </p:cNvPr>
          <p:cNvGraphicFramePr>
            <a:graphicFrameLocks noChangeAspect="1"/>
          </p:cNvGraphicFramePr>
          <p:nvPr/>
        </p:nvGraphicFramePr>
        <p:xfrm>
          <a:off x="3581400" y="2133600"/>
          <a:ext cx="1400175" cy="1027113"/>
        </p:xfrm>
        <a:graphic>
          <a:graphicData uri="http://schemas.openxmlformats.org/presentationml/2006/ole">
            <mc:AlternateContent xmlns:mc="http://schemas.openxmlformats.org/markup-compatibility/2006">
              <mc:Choice xmlns:v="urn:schemas-microsoft-com:vml" Requires="v">
                <p:oleObj spid="_x0000_s48135" name="Equation" r:id="rId4" imgW="190417" imgH="139639" progId="Equation.DSMT4">
                  <p:embed/>
                </p:oleObj>
              </mc:Choice>
              <mc:Fallback>
                <p:oleObj name="Equation" r:id="rId4" imgW="190417" imgH="139639" progId="Equation.DSMT4">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2133600"/>
                        <a:ext cx="1400175"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48133" name="Picture 7">
            <a:extLst>
              <a:ext uri="{FF2B5EF4-FFF2-40B4-BE49-F238E27FC236}">
                <a16:creationId xmlns:a16="http://schemas.microsoft.com/office/drawing/2014/main" id="{C77AF364-BCE8-48C6-ABC8-3D0EA844B3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1219200"/>
            <a:ext cx="33623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4" name="Text Box 8">
            <a:extLst>
              <a:ext uri="{FF2B5EF4-FFF2-40B4-BE49-F238E27FC236}">
                <a16:creationId xmlns:a16="http://schemas.microsoft.com/office/drawing/2014/main" id="{66B598DB-23B3-4343-99EA-2CACDC343BA6}"/>
              </a:ext>
            </a:extLst>
          </p:cNvPr>
          <p:cNvSpPr txBox="1">
            <a:spLocks noChangeArrowheads="1"/>
          </p:cNvSpPr>
          <p:nvPr/>
        </p:nvSpPr>
        <p:spPr bwMode="auto">
          <a:xfrm>
            <a:off x="304800" y="4038600"/>
            <a:ext cx="84582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Schema din dreapta reprezint</a:t>
            </a:r>
            <a:r>
              <a:rPr lang="ro-RO" altLang="ro-RO" sz="2400">
                <a:latin typeface="Times New Roman" panose="02020603050405020304" pitchFamily="18" charset="0"/>
              </a:rPr>
              <a:t>ă</a:t>
            </a:r>
            <a:r>
              <a:rPr lang="en-US" altLang="ro-RO" sz="2400">
                <a:latin typeface="Times New Roman" panose="02020603050405020304" pitchFamily="18" charset="0"/>
              </a:rPr>
              <a:t> esen</a:t>
            </a:r>
            <a:r>
              <a:rPr lang="ro-RO" altLang="ro-RO" sz="2400">
                <a:latin typeface="Times New Roman" panose="02020603050405020304" pitchFamily="18" charset="0"/>
              </a:rPr>
              <a:t>ţ</a:t>
            </a:r>
            <a:r>
              <a:rPr lang="en-US" altLang="ro-RO" sz="2400">
                <a:latin typeface="Times New Roman" panose="02020603050405020304" pitchFamily="18" charset="0"/>
              </a:rPr>
              <a:t>a algoritmului TFR. Nu se calculeaz</a:t>
            </a:r>
            <a:r>
              <a:rPr lang="ro-RO" altLang="ro-RO" sz="2400">
                <a:latin typeface="Times New Roman" panose="02020603050405020304" pitchFamily="18" charset="0"/>
              </a:rPr>
              <a:t>ă</a:t>
            </a:r>
            <a:r>
              <a:rPr lang="en-US" altLang="ro-RO" sz="2400">
                <a:latin typeface="Times New Roman" panose="02020603050405020304" pitchFamily="18" charset="0"/>
              </a:rPr>
              <a:t> separat fiecare component</a:t>
            </a:r>
            <a:r>
              <a:rPr lang="ro-RO" altLang="ro-RO" sz="2400">
                <a:latin typeface="Times New Roman" panose="02020603050405020304" pitchFamily="18" charset="0"/>
              </a:rPr>
              <a:t>ă</a:t>
            </a:r>
            <a:r>
              <a:rPr lang="en-US" altLang="ro-RO" sz="2400">
                <a:latin typeface="Times New Roman" panose="02020603050405020304" pitchFamily="18" charset="0"/>
              </a:rPr>
              <a:t> a TFD. Calculul se efectueaz</a:t>
            </a:r>
            <a:r>
              <a:rPr lang="ro-RO" altLang="ro-RO" sz="2400">
                <a:latin typeface="Times New Roman" panose="02020603050405020304" pitchFamily="18" charset="0"/>
              </a:rPr>
              <a:t>ă</a:t>
            </a:r>
            <a:r>
              <a:rPr lang="en-US" altLang="ro-RO" sz="2400">
                <a:latin typeface="Times New Roman" panose="02020603050405020304" pitchFamily="18" charset="0"/>
              </a:rPr>
              <a:t> </a:t>
            </a:r>
            <a:r>
              <a:rPr lang="ro-RO" altLang="ro-RO" sz="2400">
                <a:latin typeface="Times New Roman" panose="02020603050405020304" pitchFamily="18" charset="0"/>
              </a:rPr>
              <a:t>î</a:t>
            </a:r>
            <a:r>
              <a:rPr lang="en-US" altLang="ro-RO" sz="2400">
                <a:latin typeface="Times New Roman" panose="02020603050405020304" pitchFamily="18" charset="0"/>
              </a:rPr>
              <a:t>n etape. Fiecare etap</a:t>
            </a:r>
            <a:r>
              <a:rPr lang="ro-RO" altLang="ro-RO" sz="2400">
                <a:latin typeface="Times New Roman" panose="02020603050405020304" pitchFamily="18" charset="0"/>
              </a:rPr>
              <a:t>ă</a:t>
            </a:r>
            <a:r>
              <a:rPr lang="en-US" altLang="ro-RO" sz="2400">
                <a:latin typeface="Times New Roman" panose="02020603050405020304" pitchFamily="18" charset="0"/>
              </a:rPr>
              <a:t> </a:t>
            </a:r>
            <a:r>
              <a:rPr lang="ro-RO" altLang="ro-RO" sz="2400">
                <a:latin typeface="Times New Roman" panose="02020603050405020304" pitchFamily="18" charset="0"/>
              </a:rPr>
              <a:t>î</a:t>
            </a:r>
            <a:r>
              <a:rPr lang="en-US" altLang="ro-RO" sz="2400">
                <a:latin typeface="Times New Roman" panose="02020603050405020304" pitchFamily="18" charset="0"/>
              </a:rPr>
              <a:t>ncepe cu </a:t>
            </a:r>
            <a:r>
              <a:rPr lang="en-US" altLang="ro-RO" sz="2400" i="1">
                <a:latin typeface="Times New Roman" panose="02020603050405020304" pitchFamily="18" charset="0"/>
              </a:rPr>
              <a:t>N </a:t>
            </a:r>
            <a:r>
              <a:rPr lang="en-US" altLang="ro-RO" sz="2400">
                <a:latin typeface="Times New Roman" panose="02020603050405020304" pitchFamily="18" charset="0"/>
              </a:rPr>
              <a:t>numere (</a:t>
            </a:r>
            <a:r>
              <a:rPr lang="ro-RO" altLang="ro-RO" sz="2400">
                <a:latin typeface="Times New Roman" panose="02020603050405020304" pitchFamily="18" charset="0"/>
              </a:rPr>
              <a:t>î</a:t>
            </a:r>
            <a:r>
              <a:rPr lang="en-US" altLang="ro-RO" sz="2400">
                <a:latin typeface="Times New Roman" panose="02020603050405020304" pitchFamily="18" charset="0"/>
              </a:rPr>
              <a:t>n general complexe) c</a:t>
            </a:r>
            <a:r>
              <a:rPr lang="ro-RO" altLang="ro-RO" sz="2400">
                <a:latin typeface="Times New Roman" panose="02020603050405020304" pitchFamily="18" charset="0"/>
              </a:rPr>
              <a:t>ă</a:t>
            </a:r>
            <a:r>
              <a:rPr lang="en-US" altLang="ro-RO" sz="2400">
                <a:latin typeface="Times New Roman" panose="02020603050405020304" pitchFamily="18" charset="0"/>
              </a:rPr>
              <a:t>rora li se aplic</a:t>
            </a:r>
            <a:r>
              <a:rPr lang="ro-RO" altLang="ro-RO" sz="2400">
                <a:latin typeface="Times New Roman" panose="02020603050405020304" pitchFamily="18" charset="0"/>
              </a:rPr>
              <a:t>ă</a:t>
            </a:r>
            <a:r>
              <a:rPr lang="en-US" altLang="ro-RO" sz="2400">
                <a:latin typeface="Times New Roman" panose="02020603050405020304" pitchFamily="18" charset="0"/>
              </a:rPr>
              <a:t> structura de tip fluture, obtin</a:t>
            </a:r>
            <a:r>
              <a:rPr lang="ro-RO" altLang="ro-RO" sz="2400">
                <a:latin typeface="Times New Roman" panose="02020603050405020304" pitchFamily="18" charset="0"/>
              </a:rPr>
              <a:t>â</a:t>
            </a:r>
            <a:r>
              <a:rPr lang="en-US" altLang="ro-RO" sz="2400">
                <a:latin typeface="Times New Roman" panose="02020603050405020304" pitchFamily="18" charset="0"/>
              </a:rPr>
              <a:t>ndu-se o nou</a:t>
            </a:r>
            <a:r>
              <a:rPr lang="ro-RO" altLang="ro-RO" sz="2400">
                <a:latin typeface="Times New Roman" panose="02020603050405020304" pitchFamily="18" charset="0"/>
              </a:rPr>
              <a:t>ă</a:t>
            </a:r>
            <a:r>
              <a:rPr lang="en-US" altLang="ro-RO" sz="2400">
                <a:latin typeface="Times New Roman" panose="02020603050405020304" pitchFamily="18" charset="0"/>
              </a:rPr>
              <a:t> secven</a:t>
            </a:r>
            <a:r>
              <a:rPr lang="ro-RO" altLang="ro-RO" sz="2400">
                <a:latin typeface="Times New Roman" panose="02020603050405020304" pitchFamily="18" charset="0"/>
              </a:rPr>
              <a:t>ţă</a:t>
            </a:r>
            <a:r>
              <a:rPr lang="en-US" altLang="ro-RO" sz="2400">
                <a:latin typeface="Times New Roman" panose="02020603050405020304" pitchFamily="18" charset="0"/>
              </a:rPr>
              <a:t> de </a:t>
            </a:r>
            <a:r>
              <a:rPr lang="en-US" altLang="ro-RO" sz="2400" i="1">
                <a:latin typeface="Times New Roman" panose="02020603050405020304" pitchFamily="18" charset="0"/>
              </a:rPr>
              <a:t>N </a:t>
            </a:r>
            <a:r>
              <a:rPr lang="en-US" altLang="ro-RO" sz="2400">
                <a:latin typeface="Times New Roman" panose="02020603050405020304" pitchFamily="18" charset="0"/>
              </a:rPr>
              <a:t>numere complexe, care reprezint</a:t>
            </a:r>
            <a:r>
              <a:rPr lang="ro-RO" altLang="ro-RO" sz="2400">
                <a:latin typeface="Times New Roman" panose="02020603050405020304" pitchFamily="18" charset="0"/>
              </a:rPr>
              <a:t>ă</a:t>
            </a:r>
            <a:r>
              <a:rPr lang="en-US" altLang="ro-RO" sz="2400">
                <a:latin typeface="Times New Roman" panose="02020603050405020304" pitchFamily="18" charset="0"/>
              </a:rPr>
              <a:t> intrarea pentru cea de a doua etapa. </a:t>
            </a:r>
            <a:r>
              <a:rPr lang="ro-RO" altLang="ro-RO" sz="2400">
                <a:latin typeface="Times New Roman" panose="02020603050405020304" pitchFamily="18" charset="0"/>
              </a:rPr>
              <a:t>Î</a:t>
            </a:r>
            <a:r>
              <a:rPr lang="en-US" altLang="ro-RO" sz="2400">
                <a:latin typeface="Times New Roman" panose="02020603050405020304" pitchFamily="18" charset="0"/>
              </a:rPr>
              <a:t>n cazul </a:t>
            </a:r>
            <a:r>
              <a:rPr lang="en-US" altLang="ro-RO" sz="2400" i="1">
                <a:latin typeface="Times New Roman" panose="02020603050405020304" pitchFamily="18" charset="0"/>
              </a:rPr>
              <a:t>N</a:t>
            </a:r>
            <a:r>
              <a:rPr lang="en-US" altLang="ro-RO" sz="2400">
                <a:latin typeface="Times New Roman" panose="02020603050405020304" pitchFamily="18" charset="0"/>
              </a:rPr>
              <a:t>=4 sunt necesare 2 etape.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a:extLst>
              <a:ext uri="{FF2B5EF4-FFF2-40B4-BE49-F238E27FC236}">
                <a16:creationId xmlns:a16="http://schemas.microsoft.com/office/drawing/2014/main" id="{0FD65951-A26B-41B2-8BA5-704E7F743146}"/>
              </a:ext>
            </a:extLst>
          </p:cNvPr>
          <p:cNvSpPr txBox="1">
            <a:spLocks noChangeArrowheads="1"/>
          </p:cNvSpPr>
          <p:nvPr/>
        </p:nvSpPr>
        <p:spPr bwMode="auto">
          <a:xfrm>
            <a:off x="3962400" y="381000"/>
            <a:ext cx="4953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Ie</a:t>
            </a:r>
            <a:r>
              <a:rPr lang="ro-RO" altLang="ro-RO" sz="2400">
                <a:latin typeface="Times New Roman" panose="02020603050405020304" pitchFamily="18" charset="0"/>
              </a:rPr>
              <a:t>ş</a:t>
            </a:r>
            <a:r>
              <a:rPr lang="en-US" altLang="ro-RO" sz="2400">
                <a:latin typeface="Times New Roman" panose="02020603050405020304" pitchFamily="18" charset="0"/>
              </a:rPr>
              <a:t>irea celei de a doua etape este compus</a:t>
            </a:r>
            <a:r>
              <a:rPr lang="ro-RO" altLang="ro-RO" sz="2400">
                <a:latin typeface="Times New Roman" panose="02020603050405020304" pitchFamily="18" charset="0"/>
              </a:rPr>
              <a:t>ă</a:t>
            </a:r>
            <a:r>
              <a:rPr lang="en-US" altLang="ro-RO" sz="2400">
                <a:latin typeface="Times New Roman" panose="02020603050405020304" pitchFamily="18" charset="0"/>
              </a:rPr>
              <a:t> din cele 4 componente ale TFD. Fiecare etap</a:t>
            </a:r>
            <a:r>
              <a:rPr lang="ro-RO" altLang="ro-RO" sz="2400">
                <a:latin typeface="Times New Roman" panose="02020603050405020304" pitchFamily="18" charset="0"/>
              </a:rPr>
              <a:t>ă</a:t>
            </a:r>
            <a:r>
              <a:rPr lang="en-US" altLang="ro-RO" sz="2400">
                <a:latin typeface="Times New Roman" panose="02020603050405020304" pitchFamily="18" charset="0"/>
              </a:rPr>
              <a:t> presupune efectuarea a </a:t>
            </a:r>
            <a:r>
              <a:rPr lang="en-US" altLang="ro-RO" sz="2400" i="1">
                <a:latin typeface="Times New Roman" panose="02020603050405020304" pitchFamily="18" charset="0"/>
              </a:rPr>
              <a:t>N</a:t>
            </a:r>
            <a:r>
              <a:rPr lang="en-US" altLang="ro-RO" sz="2400">
                <a:latin typeface="Times New Roman" panose="02020603050405020304" pitchFamily="18" charset="0"/>
              </a:rPr>
              <a:t>/2 </a:t>
            </a:r>
            <a:r>
              <a:rPr lang="ro-RO" altLang="ro-RO" sz="2400">
                <a:latin typeface="Times New Roman" panose="02020603050405020304" pitchFamily="18" charset="0"/>
              </a:rPr>
              <a:t>î</a:t>
            </a:r>
            <a:r>
              <a:rPr lang="en-US" altLang="ro-RO" sz="2400">
                <a:latin typeface="Times New Roman" panose="02020603050405020304" pitchFamily="18" charset="0"/>
              </a:rPr>
              <a:t>nmul</a:t>
            </a:r>
            <a:r>
              <a:rPr lang="ro-RO" altLang="ro-RO" sz="2400">
                <a:latin typeface="Times New Roman" panose="02020603050405020304" pitchFamily="18" charset="0"/>
              </a:rPr>
              <a:t>ţ</a:t>
            </a:r>
            <a:r>
              <a:rPr lang="en-US" altLang="ro-RO" sz="2400">
                <a:latin typeface="Times New Roman" panose="02020603050405020304" pitchFamily="18" charset="0"/>
              </a:rPr>
              <a:t>iri de numere complexe (adic</a:t>
            </a:r>
            <a:r>
              <a:rPr lang="ro-RO" altLang="ro-RO" sz="2400">
                <a:latin typeface="Times New Roman" panose="02020603050405020304" pitchFamily="18" charset="0"/>
              </a:rPr>
              <a:t>ă</a:t>
            </a:r>
            <a:r>
              <a:rPr lang="en-US" altLang="ro-RO" sz="2400">
                <a:latin typeface="Times New Roman" panose="02020603050405020304" pitchFamily="18" charset="0"/>
              </a:rPr>
              <a:t> a </a:t>
            </a:r>
            <a:r>
              <a:rPr lang="en-US" altLang="ro-RO" sz="2400" i="1">
                <a:latin typeface="Times New Roman" panose="02020603050405020304" pitchFamily="18" charset="0"/>
              </a:rPr>
              <a:t>N</a:t>
            </a:r>
            <a:r>
              <a:rPr lang="en-US" altLang="ro-RO" sz="2400">
                <a:latin typeface="Times New Roman" panose="02020603050405020304" pitchFamily="18" charset="0"/>
              </a:rPr>
              <a:t>  </a:t>
            </a:r>
            <a:r>
              <a:rPr lang="ro-RO" altLang="ro-RO" sz="2400">
                <a:latin typeface="Times New Roman" panose="02020603050405020304" pitchFamily="18" charset="0"/>
              </a:rPr>
              <a:t>î</a:t>
            </a:r>
            <a:r>
              <a:rPr lang="en-US" altLang="ro-RO" sz="2400">
                <a:latin typeface="Times New Roman" panose="02020603050405020304" pitchFamily="18" charset="0"/>
              </a:rPr>
              <a:t>nmul</a:t>
            </a:r>
            <a:r>
              <a:rPr lang="ro-RO" altLang="ro-RO" sz="2400">
                <a:latin typeface="Times New Roman" panose="02020603050405020304" pitchFamily="18" charset="0"/>
              </a:rPr>
              <a:t>ţ</a:t>
            </a:r>
            <a:r>
              <a:rPr lang="en-US" altLang="ro-RO" sz="2400">
                <a:latin typeface="Times New Roman" panose="02020603050405020304" pitchFamily="18" charset="0"/>
              </a:rPr>
              <a:t>iri de numere reale), a </a:t>
            </a:r>
            <a:r>
              <a:rPr lang="en-US" altLang="ro-RO" sz="2400" i="1">
                <a:latin typeface="Times New Roman" panose="02020603050405020304" pitchFamily="18" charset="0"/>
              </a:rPr>
              <a:t>N</a:t>
            </a:r>
            <a:r>
              <a:rPr lang="en-US" altLang="ro-RO" sz="2400">
                <a:latin typeface="Times New Roman" panose="02020603050405020304" pitchFamily="18" charset="0"/>
              </a:rPr>
              <a:t>/2 schimb</a:t>
            </a:r>
            <a:r>
              <a:rPr lang="ro-RO" altLang="ro-RO" sz="2400">
                <a:latin typeface="Times New Roman" panose="02020603050405020304" pitchFamily="18" charset="0"/>
              </a:rPr>
              <a:t>ă</a:t>
            </a:r>
            <a:r>
              <a:rPr lang="en-US" altLang="ro-RO" sz="2400">
                <a:latin typeface="Times New Roman" panose="02020603050405020304" pitchFamily="18" charset="0"/>
              </a:rPr>
              <a:t>ri de semn (</a:t>
            </a:r>
            <a:r>
              <a:rPr lang="ro-RO" altLang="ro-RO" sz="2400">
                <a:latin typeface="Times New Roman" panose="02020603050405020304" pitchFamily="18" charset="0"/>
              </a:rPr>
              <a:t>î</a:t>
            </a:r>
            <a:r>
              <a:rPr lang="en-US" altLang="ro-RO" sz="2400">
                <a:latin typeface="Times New Roman" panose="02020603050405020304" pitchFamily="18" charset="0"/>
              </a:rPr>
              <a:t>nmul</a:t>
            </a:r>
            <a:r>
              <a:rPr lang="ro-RO" altLang="ro-RO" sz="2400">
                <a:latin typeface="Times New Roman" panose="02020603050405020304" pitchFamily="18" charset="0"/>
              </a:rPr>
              <a:t>ţ</a:t>
            </a:r>
            <a:r>
              <a:rPr lang="en-US" altLang="ro-RO" sz="2400">
                <a:latin typeface="Times New Roman" panose="02020603050405020304" pitchFamily="18" charset="0"/>
              </a:rPr>
              <a:t>iri cu -1), </a:t>
            </a:r>
            <a:r>
              <a:rPr lang="ro-RO" altLang="ro-RO" sz="2400">
                <a:latin typeface="Times New Roman" panose="02020603050405020304" pitchFamily="18" charset="0"/>
              </a:rPr>
              <a:t>ş</a:t>
            </a:r>
            <a:r>
              <a:rPr lang="en-US" altLang="ro-RO" sz="2400">
                <a:latin typeface="Times New Roman" panose="02020603050405020304" pitchFamily="18" charset="0"/>
              </a:rPr>
              <a:t>i a </a:t>
            </a:r>
            <a:r>
              <a:rPr lang="en-US" altLang="ro-RO" sz="2400" i="1">
                <a:latin typeface="Times New Roman" panose="02020603050405020304" pitchFamily="18" charset="0"/>
              </a:rPr>
              <a:t>N</a:t>
            </a:r>
            <a:r>
              <a:rPr lang="en-US" altLang="ro-RO" sz="2400">
                <a:latin typeface="Times New Roman" panose="02020603050405020304" pitchFamily="18" charset="0"/>
              </a:rPr>
              <a:t> adun</a:t>
            </a:r>
            <a:r>
              <a:rPr lang="ro-RO" altLang="ro-RO" sz="2400">
                <a:latin typeface="Times New Roman" panose="02020603050405020304" pitchFamily="18" charset="0"/>
              </a:rPr>
              <a:t>ă</a:t>
            </a:r>
            <a:r>
              <a:rPr lang="en-US" altLang="ro-RO" sz="2400">
                <a:latin typeface="Times New Roman" panose="02020603050405020304" pitchFamily="18" charset="0"/>
              </a:rPr>
              <a:t>ri de numere complexe. </a:t>
            </a:r>
          </a:p>
        </p:txBody>
      </p:sp>
      <p:pic>
        <p:nvPicPr>
          <p:cNvPr id="49155" name="Picture 5">
            <a:extLst>
              <a:ext uri="{FF2B5EF4-FFF2-40B4-BE49-F238E27FC236}">
                <a16:creationId xmlns:a16="http://schemas.microsoft.com/office/drawing/2014/main" id="{8352093A-23D8-4AB1-8096-7E16A470F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0"/>
            <a:ext cx="33623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 Box 6">
            <a:extLst>
              <a:ext uri="{FF2B5EF4-FFF2-40B4-BE49-F238E27FC236}">
                <a16:creationId xmlns:a16="http://schemas.microsoft.com/office/drawing/2014/main" id="{87B8BDB6-34AB-40C0-BD2B-FD187CACEAB3}"/>
              </a:ext>
            </a:extLst>
          </p:cNvPr>
          <p:cNvSpPr txBox="1">
            <a:spLocks noChangeArrowheads="1"/>
          </p:cNvSpPr>
          <p:nvPr/>
        </p:nvSpPr>
        <p:spPr bwMode="auto">
          <a:xfrm>
            <a:off x="0" y="3297238"/>
            <a:ext cx="87630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Deci fiecare etap</a:t>
            </a:r>
            <a:r>
              <a:rPr lang="ro-RO" altLang="ro-RO" sz="2400">
                <a:latin typeface="Times New Roman" panose="02020603050405020304" pitchFamily="18" charset="0"/>
              </a:rPr>
              <a:t>ă</a:t>
            </a:r>
            <a:r>
              <a:rPr lang="en-US" altLang="ro-RO" sz="2400">
                <a:latin typeface="Times New Roman" panose="02020603050405020304" pitchFamily="18" charset="0"/>
              </a:rPr>
              <a:t> poate fi implementat</a:t>
            </a:r>
            <a:r>
              <a:rPr lang="ro-RO" altLang="ro-RO" sz="2400">
                <a:latin typeface="Times New Roman" panose="02020603050405020304" pitchFamily="18" charset="0"/>
              </a:rPr>
              <a:t>ă</a:t>
            </a:r>
            <a:r>
              <a:rPr lang="en-US" altLang="ro-RO" sz="2400">
                <a:latin typeface="Times New Roman" panose="02020603050405020304" pitchFamily="18" charset="0"/>
              </a:rPr>
              <a:t> cu un algoritm de tipul O(</a:t>
            </a:r>
            <a:r>
              <a:rPr lang="en-US" altLang="ro-RO" sz="2400" i="1">
                <a:latin typeface="Times New Roman" panose="02020603050405020304" pitchFamily="18" charset="0"/>
              </a:rPr>
              <a:t>N</a:t>
            </a:r>
            <a:r>
              <a:rPr lang="en-US" altLang="ro-RO" sz="2400">
                <a:latin typeface="Times New Roman" panose="02020603050405020304" pitchFamily="18" charset="0"/>
              </a:rPr>
              <a:t>). Num</a:t>
            </a:r>
            <a:r>
              <a:rPr lang="ro-RO" altLang="ro-RO" sz="2400">
                <a:latin typeface="Times New Roman" panose="02020603050405020304" pitchFamily="18" charset="0"/>
              </a:rPr>
              <a:t>ă</a:t>
            </a:r>
            <a:r>
              <a:rPr lang="en-US" altLang="ro-RO" sz="2400">
                <a:latin typeface="Times New Roman" panose="02020603050405020304" pitchFamily="18" charset="0"/>
              </a:rPr>
              <a:t>rul etapelor este log</a:t>
            </a:r>
            <a:r>
              <a:rPr lang="en-US" altLang="ro-RO" sz="2400" baseline="-25000">
                <a:latin typeface="Times New Roman" panose="02020603050405020304" pitchFamily="18" charset="0"/>
              </a:rPr>
              <a:t>2</a:t>
            </a:r>
            <a:r>
              <a:rPr lang="en-US" altLang="ro-RO" sz="2400" i="1">
                <a:latin typeface="Times New Roman" panose="02020603050405020304" pitchFamily="18" charset="0"/>
              </a:rPr>
              <a:t>N</a:t>
            </a:r>
            <a:r>
              <a:rPr lang="en-US" altLang="ro-RO" sz="2400">
                <a:latin typeface="Times New Roman" panose="02020603050405020304" pitchFamily="18" charset="0"/>
              </a:rPr>
              <a:t> (care, deoarece </a:t>
            </a:r>
            <a:r>
              <a:rPr lang="en-US" altLang="ro-RO" sz="2400" i="1">
                <a:latin typeface="Times New Roman" panose="02020603050405020304" pitchFamily="18" charset="0"/>
              </a:rPr>
              <a:t>N</a:t>
            </a:r>
            <a:r>
              <a:rPr lang="en-US" altLang="ro-RO" sz="2400">
                <a:latin typeface="Times New Roman" panose="02020603050405020304" pitchFamily="18" charset="0"/>
              </a:rPr>
              <a:t> este o putere a lui 2, reprezint</a:t>
            </a:r>
            <a:r>
              <a:rPr lang="ro-RO" altLang="ro-RO" sz="2400">
                <a:latin typeface="Times New Roman" panose="02020603050405020304" pitchFamily="18" charset="0"/>
              </a:rPr>
              <a:t>ă</a:t>
            </a:r>
            <a:r>
              <a:rPr lang="en-US" altLang="ro-RO" sz="2400">
                <a:latin typeface="Times New Roman" panose="02020603050405020304" pitchFamily="18" charset="0"/>
              </a:rPr>
              <a:t> exponentul </a:t>
            </a:r>
            <a:r>
              <a:rPr lang="en-US" altLang="ro-RO" sz="2400" i="1">
                <a:latin typeface="Times New Roman" panose="02020603050405020304" pitchFamily="18" charset="0"/>
              </a:rPr>
              <a:t>m</a:t>
            </a:r>
            <a:r>
              <a:rPr lang="en-US" altLang="ro-RO" sz="2400">
                <a:latin typeface="Times New Roman" panose="02020603050405020304" pitchFamily="18" charset="0"/>
              </a:rPr>
              <a:t> din ecua</a:t>
            </a:r>
            <a:r>
              <a:rPr lang="ro-RO" altLang="ro-RO" sz="2400">
                <a:latin typeface="Times New Roman" panose="02020603050405020304" pitchFamily="18" charset="0"/>
              </a:rPr>
              <a:t>ţ</a:t>
            </a:r>
            <a:r>
              <a:rPr lang="en-US" altLang="ro-RO" sz="2400">
                <a:latin typeface="Times New Roman" panose="02020603050405020304" pitchFamily="18" charset="0"/>
              </a:rPr>
              <a:t>ia </a:t>
            </a:r>
            <a:r>
              <a:rPr lang="en-US" altLang="ro-RO" sz="2400" i="1">
                <a:latin typeface="Times New Roman" panose="02020603050405020304" pitchFamily="18" charset="0"/>
              </a:rPr>
              <a:t>N</a:t>
            </a:r>
            <a:r>
              <a:rPr lang="en-US" altLang="ro-RO" sz="2400">
                <a:latin typeface="Times New Roman" panose="02020603050405020304" pitchFamily="18" charset="0"/>
              </a:rPr>
              <a:t> = 2</a:t>
            </a:r>
            <a:r>
              <a:rPr lang="en-US" altLang="ro-RO" sz="2400" i="1" baseline="30000">
                <a:latin typeface="Times New Roman" panose="02020603050405020304" pitchFamily="18" charset="0"/>
              </a:rPr>
              <a:t>m</a:t>
            </a:r>
            <a:r>
              <a:rPr lang="en-US" altLang="ro-RO" sz="2400">
                <a:latin typeface="Times New Roman" panose="02020603050405020304" pitchFamily="18" charset="0"/>
              </a:rPr>
              <a:t>). Rezult</a:t>
            </a:r>
            <a:r>
              <a:rPr lang="ro-RO" altLang="ro-RO" sz="2400">
                <a:latin typeface="Times New Roman" panose="02020603050405020304" pitchFamily="18" charset="0"/>
              </a:rPr>
              <a:t>ă</a:t>
            </a:r>
            <a:r>
              <a:rPr lang="en-US" altLang="ro-RO" sz="2400">
                <a:latin typeface="Times New Roman" panose="02020603050405020304" pitchFamily="18" charset="0"/>
              </a:rPr>
              <a:t> c</a:t>
            </a:r>
            <a:r>
              <a:rPr lang="ro-RO" altLang="ro-RO" sz="2400">
                <a:latin typeface="Times New Roman" panose="02020603050405020304" pitchFamily="18" charset="0"/>
              </a:rPr>
              <a:t>ă</a:t>
            </a:r>
            <a:r>
              <a:rPr lang="en-US" altLang="ro-RO" sz="2400">
                <a:latin typeface="Times New Roman" panose="02020603050405020304" pitchFamily="18" charset="0"/>
              </a:rPr>
              <a:t> algoritmul TFR este de tipul O(</a:t>
            </a:r>
            <a:r>
              <a:rPr lang="en-US" altLang="ro-RO" sz="2400" i="1">
                <a:latin typeface="Times New Roman" panose="02020603050405020304" pitchFamily="18" charset="0"/>
              </a:rPr>
              <a:t>N</a:t>
            </a:r>
            <a:r>
              <a:rPr lang="en-US" altLang="ro-RO" sz="2400">
                <a:latin typeface="Times New Roman" panose="02020603050405020304" pitchFamily="18" charset="0"/>
              </a:rPr>
              <a:t>log</a:t>
            </a:r>
            <a:r>
              <a:rPr lang="en-US" altLang="ro-RO" sz="2400" baseline="-25000">
                <a:latin typeface="Times New Roman" panose="02020603050405020304" pitchFamily="18" charset="0"/>
              </a:rPr>
              <a:t>2</a:t>
            </a:r>
            <a:r>
              <a:rPr lang="en-US" altLang="ro-RO" sz="2400" i="1">
                <a:latin typeface="Times New Roman" panose="02020603050405020304" pitchFamily="18" charset="0"/>
              </a:rPr>
              <a:t>N</a:t>
            </a:r>
            <a:r>
              <a:rPr lang="en-US" altLang="ro-RO" sz="2400">
                <a:latin typeface="Times New Roman" panose="02020603050405020304" pitchFamily="18" charset="0"/>
              </a:rPr>
              <a:t>).</a:t>
            </a:r>
          </a:p>
          <a:p>
            <a:pPr eaLnBrk="1" hangingPunct="1">
              <a:spcBef>
                <a:spcPct val="50000"/>
              </a:spcBef>
            </a:pPr>
            <a:r>
              <a:rPr lang="en-US" altLang="ro-RO" sz="2400">
                <a:latin typeface="Times New Roman" panose="02020603050405020304" pitchFamily="18" charset="0"/>
              </a:rPr>
              <a:t>Mai mult</a:t>
            </a:r>
            <a:r>
              <a:rPr lang="ro-RO" altLang="ro-RO" sz="2400">
                <a:latin typeface="Times New Roman" panose="02020603050405020304" pitchFamily="18" charset="0"/>
              </a:rPr>
              <a:t>,</a:t>
            </a:r>
            <a:r>
              <a:rPr lang="en-US" altLang="ro-RO" sz="2400">
                <a:latin typeface="Times New Roman" panose="02020603050405020304" pitchFamily="18" charset="0"/>
              </a:rPr>
              <a:t> calculele pot fi efectuate </a:t>
            </a:r>
            <a:r>
              <a:rPr lang="ro-RO" altLang="ro-RO" sz="2400">
                <a:latin typeface="Times New Roman" panose="02020603050405020304" pitchFamily="18" charset="0"/>
              </a:rPr>
              <a:t>î</a:t>
            </a:r>
            <a:r>
              <a:rPr lang="en-US" altLang="ro-RO" sz="2400">
                <a:latin typeface="Times New Roman" panose="02020603050405020304" pitchFamily="18" charset="0"/>
              </a:rPr>
              <a:t>n a</a:t>
            </a:r>
            <a:r>
              <a:rPr lang="ro-RO" altLang="ro-RO" sz="2400">
                <a:latin typeface="Times New Roman" panose="02020603050405020304" pitchFamily="18" charset="0"/>
              </a:rPr>
              <a:t>ş</a:t>
            </a:r>
            <a:r>
              <a:rPr lang="en-US" altLang="ro-RO" sz="2400">
                <a:latin typeface="Times New Roman" panose="02020603050405020304" pitchFamily="18" charset="0"/>
              </a:rPr>
              <a:t>a fel </a:t>
            </a:r>
            <a:r>
              <a:rPr lang="ro-RO" altLang="ro-RO" sz="2400">
                <a:latin typeface="Times New Roman" panose="02020603050405020304" pitchFamily="18" charset="0"/>
              </a:rPr>
              <a:t>î</a:t>
            </a:r>
            <a:r>
              <a:rPr lang="en-US" altLang="ro-RO" sz="2400">
                <a:latin typeface="Times New Roman" panose="02020603050405020304" pitchFamily="18" charset="0"/>
              </a:rPr>
              <a:t>nc</a:t>
            </a:r>
            <a:r>
              <a:rPr lang="ro-RO" altLang="ro-RO" sz="2400">
                <a:latin typeface="Times New Roman" panose="02020603050405020304" pitchFamily="18" charset="0"/>
              </a:rPr>
              <a:t>â</a:t>
            </a:r>
            <a:r>
              <a:rPr lang="en-US" altLang="ro-RO" sz="2400">
                <a:latin typeface="Times New Roman" panose="02020603050405020304" pitchFamily="18" charset="0"/>
              </a:rPr>
              <a:t>t s</a:t>
            </a:r>
            <a:r>
              <a:rPr lang="ro-RO" altLang="ro-RO" sz="2400">
                <a:latin typeface="Times New Roman" panose="02020603050405020304" pitchFamily="18" charset="0"/>
              </a:rPr>
              <a:t>ă</a:t>
            </a:r>
            <a:r>
              <a:rPr lang="en-US" altLang="ro-RO" sz="2400">
                <a:latin typeface="Times New Roman" panose="02020603050405020304" pitchFamily="18" charset="0"/>
              </a:rPr>
              <a:t> fie ocupat un spa</a:t>
            </a:r>
            <a:r>
              <a:rPr lang="ro-RO" altLang="ro-RO" sz="2400">
                <a:latin typeface="Times New Roman" panose="02020603050405020304" pitchFamily="18" charset="0"/>
              </a:rPr>
              <a:t>ţ</a:t>
            </a:r>
            <a:r>
              <a:rPr lang="en-US" altLang="ro-RO" sz="2400">
                <a:latin typeface="Times New Roman" panose="02020603050405020304" pitchFamily="18" charset="0"/>
              </a:rPr>
              <a:t>iu de memorie corespunz</a:t>
            </a:r>
            <a:r>
              <a:rPr lang="ro-RO" altLang="ro-RO" sz="2400">
                <a:latin typeface="Times New Roman" panose="02020603050405020304" pitchFamily="18" charset="0"/>
              </a:rPr>
              <a:t>ă</a:t>
            </a:r>
            <a:r>
              <a:rPr lang="en-US" altLang="ro-RO" sz="2400">
                <a:latin typeface="Times New Roman" panose="02020603050405020304" pitchFamily="18" charset="0"/>
              </a:rPr>
              <a:t>tor la doar </a:t>
            </a:r>
            <a:r>
              <a:rPr lang="en-US" altLang="ro-RO" sz="2400" i="1">
                <a:latin typeface="Times New Roman" panose="02020603050405020304" pitchFamily="18" charset="0"/>
              </a:rPr>
              <a:t>N</a:t>
            </a:r>
            <a:r>
              <a:rPr lang="en-US" altLang="ro-RO" sz="2400">
                <a:latin typeface="Times New Roman" panose="02020603050405020304" pitchFamily="18" charset="0"/>
              </a:rPr>
              <a:t> numere complexe. Trucul care permite ob</a:t>
            </a:r>
            <a:r>
              <a:rPr lang="ro-RO" altLang="ro-RO" sz="2400">
                <a:latin typeface="Times New Roman" panose="02020603050405020304" pitchFamily="18" charset="0"/>
              </a:rPr>
              <a:t>ţ</a:t>
            </a:r>
            <a:r>
              <a:rPr lang="en-US" altLang="ro-RO" sz="2400">
                <a:latin typeface="Times New Roman" panose="02020603050405020304" pitchFamily="18" charset="0"/>
              </a:rPr>
              <a:t>inerea acestei performan</a:t>
            </a:r>
            <a:r>
              <a:rPr lang="ro-RO" altLang="ro-RO" sz="2400">
                <a:latin typeface="Times New Roman" panose="02020603050405020304" pitchFamily="18" charset="0"/>
              </a:rPr>
              <a:t>ţ</a:t>
            </a:r>
            <a:r>
              <a:rPr lang="en-US" altLang="ro-RO" sz="2400">
                <a:latin typeface="Times New Roman" panose="02020603050405020304" pitchFamily="18" charset="0"/>
              </a:rPr>
              <a:t>e este ini</a:t>
            </a:r>
            <a:r>
              <a:rPr lang="ro-RO" altLang="ro-RO" sz="2400">
                <a:latin typeface="Times New Roman" panose="02020603050405020304" pitchFamily="18" charset="0"/>
              </a:rPr>
              <a:t>ţ</a:t>
            </a:r>
            <a:r>
              <a:rPr lang="en-US" altLang="ro-RO" sz="2400">
                <a:latin typeface="Times New Roman" panose="02020603050405020304" pitchFamily="18" charset="0"/>
              </a:rPr>
              <a:t>ializarea acestui spa</a:t>
            </a:r>
            <a:r>
              <a:rPr lang="ro-RO" altLang="ro-RO" sz="2400">
                <a:latin typeface="Times New Roman" panose="02020603050405020304" pitchFamily="18" charset="0"/>
              </a:rPr>
              <a:t>ţ</a:t>
            </a:r>
            <a:r>
              <a:rPr lang="en-US" altLang="ro-RO" sz="2400">
                <a:latin typeface="Times New Roman" panose="02020603050405020304" pitchFamily="18" charset="0"/>
              </a:rPr>
              <a:t>iu de memorie cu e</a:t>
            </a:r>
            <a:r>
              <a:rPr lang="ro-RO" altLang="ro-RO" sz="2400">
                <a:latin typeface="Times New Roman" panose="02020603050405020304" pitchFamily="18" charset="0"/>
              </a:rPr>
              <a:t>ş</a:t>
            </a:r>
            <a:r>
              <a:rPr lang="en-US" altLang="ro-RO" sz="2400">
                <a:latin typeface="Times New Roman" panose="02020603050405020304" pitchFamily="18" charset="0"/>
              </a:rPr>
              <a:t>antioane ale semnalului de intrare distribuite corespunz</a:t>
            </a:r>
            <a:r>
              <a:rPr lang="ro-RO" altLang="ro-RO" sz="2400">
                <a:latin typeface="Times New Roman" panose="02020603050405020304" pitchFamily="18" charset="0"/>
              </a:rPr>
              <a:t>ă</a:t>
            </a:r>
            <a:r>
              <a:rPr lang="en-US" altLang="ro-RO" sz="2400">
                <a:latin typeface="Times New Roman" panose="02020603050405020304" pitchFamily="18" charset="0"/>
              </a:rPr>
              <a:t>tor.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4">
            <a:extLst>
              <a:ext uri="{FF2B5EF4-FFF2-40B4-BE49-F238E27FC236}">
                <a16:creationId xmlns:a16="http://schemas.microsoft.com/office/drawing/2014/main" id="{786865A8-8FAB-4CE8-B53A-C7DECD2C83A4}"/>
              </a:ext>
            </a:extLst>
          </p:cNvPr>
          <p:cNvSpPr txBox="1">
            <a:spLocks noChangeArrowheads="1"/>
          </p:cNvSpPr>
          <p:nvPr/>
        </p:nvSpPr>
        <p:spPr bwMode="auto">
          <a:xfrm>
            <a:off x="3733800" y="609600"/>
            <a:ext cx="4876800" cy="2308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ro-RO" sz="2400">
                <a:latin typeface="Times New Roman" panose="02020603050405020304" pitchFamily="18" charset="0"/>
              </a:rPr>
              <a:t>Pentru </a:t>
            </a:r>
            <a:r>
              <a:rPr lang="en-US" altLang="ro-RO" sz="2400" i="1">
                <a:latin typeface="Times New Roman" panose="02020603050405020304" pitchFamily="18" charset="0"/>
              </a:rPr>
              <a:t>N</a:t>
            </a:r>
            <a:r>
              <a:rPr lang="en-US" altLang="ro-RO" sz="2400">
                <a:latin typeface="Times New Roman" panose="02020603050405020304" pitchFamily="18" charset="0"/>
              </a:rPr>
              <a:t>=4, ordinea e</a:t>
            </a:r>
            <a:r>
              <a:rPr lang="ro-RO" altLang="ro-RO" sz="2400">
                <a:latin typeface="Times New Roman" panose="02020603050405020304" pitchFamily="18" charset="0"/>
              </a:rPr>
              <a:t>ş</a:t>
            </a:r>
            <a:r>
              <a:rPr lang="en-US" altLang="ro-RO" sz="2400">
                <a:latin typeface="Times New Roman" panose="02020603050405020304" pitchFamily="18" charset="0"/>
              </a:rPr>
              <a:t>antioanelor trebuie s</a:t>
            </a:r>
            <a:r>
              <a:rPr lang="ro-RO" altLang="ro-RO" sz="2400">
                <a:latin typeface="Times New Roman" panose="02020603050405020304" pitchFamily="18" charset="0"/>
              </a:rPr>
              <a:t>ă</a:t>
            </a:r>
            <a:r>
              <a:rPr lang="en-US" altLang="ro-RO" sz="2400">
                <a:latin typeface="Times New Roman" panose="02020603050405020304" pitchFamily="18" charset="0"/>
              </a:rPr>
              <a:t> fie </a:t>
            </a:r>
            <a:r>
              <a:rPr lang="en-US" altLang="ro-RO" sz="2400" i="1">
                <a:latin typeface="Times New Roman" panose="02020603050405020304" pitchFamily="18" charset="0"/>
              </a:rPr>
              <a:t>v</a:t>
            </a:r>
            <a:r>
              <a:rPr lang="en-US" altLang="ro-RO" sz="2400">
                <a:latin typeface="Times New Roman" panose="02020603050405020304" pitchFamily="18" charset="0"/>
              </a:rPr>
              <a:t>[0], </a:t>
            </a:r>
            <a:r>
              <a:rPr lang="en-US" altLang="ro-RO" sz="2400" i="1">
                <a:latin typeface="Times New Roman" panose="02020603050405020304" pitchFamily="18" charset="0"/>
              </a:rPr>
              <a:t>v</a:t>
            </a:r>
            <a:r>
              <a:rPr lang="en-US" altLang="ro-RO" sz="2400">
                <a:latin typeface="Times New Roman" panose="02020603050405020304" pitchFamily="18" charset="0"/>
              </a:rPr>
              <a:t>[2], </a:t>
            </a:r>
            <a:r>
              <a:rPr lang="en-US" altLang="ro-RO" sz="2400" i="1">
                <a:latin typeface="Times New Roman" panose="02020603050405020304" pitchFamily="18" charset="0"/>
              </a:rPr>
              <a:t>v</a:t>
            </a:r>
            <a:r>
              <a:rPr lang="en-US" altLang="ro-RO" sz="2400">
                <a:latin typeface="Times New Roman" panose="02020603050405020304" pitchFamily="18" charset="0"/>
              </a:rPr>
              <a:t>[1], </a:t>
            </a:r>
            <a:r>
              <a:rPr lang="en-US" altLang="ro-RO" sz="2400" i="1">
                <a:latin typeface="Times New Roman" panose="02020603050405020304" pitchFamily="18" charset="0"/>
              </a:rPr>
              <a:t>v</a:t>
            </a:r>
            <a:r>
              <a:rPr lang="en-US" altLang="ro-RO" sz="2400">
                <a:latin typeface="Times New Roman" panose="02020603050405020304" pitchFamily="18" charset="0"/>
              </a:rPr>
              <a:t>[3]. </a:t>
            </a:r>
            <a:r>
              <a:rPr lang="ro-RO" altLang="ro-RO" sz="2400">
                <a:latin typeface="Times New Roman" panose="02020603050405020304" pitchFamily="18" charset="0"/>
              </a:rPr>
              <a:t>Î</a:t>
            </a:r>
            <a:r>
              <a:rPr lang="en-US" altLang="ro-RO" sz="2400">
                <a:latin typeface="Times New Roman" panose="02020603050405020304" pitchFamily="18" charset="0"/>
              </a:rPr>
              <a:t>n general, la </a:t>
            </a:r>
            <a:r>
              <a:rPr lang="ro-RO" altLang="ro-RO" sz="2400">
                <a:latin typeface="Times New Roman" panose="02020603050405020304" pitchFamily="18" charset="0"/>
              </a:rPr>
              <a:t>î</a:t>
            </a:r>
            <a:r>
              <a:rPr lang="en-US" altLang="ro-RO" sz="2400">
                <a:latin typeface="Times New Roman" panose="02020603050405020304" pitchFamily="18" charset="0"/>
              </a:rPr>
              <a:t>nceput e</a:t>
            </a:r>
            <a:r>
              <a:rPr lang="ro-RO" altLang="ro-RO" sz="2400">
                <a:latin typeface="Times New Roman" panose="02020603050405020304" pitchFamily="18" charset="0"/>
              </a:rPr>
              <a:t>ş</a:t>
            </a:r>
            <a:r>
              <a:rPr lang="en-US" altLang="ro-RO" sz="2400">
                <a:latin typeface="Times New Roman" panose="02020603050405020304" pitchFamily="18" charset="0"/>
              </a:rPr>
              <a:t>antioanele se </a:t>
            </a:r>
            <a:r>
              <a:rPr lang="ro-RO" altLang="ro-RO" sz="2400">
                <a:latin typeface="Times New Roman" panose="02020603050405020304" pitchFamily="18" charset="0"/>
              </a:rPr>
              <a:t>î</a:t>
            </a:r>
            <a:r>
              <a:rPr lang="en-US" altLang="ro-RO" sz="2400">
                <a:latin typeface="Times New Roman" panose="02020603050405020304" pitchFamily="18" charset="0"/>
              </a:rPr>
              <a:t>mpart </a:t>
            </a:r>
            <a:r>
              <a:rPr lang="ro-RO" altLang="ro-RO" sz="2400">
                <a:latin typeface="Times New Roman" panose="02020603050405020304" pitchFamily="18" charset="0"/>
              </a:rPr>
              <a:t>î</a:t>
            </a:r>
            <a:r>
              <a:rPr lang="en-US" altLang="ro-RO" sz="2400">
                <a:latin typeface="Times New Roman" panose="02020603050405020304" pitchFamily="18" charset="0"/>
              </a:rPr>
              <a:t>n 2 grupuri unul con</a:t>
            </a:r>
            <a:r>
              <a:rPr lang="ro-RO" altLang="ro-RO" sz="2400">
                <a:latin typeface="Times New Roman" panose="02020603050405020304" pitchFamily="18" charset="0"/>
              </a:rPr>
              <a:t>ţ</a:t>
            </a:r>
            <a:r>
              <a:rPr lang="en-US" altLang="ro-RO" sz="2400">
                <a:latin typeface="Times New Roman" panose="02020603050405020304" pitchFamily="18" charset="0"/>
              </a:rPr>
              <a:t>in</a:t>
            </a:r>
            <a:r>
              <a:rPr lang="ro-RO" altLang="ro-RO" sz="2400">
                <a:latin typeface="Times New Roman" panose="02020603050405020304" pitchFamily="18" charset="0"/>
              </a:rPr>
              <a:t>â</a:t>
            </a:r>
            <a:r>
              <a:rPr lang="en-US" altLang="ro-RO" sz="2400">
                <a:latin typeface="Times New Roman" panose="02020603050405020304" pitchFamily="18" charset="0"/>
              </a:rPr>
              <a:t>nd e</a:t>
            </a:r>
            <a:r>
              <a:rPr lang="ro-RO" altLang="ro-RO" sz="2400">
                <a:latin typeface="Times New Roman" panose="02020603050405020304" pitchFamily="18" charset="0"/>
              </a:rPr>
              <a:t>ş</a:t>
            </a:r>
            <a:r>
              <a:rPr lang="en-US" altLang="ro-RO" sz="2400">
                <a:latin typeface="Times New Roman" panose="02020603050405020304" pitchFamily="18" charset="0"/>
              </a:rPr>
              <a:t>antioanele pare </a:t>
            </a:r>
            <a:r>
              <a:rPr lang="ro-RO" altLang="ro-RO" sz="2400">
                <a:latin typeface="Times New Roman" panose="02020603050405020304" pitchFamily="18" charset="0"/>
              </a:rPr>
              <a:t>ş</a:t>
            </a:r>
            <a:r>
              <a:rPr lang="en-US" altLang="ro-RO" sz="2400">
                <a:latin typeface="Times New Roman" panose="02020603050405020304" pitchFamily="18" charset="0"/>
              </a:rPr>
              <a:t>i cel</a:t>
            </a:r>
            <a:r>
              <a:rPr lang="ro-RO" altLang="ro-RO" sz="2400">
                <a:latin typeface="Times New Roman" panose="02020603050405020304" pitchFamily="18" charset="0"/>
              </a:rPr>
              <a:t>ă</a:t>
            </a:r>
            <a:r>
              <a:rPr lang="en-US" altLang="ro-RO" sz="2400">
                <a:latin typeface="Times New Roman" panose="02020603050405020304" pitchFamily="18" charset="0"/>
              </a:rPr>
              <a:t>lalt con</a:t>
            </a:r>
            <a:r>
              <a:rPr lang="ro-RO" altLang="ro-RO" sz="2400">
                <a:latin typeface="Times New Roman" panose="02020603050405020304" pitchFamily="18" charset="0"/>
              </a:rPr>
              <a:t>ţ</a:t>
            </a:r>
            <a:r>
              <a:rPr lang="en-US" altLang="ro-RO" sz="2400">
                <a:latin typeface="Times New Roman" panose="02020603050405020304" pitchFamily="18" charset="0"/>
              </a:rPr>
              <a:t>in</a:t>
            </a:r>
            <a:r>
              <a:rPr lang="ro-RO" altLang="ro-RO" sz="2400">
                <a:latin typeface="Times New Roman" panose="02020603050405020304" pitchFamily="18" charset="0"/>
              </a:rPr>
              <a:t>â</a:t>
            </a:r>
            <a:r>
              <a:rPr lang="en-US" altLang="ro-RO" sz="2400">
                <a:latin typeface="Times New Roman" panose="02020603050405020304" pitchFamily="18" charset="0"/>
              </a:rPr>
              <a:t>nd e</a:t>
            </a:r>
            <a:r>
              <a:rPr lang="ro-RO" altLang="ro-RO" sz="2400">
                <a:latin typeface="Times New Roman" panose="02020603050405020304" pitchFamily="18" charset="0"/>
              </a:rPr>
              <a:t>ş</a:t>
            </a:r>
            <a:r>
              <a:rPr lang="en-US" altLang="ro-RO" sz="2400">
                <a:latin typeface="Times New Roman" panose="02020603050405020304" pitchFamily="18" charset="0"/>
              </a:rPr>
              <a:t>antioanele impare.</a:t>
            </a:r>
          </a:p>
        </p:txBody>
      </p:sp>
      <p:pic>
        <p:nvPicPr>
          <p:cNvPr id="50179" name="Picture 5">
            <a:extLst>
              <a:ext uri="{FF2B5EF4-FFF2-40B4-BE49-F238E27FC236}">
                <a16:creationId xmlns:a16="http://schemas.microsoft.com/office/drawing/2014/main" id="{275B39B3-28F3-4970-8DF1-9C0699CD65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533400"/>
            <a:ext cx="3362325" cy="279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ext Box 6">
            <a:extLst>
              <a:ext uri="{FF2B5EF4-FFF2-40B4-BE49-F238E27FC236}">
                <a16:creationId xmlns:a16="http://schemas.microsoft.com/office/drawing/2014/main" id="{BF988F9C-83BE-4454-BFEE-39A0093D94BA}"/>
              </a:ext>
            </a:extLst>
          </p:cNvPr>
          <p:cNvSpPr txBox="1">
            <a:spLocks noChangeArrowheads="1"/>
          </p:cNvSpPr>
          <p:nvPr/>
        </p:nvSpPr>
        <p:spPr bwMode="auto">
          <a:xfrm>
            <a:off x="304800" y="3352800"/>
            <a:ext cx="84582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ro-RO" sz="2400">
                <a:latin typeface="Times New Roman" panose="02020603050405020304" pitchFamily="18" charset="0"/>
              </a:rPr>
              <a:t>Aplic</a:t>
            </a:r>
            <a:r>
              <a:rPr lang="ro-RO" altLang="ro-RO" sz="2400">
                <a:latin typeface="Times New Roman" panose="02020603050405020304" pitchFamily="18" charset="0"/>
              </a:rPr>
              <a:t>â</a:t>
            </a:r>
            <a:r>
              <a:rPr lang="en-US" altLang="ro-RO" sz="2400">
                <a:latin typeface="Times New Roman" panose="02020603050405020304" pitchFamily="18" charset="0"/>
              </a:rPr>
              <a:t>nd aceast</a:t>
            </a:r>
            <a:r>
              <a:rPr lang="ro-RO" altLang="ro-RO" sz="2400">
                <a:latin typeface="Times New Roman" panose="02020603050405020304" pitchFamily="18" charset="0"/>
              </a:rPr>
              <a:t>ă</a:t>
            </a:r>
            <a:r>
              <a:rPr lang="en-US" altLang="ro-RO" sz="2400">
                <a:latin typeface="Times New Roman" panose="02020603050405020304" pitchFamily="18" charset="0"/>
              </a:rPr>
              <a:t> </a:t>
            </a:r>
            <a:r>
              <a:rPr lang="ro-RO" altLang="ro-RO" sz="2400">
                <a:latin typeface="Times New Roman" panose="02020603050405020304" pitchFamily="18" charset="0"/>
              </a:rPr>
              <a:t>î</a:t>
            </a:r>
            <a:r>
              <a:rPr lang="en-US" altLang="ro-RO" sz="2400">
                <a:latin typeface="Times New Roman" panose="02020603050405020304" pitchFamily="18" charset="0"/>
              </a:rPr>
              <a:t>mp</a:t>
            </a:r>
            <a:r>
              <a:rPr lang="ro-RO" altLang="ro-RO" sz="2400">
                <a:latin typeface="Times New Roman" panose="02020603050405020304" pitchFamily="18" charset="0"/>
              </a:rPr>
              <a:t>ă</a:t>
            </a:r>
            <a:r>
              <a:rPr lang="en-US" altLang="ro-RO" sz="2400">
                <a:latin typeface="Times New Roman" panose="02020603050405020304" pitchFamily="18" charset="0"/>
              </a:rPr>
              <a:t>r</a:t>
            </a:r>
            <a:r>
              <a:rPr lang="ro-RO" altLang="ro-RO" sz="2400">
                <a:latin typeface="Times New Roman" panose="02020603050405020304" pitchFamily="18" charset="0"/>
              </a:rPr>
              <a:t>ţ</a:t>
            </a:r>
            <a:r>
              <a:rPr lang="en-US" altLang="ro-RO" sz="2400">
                <a:latin typeface="Times New Roman" panose="02020603050405020304" pitchFamily="18" charset="0"/>
              </a:rPr>
              <a:t>ire </a:t>
            </a:r>
            <a:r>
              <a:rPr lang="ro-RO" altLang="ro-RO" sz="2400">
                <a:latin typeface="Times New Roman" panose="02020603050405020304" pitchFamily="18" charset="0"/>
              </a:rPr>
              <a:t>î</a:t>
            </a:r>
            <a:r>
              <a:rPr lang="en-US" altLang="ro-RO" sz="2400">
                <a:latin typeface="Times New Roman" panose="02020603050405020304" pitchFamily="18" charset="0"/>
              </a:rPr>
              <a:t>n mod recursiv se poate de exemplu ob</a:t>
            </a:r>
            <a:r>
              <a:rPr lang="ro-RO" altLang="ro-RO" sz="2400">
                <a:latin typeface="Times New Roman" panose="02020603050405020304" pitchFamily="18" charset="0"/>
              </a:rPr>
              <a:t>ţ</a:t>
            </a:r>
            <a:r>
              <a:rPr lang="en-US" altLang="ro-RO" sz="2400">
                <a:latin typeface="Times New Roman" panose="02020603050405020304" pitchFamily="18" charset="0"/>
              </a:rPr>
              <a:t>ine </a:t>
            </a:r>
            <a:r>
              <a:rPr lang="ro-RO" altLang="ro-RO" sz="2400">
                <a:latin typeface="Times New Roman" panose="02020603050405020304" pitchFamily="18" charset="0"/>
              </a:rPr>
              <a:t>î</a:t>
            </a:r>
            <a:r>
              <a:rPr lang="en-US" altLang="ro-RO" sz="2400">
                <a:latin typeface="Times New Roman" panose="02020603050405020304" pitchFamily="18" charset="0"/>
              </a:rPr>
              <a:t>mp</a:t>
            </a:r>
            <a:r>
              <a:rPr lang="ro-RO" altLang="ro-RO" sz="2400">
                <a:latin typeface="Times New Roman" panose="02020603050405020304" pitchFamily="18" charset="0"/>
              </a:rPr>
              <a:t>ă</a:t>
            </a:r>
            <a:r>
              <a:rPr lang="en-US" altLang="ro-RO" sz="2400">
                <a:latin typeface="Times New Roman" panose="02020603050405020304" pitchFamily="18" charset="0"/>
              </a:rPr>
              <a:t>r</a:t>
            </a:r>
            <a:r>
              <a:rPr lang="ro-RO" altLang="ro-RO" sz="2400">
                <a:latin typeface="Times New Roman" panose="02020603050405020304" pitchFamily="18" charset="0"/>
              </a:rPr>
              <a:t>ţ</a:t>
            </a:r>
            <a:r>
              <a:rPr lang="en-US" altLang="ro-RO" sz="2400">
                <a:latin typeface="Times New Roman" panose="02020603050405020304" pitchFamily="18" charset="0"/>
              </a:rPr>
              <a:t>irea grupului de e</a:t>
            </a:r>
            <a:r>
              <a:rPr lang="ro-RO" altLang="ro-RO" sz="2400">
                <a:latin typeface="Times New Roman" panose="02020603050405020304" pitchFamily="18" charset="0"/>
              </a:rPr>
              <a:t>ş</a:t>
            </a:r>
            <a:r>
              <a:rPr lang="en-US" altLang="ro-RO" sz="2400">
                <a:latin typeface="Times New Roman" panose="02020603050405020304" pitchFamily="18" charset="0"/>
              </a:rPr>
              <a:t>antioane pare ai c</a:t>
            </a:r>
            <a:r>
              <a:rPr lang="ro-RO" altLang="ro-RO" sz="2400">
                <a:latin typeface="Times New Roman" panose="02020603050405020304" pitchFamily="18" charset="0"/>
              </a:rPr>
              <a:t>ă</a:t>
            </a:r>
            <a:r>
              <a:rPr lang="en-US" altLang="ro-RO" sz="2400">
                <a:latin typeface="Times New Roman" panose="02020603050405020304" pitchFamily="18" charset="0"/>
              </a:rPr>
              <a:t>ror indici sunt </a:t>
            </a:r>
          </a:p>
          <a:p>
            <a:pPr eaLnBrk="1" hangingPunct="1"/>
            <a:r>
              <a:rPr lang="en-US" altLang="ro-RO" sz="2400">
                <a:latin typeface="Times New Roman" panose="02020603050405020304" pitchFamily="18" charset="0"/>
              </a:rPr>
              <a:t>(0, 2, 4, 6, 8, 10, ... 2N-2) </a:t>
            </a:r>
            <a:r>
              <a:rPr lang="ro-RO" altLang="ro-RO" sz="2400">
                <a:latin typeface="Times New Roman" panose="02020603050405020304" pitchFamily="18" charset="0"/>
              </a:rPr>
              <a:t>î</a:t>
            </a:r>
            <a:r>
              <a:rPr lang="en-US" altLang="ro-RO" sz="2400">
                <a:latin typeface="Times New Roman" panose="02020603050405020304" pitchFamily="18" charset="0"/>
              </a:rPr>
              <a:t>n dou</a:t>
            </a:r>
            <a:r>
              <a:rPr lang="ro-RO" altLang="ro-RO" sz="2400">
                <a:latin typeface="Times New Roman" panose="02020603050405020304" pitchFamily="18" charset="0"/>
              </a:rPr>
              <a:t>ă</a:t>
            </a:r>
            <a:r>
              <a:rPr lang="en-US" altLang="ro-RO" sz="2400">
                <a:latin typeface="Times New Roman" panose="02020603050405020304" pitchFamily="18" charset="0"/>
              </a:rPr>
              <a:t> noi grupuri de e</a:t>
            </a:r>
            <a:r>
              <a:rPr lang="ro-RO" altLang="ro-RO" sz="2400">
                <a:latin typeface="Times New Roman" panose="02020603050405020304" pitchFamily="18" charset="0"/>
              </a:rPr>
              <a:t>ş</a:t>
            </a:r>
            <a:r>
              <a:rPr lang="en-US" altLang="ro-RO" sz="2400">
                <a:latin typeface="Times New Roman" panose="02020603050405020304" pitchFamily="18" charset="0"/>
              </a:rPr>
              <a:t>antioane ale c</a:t>
            </a:r>
            <a:r>
              <a:rPr lang="ro-RO" altLang="ro-RO" sz="2400">
                <a:latin typeface="Times New Roman" panose="02020603050405020304" pitchFamily="18" charset="0"/>
              </a:rPr>
              <a:t>ă</a:t>
            </a:r>
            <a:r>
              <a:rPr lang="en-US" altLang="ro-RO" sz="2400">
                <a:latin typeface="Times New Roman" panose="02020603050405020304" pitchFamily="18" charset="0"/>
              </a:rPr>
              <a:t>ror indici sunt (0, 4, 8, ...) </a:t>
            </a:r>
            <a:r>
              <a:rPr lang="ro-RO" altLang="ro-RO" sz="2400">
                <a:latin typeface="Times New Roman" panose="02020603050405020304" pitchFamily="18" charset="0"/>
              </a:rPr>
              <a:t>ş</a:t>
            </a:r>
            <a:r>
              <a:rPr lang="en-US" altLang="ro-RO" sz="2400">
                <a:latin typeface="Times New Roman" panose="02020603050405020304" pitchFamily="18" charset="0"/>
              </a:rPr>
              <a:t>i (2, 6, 10, ...). Dac</a:t>
            </a:r>
            <a:r>
              <a:rPr lang="ro-RO" altLang="ro-RO" sz="2400">
                <a:latin typeface="Times New Roman" panose="02020603050405020304" pitchFamily="18" charset="0"/>
              </a:rPr>
              <a:t>ă</a:t>
            </a:r>
            <a:r>
              <a:rPr lang="en-US" altLang="ro-RO" sz="2400">
                <a:latin typeface="Times New Roman" panose="02020603050405020304" pitchFamily="18" charset="0"/>
              </a:rPr>
              <a:t> se exprim</a:t>
            </a:r>
            <a:r>
              <a:rPr lang="ro-RO" altLang="ro-RO" sz="2400">
                <a:latin typeface="Times New Roman" panose="02020603050405020304" pitchFamily="18" charset="0"/>
              </a:rPr>
              <a:t>ă</a:t>
            </a:r>
            <a:r>
              <a:rPr lang="en-US" altLang="ro-RO" sz="2400">
                <a:latin typeface="Times New Roman" panose="02020603050405020304" pitchFamily="18" charset="0"/>
              </a:rPr>
              <a:t> ace</a:t>
            </a:r>
            <a:r>
              <a:rPr lang="ro-RO" altLang="ro-RO" sz="2400">
                <a:latin typeface="Times New Roman" panose="02020603050405020304" pitchFamily="18" charset="0"/>
              </a:rPr>
              <a:t>ş</a:t>
            </a:r>
            <a:r>
              <a:rPr lang="en-US" altLang="ro-RO" sz="2400">
                <a:latin typeface="Times New Roman" panose="02020603050405020304" pitchFamily="18" charset="0"/>
              </a:rPr>
              <a:t>ti indici </a:t>
            </a:r>
            <a:r>
              <a:rPr lang="ro-RO" altLang="ro-RO" sz="2400">
                <a:latin typeface="Times New Roman" panose="02020603050405020304" pitchFamily="18" charset="0"/>
              </a:rPr>
              <a:t>î</a:t>
            </a:r>
            <a:r>
              <a:rPr lang="en-US" altLang="ro-RO" sz="2400">
                <a:latin typeface="Times New Roman" panose="02020603050405020304" pitchFamily="18" charset="0"/>
              </a:rPr>
              <a:t>n binar se poate constata c</a:t>
            </a:r>
            <a:r>
              <a:rPr lang="ro-RO" altLang="ro-RO" sz="2400">
                <a:latin typeface="Times New Roman" panose="02020603050405020304" pitchFamily="18" charset="0"/>
              </a:rPr>
              <a:t>ă</a:t>
            </a:r>
            <a:r>
              <a:rPr lang="en-US" altLang="ro-RO" sz="2400">
                <a:latin typeface="Times New Roman" panose="02020603050405020304" pitchFamily="18" charset="0"/>
              </a:rPr>
              <a:t> prima </a:t>
            </a:r>
            <a:r>
              <a:rPr lang="ro-RO" altLang="ro-RO" sz="2400">
                <a:latin typeface="Times New Roman" panose="02020603050405020304" pitchFamily="18" charset="0"/>
              </a:rPr>
              <a:t>î</a:t>
            </a:r>
            <a:r>
              <a:rPr lang="en-US" altLang="ro-RO" sz="2400">
                <a:latin typeface="Times New Roman" panose="02020603050405020304" pitchFamily="18" charset="0"/>
              </a:rPr>
              <a:t>mp</a:t>
            </a:r>
            <a:r>
              <a:rPr lang="ro-RO" altLang="ro-RO" sz="2400">
                <a:latin typeface="Times New Roman" panose="02020603050405020304" pitchFamily="18" charset="0"/>
              </a:rPr>
              <a:t>ă</a:t>
            </a:r>
            <a:r>
              <a:rPr lang="en-US" altLang="ro-RO" sz="2400">
                <a:latin typeface="Times New Roman" panose="02020603050405020304" pitchFamily="18" charset="0"/>
              </a:rPr>
              <a:t>r</a:t>
            </a:r>
            <a:r>
              <a:rPr lang="ro-RO" altLang="ro-RO" sz="2400">
                <a:latin typeface="Times New Roman" panose="02020603050405020304" pitchFamily="18" charset="0"/>
              </a:rPr>
              <a:t>ţ</a:t>
            </a:r>
            <a:r>
              <a:rPr lang="en-US" altLang="ro-RO" sz="2400">
                <a:latin typeface="Times New Roman" panose="02020603050405020304" pitchFamily="18" charset="0"/>
              </a:rPr>
              <a:t>ire (</a:t>
            </a:r>
            <a:r>
              <a:rPr lang="ro-RO" altLang="ro-RO" sz="2400">
                <a:latin typeface="Times New Roman" panose="02020603050405020304" pitchFamily="18" charset="0"/>
              </a:rPr>
              <a:t>î</a:t>
            </a:r>
            <a:r>
              <a:rPr lang="en-US" altLang="ro-RO" sz="2400">
                <a:latin typeface="Times New Roman" panose="02020603050405020304" pitchFamily="18" charset="0"/>
              </a:rPr>
              <a:t>n e</a:t>
            </a:r>
            <a:r>
              <a:rPr lang="ro-RO" altLang="ro-RO" sz="2400">
                <a:latin typeface="Times New Roman" panose="02020603050405020304" pitchFamily="18" charset="0"/>
              </a:rPr>
              <a:t>ş</a:t>
            </a:r>
            <a:r>
              <a:rPr lang="en-US" altLang="ro-RO" sz="2400">
                <a:latin typeface="Times New Roman" panose="02020603050405020304" pitchFamily="18" charset="0"/>
              </a:rPr>
              <a:t>antioane impare </a:t>
            </a:r>
            <a:r>
              <a:rPr lang="ro-RO" altLang="ro-RO" sz="2400">
                <a:latin typeface="Times New Roman" panose="02020603050405020304" pitchFamily="18" charset="0"/>
              </a:rPr>
              <a:t>ş</a:t>
            </a:r>
            <a:r>
              <a:rPr lang="en-US" altLang="ro-RO" sz="2400">
                <a:latin typeface="Times New Roman" panose="02020603050405020304" pitchFamily="18" charset="0"/>
              </a:rPr>
              <a:t>i pare) este f</a:t>
            </a:r>
            <a:r>
              <a:rPr lang="ro-RO" altLang="ro-RO" sz="2400">
                <a:latin typeface="Times New Roman" panose="02020603050405020304" pitchFamily="18" charset="0"/>
              </a:rPr>
              <a:t>ă</a:t>
            </a:r>
            <a:r>
              <a:rPr lang="en-US" altLang="ro-RO" sz="2400">
                <a:latin typeface="Times New Roman" panose="02020603050405020304" pitchFamily="18" charset="0"/>
              </a:rPr>
              <a:t>cut</a:t>
            </a:r>
            <a:r>
              <a:rPr lang="ro-RO" altLang="ro-RO" sz="2400">
                <a:latin typeface="Times New Roman" panose="02020603050405020304" pitchFamily="18" charset="0"/>
              </a:rPr>
              <a:t>ă</a:t>
            </a:r>
            <a:r>
              <a:rPr lang="en-US" altLang="ro-RO" sz="2400">
                <a:latin typeface="Times New Roman" panose="02020603050405020304" pitchFamily="18" charset="0"/>
              </a:rPr>
              <a:t> pe baza bitului cel mai pu</a:t>
            </a:r>
            <a:r>
              <a:rPr lang="ro-RO" altLang="ro-RO" sz="2400">
                <a:latin typeface="Times New Roman" panose="02020603050405020304" pitchFamily="18" charset="0"/>
              </a:rPr>
              <a:t>ţ</a:t>
            </a:r>
            <a:r>
              <a:rPr lang="en-US" altLang="ro-RO" sz="2400">
                <a:latin typeface="Times New Roman" panose="02020603050405020304" pitchFamily="18" charset="0"/>
              </a:rPr>
              <a:t>in semnificativ; cea de a doua </a:t>
            </a:r>
            <a:r>
              <a:rPr lang="ro-RO" altLang="ro-RO" sz="2400">
                <a:latin typeface="Times New Roman" panose="02020603050405020304" pitchFamily="18" charset="0"/>
              </a:rPr>
              <a:t>î</a:t>
            </a:r>
            <a:r>
              <a:rPr lang="en-US" altLang="ro-RO" sz="2400">
                <a:latin typeface="Times New Roman" panose="02020603050405020304" pitchFamily="18" charset="0"/>
              </a:rPr>
              <a:t>mp</a:t>
            </a:r>
            <a:r>
              <a:rPr lang="ro-RO" altLang="ro-RO" sz="2400">
                <a:latin typeface="Times New Roman" panose="02020603050405020304" pitchFamily="18" charset="0"/>
              </a:rPr>
              <a:t>ă</a:t>
            </a:r>
            <a:r>
              <a:rPr lang="en-US" altLang="ro-RO" sz="2400">
                <a:latin typeface="Times New Roman" panose="02020603050405020304" pitchFamily="18" charset="0"/>
              </a:rPr>
              <a:t>r</a:t>
            </a:r>
            <a:r>
              <a:rPr lang="ro-RO" altLang="ro-RO" sz="2400">
                <a:latin typeface="Times New Roman" panose="02020603050405020304" pitchFamily="18" charset="0"/>
              </a:rPr>
              <a:t>ţ</a:t>
            </a:r>
            <a:r>
              <a:rPr lang="en-US" altLang="ro-RO" sz="2400">
                <a:latin typeface="Times New Roman" panose="02020603050405020304" pitchFamily="18" charset="0"/>
              </a:rPr>
              <a:t>ire este f</a:t>
            </a:r>
            <a:r>
              <a:rPr lang="ro-RO" altLang="ro-RO" sz="2400">
                <a:latin typeface="Times New Roman" panose="02020603050405020304" pitchFamily="18" charset="0"/>
              </a:rPr>
              <a:t>ă</a:t>
            </a:r>
            <a:r>
              <a:rPr lang="en-US" altLang="ro-RO" sz="2400">
                <a:latin typeface="Times New Roman" panose="02020603050405020304" pitchFamily="18" charset="0"/>
              </a:rPr>
              <a:t>cut</a:t>
            </a:r>
            <a:r>
              <a:rPr lang="ro-RO" altLang="ro-RO" sz="2400">
                <a:latin typeface="Times New Roman" panose="02020603050405020304" pitchFamily="18" charset="0"/>
              </a:rPr>
              <a:t>ă</a:t>
            </a:r>
            <a:r>
              <a:rPr lang="en-US" altLang="ro-RO" sz="2400">
                <a:latin typeface="Times New Roman" panose="02020603050405020304" pitchFamily="18" charset="0"/>
              </a:rPr>
              <a:t> pe baza bitului imediat mai semnificativ </a:t>
            </a:r>
            <a:r>
              <a:rPr lang="ro-RO" altLang="ro-RO" sz="2400">
                <a:latin typeface="Times New Roman" panose="02020603050405020304" pitchFamily="18" charset="0"/>
              </a:rPr>
              <a:t>ş</a:t>
            </a:r>
            <a:r>
              <a:rPr lang="en-US" altLang="ro-RO" sz="2400">
                <a:latin typeface="Times New Roman" panose="02020603050405020304" pitchFamily="18" charset="0"/>
              </a:rPr>
              <a:t>i a</a:t>
            </a:r>
            <a:r>
              <a:rPr lang="ro-RO" altLang="ro-RO" sz="2400">
                <a:latin typeface="Times New Roman" panose="02020603050405020304" pitchFamily="18" charset="0"/>
              </a:rPr>
              <a:t>ş</a:t>
            </a:r>
            <a:r>
              <a:rPr lang="en-US" altLang="ro-RO" sz="2400">
                <a:latin typeface="Times New Roman" panose="02020603050405020304" pitchFamily="18" charset="0"/>
              </a:rPr>
              <a:t>a mai departe.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a:extLst>
              <a:ext uri="{FF2B5EF4-FFF2-40B4-BE49-F238E27FC236}">
                <a16:creationId xmlns:a16="http://schemas.microsoft.com/office/drawing/2014/main" id="{41C42A3D-B055-4DFA-B093-EE46F1EB88B6}"/>
              </a:ext>
            </a:extLst>
          </p:cNvPr>
          <p:cNvSpPr>
            <a:spLocks noChangeArrowheads="1"/>
          </p:cNvSpPr>
          <p:nvPr/>
        </p:nvSpPr>
        <p:spPr bwMode="auto">
          <a:xfrm>
            <a:off x="3505200" y="533400"/>
            <a:ext cx="54102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pPr>
            <a:r>
              <a:rPr lang="en-US" altLang="ro-RO" sz="2400">
                <a:latin typeface="Times New Roman" panose="02020603050405020304" pitchFamily="18" charset="0"/>
              </a:rPr>
              <a:t>Dac</a:t>
            </a:r>
            <a:r>
              <a:rPr lang="ro-RO" altLang="ro-RO" sz="2400">
                <a:latin typeface="Times New Roman" panose="02020603050405020304" pitchFamily="18" charset="0"/>
              </a:rPr>
              <a:t>ă</a:t>
            </a:r>
            <a:r>
              <a:rPr lang="en-US" altLang="ro-RO" sz="2400">
                <a:latin typeface="Times New Roman" panose="02020603050405020304" pitchFamily="18" charset="0"/>
              </a:rPr>
              <a:t> de exemplu </a:t>
            </a:r>
            <a:r>
              <a:rPr lang="en-US" altLang="ro-RO" sz="2400" i="1">
                <a:latin typeface="Times New Roman" panose="02020603050405020304" pitchFamily="18" charset="0"/>
              </a:rPr>
              <a:t>N=</a:t>
            </a:r>
            <a:r>
              <a:rPr lang="en-US" altLang="ro-RO" sz="2400">
                <a:latin typeface="Times New Roman" panose="02020603050405020304" pitchFamily="18" charset="0"/>
              </a:rPr>
              <a:t>8, atunci se va folosi mul</a:t>
            </a:r>
            <a:r>
              <a:rPr lang="ro-RO" altLang="ro-RO" sz="2400">
                <a:latin typeface="Times New Roman" panose="02020603050405020304" pitchFamily="18" charset="0"/>
              </a:rPr>
              <a:t>ţ</a:t>
            </a:r>
            <a:r>
              <a:rPr lang="en-US" altLang="ro-RO" sz="2400">
                <a:latin typeface="Times New Roman" panose="02020603050405020304" pitchFamily="18" charset="0"/>
              </a:rPr>
              <a:t>imea de indici : </a:t>
            </a:r>
          </a:p>
          <a:p>
            <a:pPr eaLnBrk="1" hangingPunct="1">
              <a:lnSpc>
                <a:spcPct val="80000"/>
              </a:lnSpc>
              <a:spcBef>
                <a:spcPct val="20000"/>
              </a:spcBef>
            </a:pPr>
            <a:r>
              <a:rPr lang="en-US" altLang="ro-RO" sz="2400">
                <a:latin typeface="Times New Roman" panose="02020603050405020304" pitchFamily="18" charset="0"/>
              </a:rPr>
              <a:t>000, 001, 010, 011, 100, 101, 110 si 111. </a:t>
            </a:r>
          </a:p>
          <a:p>
            <a:pPr eaLnBrk="1" hangingPunct="1">
              <a:lnSpc>
                <a:spcPct val="80000"/>
              </a:lnSpc>
              <a:spcBef>
                <a:spcPct val="20000"/>
              </a:spcBef>
            </a:pPr>
            <a:r>
              <a:rPr lang="en-US" altLang="ro-RO" sz="2400">
                <a:latin typeface="Times New Roman" panose="02020603050405020304" pitchFamily="18" charset="0"/>
              </a:rPr>
              <a:t>La prima itera</a:t>
            </a:r>
            <a:r>
              <a:rPr lang="ro-RO" altLang="ro-RO" sz="2400">
                <a:latin typeface="Times New Roman" panose="02020603050405020304" pitchFamily="18" charset="0"/>
              </a:rPr>
              <a:t>ţ</a:t>
            </a:r>
            <a:r>
              <a:rPr lang="en-US" altLang="ro-RO" sz="2400">
                <a:latin typeface="Times New Roman" panose="02020603050405020304" pitchFamily="18" charset="0"/>
              </a:rPr>
              <a:t>ie vor fi ob</a:t>
            </a:r>
            <a:r>
              <a:rPr lang="ro-RO" altLang="ro-RO" sz="2400">
                <a:latin typeface="Times New Roman" panose="02020603050405020304" pitchFamily="18" charset="0"/>
              </a:rPr>
              <a:t>ţ</a:t>
            </a:r>
            <a:r>
              <a:rPr lang="en-US" altLang="ro-RO" sz="2400">
                <a:latin typeface="Times New Roman" panose="02020603050405020304" pitchFamily="18" charset="0"/>
              </a:rPr>
              <a:t>inu</a:t>
            </a:r>
            <a:r>
              <a:rPr lang="ro-RO" altLang="ro-RO" sz="2400">
                <a:latin typeface="Times New Roman" panose="02020603050405020304" pitchFamily="18" charset="0"/>
              </a:rPr>
              <a:t>ţ</a:t>
            </a:r>
            <a:r>
              <a:rPr lang="en-US" altLang="ro-RO" sz="2400">
                <a:latin typeface="Times New Roman" panose="02020603050405020304" pitchFamily="18" charset="0"/>
              </a:rPr>
              <a:t>i indicii:</a:t>
            </a:r>
          </a:p>
          <a:p>
            <a:pPr eaLnBrk="1" hangingPunct="1">
              <a:lnSpc>
                <a:spcPct val="80000"/>
              </a:lnSpc>
              <a:spcBef>
                <a:spcPct val="20000"/>
              </a:spcBef>
            </a:pPr>
            <a:r>
              <a:rPr lang="en-US" altLang="ro-RO" sz="2400">
                <a:latin typeface="Times New Roman" panose="02020603050405020304" pitchFamily="18" charset="0"/>
              </a:rPr>
              <a:t>[pari]     (00</a:t>
            </a:r>
            <a:r>
              <a:rPr lang="en-US" altLang="ro-RO" sz="2400">
                <a:solidFill>
                  <a:srgbClr val="FF3300"/>
                </a:solidFill>
                <a:latin typeface="Times New Roman" panose="02020603050405020304" pitchFamily="18" charset="0"/>
              </a:rPr>
              <a:t>0</a:t>
            </a:r>
            <a:r>
              <a:rPr lang="en-US" altLang="ro-RO" sz="2400">
                <a:latin typeface="Times New Roman" panose="02020603050405020304" pitchFamily="18" charset="0"/>
              </a:rPr>
              <a:t>, 01</a:t>
            </a:r>
            <a:r>
              <a:rPr lang="en-US" altLang="ro-RO" sz="2400">
                <a:solidFill>
                  <a:srgbClr val="FF3300"/>
                </a:solidFill>
                <a:latin typeface="Times New Roman" panose="02020603050405020304" pitchFamily="18" charset="0"/>
              </a:rPr>
              <a:t>0</a:t>
            </a:r>
            <a:r>
              <a:rPr lang="en-US" altLang="ro-RO" sz="2400">
                <a:latin typeface="Times New Roman" panose="02020603050405020304" pitchFamily="18" charset="0"/>
              </a:rPr>
              <a:t>, 10</a:t>
            </a:r>
            <a:r>
              <a:rPr lang="en-US" altLang="ro-RO" sz="2400">
                <a:solidFill>
                  <a:srgbClr val="FF3300"/>
                </a:solidFill>
                <a:latin typeface="Times New Roman" panose="02020603050405020304" pitchFamily="18" charset="0"/>
              </a:rPr>
              <a:t>0</a:t>
            </a:r>
            <a:r>
              <a:rPr lang="en-US" altLang="ro-RO" sz="2400">
                <a:latin typeface="Times New Roman" panose="02020603050405020304" pitchFamily="18" charset="0"/>
              </a:rPr>
              <a:t>, 11</a:t>
            </a:r>
            <a:r>
              <a:rPr lang="en-US" altLang="ro-RO" sz="2400">
                <a:solidFill>
                  <a:srgbClr val="FF3300"/>
                </a:solidFill>
                <a:latin typeface="Times New Roman" panose="02020603050405020304" pitchFamily="18" charset="0"/>
              </a:rPr>
              <a:t>0</a:t>
            </a:r>
            <a:r>
              <a:rPr lang="en-US" altLang="ro-RO" sz="2400">
                <a:latin typeface="Times New Roman" panose="02020603050405020304" pitchFamily="18" charset="0"/>
              </a:rPr>
              <a:t>), </a:t>
            </a:r>
          </a:p>
          <a:p>
            <a:pPr eaLnBrk="1" hangingPunct="1">
              <a:lnSpc>
                <a:spcPct val="80000"/>
              </a:lnSpc>
              <a:spcBef>
                <a:spcPct val="20000"/>
              </a:spcBef>
            </a:pPr>
            <a:r>
              <a:rPr lang="en-US" altLang="ro-RO" sz="2400">
                <a:latin typeface="Times New Roman" panose="02020603050405020304" pitchFamily="18" charset="0"/>
              </a:rPr>
              <a:t>[impari] (00</a:t>
            </a:r>
            <a:r>
              <a:rPr lang="en-US" altLang="ro-RO" sz="2400">
                <a:solidFill>
                  <a:schemeClr val="accent1"/>
                </a:solidFill>
                <a:latin typeface="Times New Roman" panose="02020603050405020304" pitchFamily="18" charset="0"/>
              </a:rPr>
              <a:t>1</a:t>
            </a:r>
            <a:r>
              <a:rPr lang="en-US" altLang="ro-RO" sz="2400">
                <a:latin typeface="Times New Roman" panose="02020603050405020304" pitchFamily="18" charset="0"/>
              </a:rPr>
              <a:t>, 01</a:t>
            </a:r>
            <a:r>
              <a:rPr lang="en-US" altLang="ro-RO" sz="2400">
                <a:solidFill>
                  <a:schemeClr val="accent1"/>
                </a:solidFill>
                <a:latin typeface="Times New Roman" panose="02020603050405020304" pitchFamily="18" charset="0"/>
              </a:rPr>
              <a:t>1</a:t>
            </a:r>
            <a:r>
              <a:rPr lang="en-US" altLang="ro-RO" sz="2400">
                <a:latin typeface="Times New Roman" panose="02020603050405020304" pitchFamily="18" charset="0"/>
              </a:rPr>
              <a:t>, 10</a:t>
            </a:r>
            <a:r>
              <a:rPr lang="en-US" altLang="ro-RO" sz="2400">
                <a:solidFill>
                  <a:schemeClr val="accent1"/>
                </a:solidFill>
                <a:latin typeface="Times New Roman" panose="02020603050405020304" pitchFamily="18" charset="0"/>
              </a:rPr>
              <a:t>1</a:t>
            </a:r>
            <a:r>
              <a:rPr lang="en-US" altLang="ro-RO" sz="2400">
                <a:latin typeface="Times New Roman" panose="02020603050405020304" pitchFamily="18" charset="0"/>
              </a:rPr>
              <a:t>, 11</a:t>
            </a:r>
            <a:r>
              <a:rPr lang="en-US" altLang="ro-RO" sz="2400">
                <a:solidFill>
                  <a:schemeClr val="accent1"/>
                </a:solidFill>
                <a:latin typeface="Times New Roman" panose="02020603050405020304" pitchFamily="18" charset="0"/>
              </a:rPr>
              <a:t>1</a:t>
            </a:r>
            <a:r>
              <a:rPr lang="en-US" altLang="ro-RO" sz="2400">
                <a:latin typeface="Times New Roman" panose="02020603050405020304" pitchFamily="18" charset="0"/>
              </a:rPr>
              <a:t>)</a:t>
            </a:r>
          </a:p>
          <a:p>
            <a:pPr eaLnBrk="1" hangingPunct="1">
              <a:lnSpc>
                <a:spcPct val="80000"/>
              </a:lnSpc>
              <a:spcBef>
                <a:spcPct val="20000"/>
              </a:spcBef>
            </a:pPr>
            <a:r>
              <a:rPr lang="en-US" altLang="ro-RO" sz="2400">
                <a:latin typeface="Times New Roman" panose="02020603050405020304" pitchFamily="18" charset="0"/>
              </a:rPr>
              <a:t>Dup</a:t>
            </a:r>
            <a:r>
              <a:rPr lang="ro-RO" altLang="ro-RO" sz="2400">
                <a:latin typeface="Times New Roman" panose="02020603050405020304" pitchFamily="18" charset="0"/>
              </a:rPr>
              <a:t>ă</a:t>
            </a:r>
            <a:r>
              <a:rPr lang="en-US" altLang="ro-RO" sz="2400">
                <a:latin typeface="Times New Roman" panose="02020603050405020304" pitchFamily="18" charset="0"/>
              </a:rPr>
              <a:t> cea de a doua itera</a:t>
            </a:r>
            <a:r>
              <a:rPr lang="ro-RO" altLang="ro-RO" sz="2400">
                <a:latin typeface="Times New Roman" panose="02020603050405020304" pitchFamily="18" charset="0"/>
              </a:rPr>
              <a:t>ţ</a:t>
            </a:r>
            <a:r>
              <a:rPr lang="en-US" altLang="ro-RO" sz="2400">
                <a:latin typeface="Times New Roman" panose="02020603050405020304" pitchFamily="18" charset="0"/>
              </a:rPr>
              <a:t>ie se vor ob</a:t>
            </a:r>
            <a:r>
              <a:rPr lang="ro-RO" altLang="ro-RO" sz="2400">
                <a:latin typeface="Times New Roman" panose="02020603050405020304" pitchFamily="18" charset="0"/>
              </a:rPr>
              <a:t>ţ</a:t>
            </a:r>
            <a:r>
              <a:rPr lang="en-US" altLang="ro-RO" sz="2400">
                <a:latin typeface="Times New Roman" panose="02020603050405020304" pitchFamily="18" charset="0"/>
              </a:rPr>
              <a:t>ine mul</a:t>
            </a:r>
            <a:r>
              <a:rPr lang="ro-RO" altLang="ro-RO" sz="2400">
                <a:latin typeface="Times New Roman" panose="02020603050405020304" pitchFamily="18" charset="0"/>
              </a:rPr>
              <a:t>ţ</a:t>
            </a:r>
            <a:r>
              <a:rPr lang="en-US" altLang="ro-RO" sz="2400">
                <a:latin typeface="Times New Roman" panose="02020603050405020304" pitchFamily="18" charset="0"/>
              </a:rPr>
              <a:t>imile de indici:</a:t>
            </a:r>
          </a:p>
        </p:txBody>
      </p:sp>
      <p:pic>
        <p:nvPicPr>
          <p:cNvPr id="51203" name="Picture 5">
            <a:extLst>
              <a:ext uri="{FF2B5EF4-FFF2-40B4-BE49-F238E27FC236}">
                <a16:creationId xmlns:a16="http://schemas.microsoft.com/office/drawing/2014/main" id="{263C2586-C616-4D0A-B9DD-716E957B3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685800"/>
            <a:ext cx="30480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Text Box 6">
            <a:extLst>
              <a:ext uri="{FF2B5EF4-FFF2-40B4-BE49-F238E27FC236}">
                <a16:creationId xmlns:a16="http://schemas.microsoft.com/office/drawing/2014/main" id="{F6BCA428-5520-4279-825A-7C1305F1C2F6}"/>
              </a:ext>
            </a:extLst>
          </p:cNvPr>
          <p:cNvSpPr txBox="1">
            <a:spLocks noChangeArrowheads="1"/>
          </p:cNvSpPr>
          <p:nvPr/>
        </p:nvSpPr>
        <p:spPr bwMode="auto">
          <a:xfrm>
            <a:off x="152400" y="3352800"/>
            <a:ext cx="8763000" cy="297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pPr>
            <a:r>
              <a:rPr lang="en-US" altLang="ro-RO" sz="2400">
                <a:latin typeface="Times New Roman" panose="02020603050405020304" pitchFamily="18" charset="0"/>
              </a:rPr>
              <a:t>((0</a:t>
            </a:r>
            <a:r>
              <a:rPr lang="en-US" altLang="ro-RO" sz="2400">
                <a:solidFill>
                  <a:srgbClr val="FF3300"/>
                </a:solidFill>
                <a:latin typeface="Times New Roman" panose="02020603050405020304" pitchFamily="18" charset="0"/>
              </a:rPr>
              <a:t>00</a:t>
            </a:r>
            <a:r>
              <a:rPr lang="en-US" altLang="ro-RO" sz="2400">
                <a:latin typeface="Times New Roman" panose="02020603050405020304" pitchFamily="18" charset="0"/>
              </a:rPr>
              <a:t>, 1</a:t>
            </a:r>
            <a:r>
              <a:rPr lang="en-US" altLang="ro-RO" sz="2400">
                <a:solidFill>
                  <a:srgbClr val="FF3300"/>
                </a:solidFill>
                <a:latin typeface="Times New Roman" panose="02020603050405020304" pitchFamily="18" charset="0"/>
              </a:rPr>
              <a:t>00</a:t>
            </a:r>
            <a:r>
              <a:rPr lang="en-US" altLang="ro-RO" sz="2400">
                <a:latin typeface="Times New Roman" panose="02020603050405020304" pitchFamily="18" charset="0"/>
              </a:rPr>
              <a:t>), (0</a:t>
            </a:r>
            <a:r>
              <a:rPr lang="en-US" altLang="ro-RO" sz="2400">
                <a:solidFill>
                  <a:schemeClr val="accent1"/>
                </a:solidFill>
                <a:latin typeface="Times New Roman" panose="02020603050405020304" pitchFamily="18" charset="0"/>
              </a:rPr>
              <a:t>1</a:t>
            </a:r>
            <a:r>
              <a:rPr lang="en-US" altLang="ro-RO" sz="2400">
                <a:solidFill>
                  <a:srgbClr val="FF3300"/>
                </a:solidFill>
                <a:latin typeface="Times New Roman" panose="02020603050405020304" pitchFamily="18" charset="0"/>
              </a:rPr>
              <a:t>0</a:t>
            </a:r>
            <a:r>
              <a:rPr lang="en-US" altLang="ro-RO" sz="2400">
                <a:latin typeface="Times New Roman" panose="02020603050405020304" pitchFamily="18" charset="0"/>
              </a:rPr>
              <a:t>, 1</a:t>
            </a:r>
            <a:r>
              <a:rPr lang="en-US" altLang="ro-RO" sz="2400">
                <a:solidFill>
                  <a:schemeClr val="accent1"/>
                </a:solidFill>
                <a:latin typeface="Times New Roman" panose="02020603050405020304" pitchFamily="18" charset="0"/>
              </a:rPr>
              <a:t>1</a:t>
            </a:r>
            <a:r>
              <a:rPr lang="en-US" altLang="ro-RO" sz="2400">
                <a:solidFill>
                  <a:srgbClr val="FF3300"/>
                </a:solidFill>
                <a:latin typeface="Times New Roman" panose="02020603050405020304" pitchFamily="18" charset="0"/>
              </a:rPr>
              <a:t>0</a:t>
            </a:r>
            <a:r>
              <a:rPr lang="en-US" altLang="ro-RO" sz="2400">
                <a:latin typeface="Times New Roman" panose="02020603050405020304" pitchFamily="18" charset="0"/>
              </a:rPr>
              <a:t>)), (0</a:t>
            </a:r>
            <a:r>
              <a:rPr lang="en-US" altLang="ro-RO" sz="2400">
                <a:solidFill>
                  <a:srgbClr val="FF3300"/>
                </a:solidFill>
                <a:latin typeface="Times New Roman" panose="02020603050405020304" pitchFamily="18" charset="0"/>
              </a:rPr>
              <a:t>0</a:t>
            </a:r>
            <a:r>
              <a:rPr lang="en-US" altLang="ro-RO" sz="2400">
                <a:solidFill>
                  <a:schemeClr val="accent1"/>
                </a:solidFill>
                <a:latin typeface="Times New Roman" panose="02020603050405020304" pitchFamily="18" charset="0"/>
              </a:rPr>
              <a:t>1</a:t>
            </a:r>
            <a:r>
              <a:rPr lang="en-US" altLang="ro-RO" sz="2400">
                <a:latin typeface="Times New Roman" panose="02020603050405020304" pitchFamily="18" charset="0"/>
              </a:rPr>
              <a:t>, 1</a:t>
            </a:r>
            <a:r>
              <a:rPr lang="en-US" altLang="ro-RO" sz="2400">
                <a:solidFill>
                  <a:srgbClr val="FF3300"/>
                </a:solidFill>
                <a:latin typeface="Times New Roman" panose="02020603050405020304" pitchFamily="18" charset="0"/>
              </a:rPr>
              <a:t>0</a:t>
            </a:r>
            <a:r>
              <a:rPr lang="en-US" altLang="ro-RO" sz="2400">
                <a:solidFill>
                  <a:schemeClr val="accent1"/>
                </a:solidFill>
                <a:latin typeface="Times New Roman" panose="02020603050405020304" pitchFamily="18" charset="0"/>
              </a:rPr>
              <a:t>1</a:t>
            </a:r>
            <a:r>
              <a:rPr lang="en-US" altLang="ro-RO" sz="2400">
                <a:latin typeface="Times New Roman" panose="02020603050405020304" pitchFamily="18" charset="0"/>
              </a:rPr>
              <a:t>), (0</a:t>
            </a:r>
            <a:r>
              <a:rPr lang="en-US" altLang="ro-RO" sz="2400">
                <a:solidFill>
                  <a:schemeClr val="accent1"/>
                </a:solidFill>
                <a:latin typeface="Times New Roman" panose="02020603050405020304" pitchFamily="18" charset="0"/>
              </a:rPr>
              <a:t>11</a:t>
            </a:r>
            <a:r>
              <a:rPr lang="en-US" altLang="ro-RO" sz="2400">
                <a:latin typeface="Times New Roman" panose="02020603050405020304" pitchFamily="18" charset="0"/>
              </a:rPr>
              <a:t>, 1</a:t>
            </a:r>
            <a:r>
              <a:rPr lang="en-US" altLang="ro-RO" sz="2400">
                <a:solidFill>
                  <a:schemeClr val="accent1"/>
                </a:solidFill>
                <a:latin typeface="Times New Roman" panose="02020603050405020304" pitchFamily="18" charset="0"/>
              </a:rPr>
              <a:t>11</a:t>
            </a:r>
            <a:r>
              <a:rPr lang="en-US" altLang="ro-RO" sz="2400">
                <a:latin typeface="Times New Roman" panose="02020603050405020304" pitchFamily="18" charset="0"/>
              </a:rPr>
              <a:t>))</a:t>
            </a:r>
          </a:p>
          <a:p>
            <a:pPr eaLnBrk="1" hangingPunct="1"/>
            <a:r>
              <a:rPr lang="en-US" altLang="ro-RO" sz="2400">
                <a:latin typeface="Times New Roman" panose="02020603050405020304" pitchFamily="18" charset="0"/>
              </a:rPr>
              <a:t>care dau rezultatul: 000, 100, 010, 110, 001, 101, 011, 111</a:t>
            </a:r>
          </a:p>
          <a:p>
            <a:pPr eaLnBrk="1" hangingPunct="1"/>
            <a:r>
              <a:rPr lang="en-US" altLang="ro-RO" sz="2400">
                <a:latin typeface="Times New Roman" panose="02020603050405020304" pitchFamily="18" charset="0"/>
              </a:rPr>
              <a:t>Algoritmul de </a:t>
            </a:r>
            <a:r>
              <a:rPr lang="ro-RO" altLang="ro-RO" sz="2400">
                <a:latin typeface="Times New Roman" panose="02020603050405020304" pitchFamily="18" charset="0"/>
              </a:rPr>
              <a:t>î</a:t>
            </a:r>
            <a:r>
              <a:rPr lang="en-US" altLang="ro-RO" sz="2400">
                <a:latin typeface="Times New Roman" panose="02020603050405020304" pitchFamily="18" charset="0"/>
              </a:rPr>
              <a:t>mp</a:t>
            </a:r>
            <a:r>
              <a:rPr lang="ro-RO" altLang="ro-RO" sz="2400">
                <a:latin typeface="Times New Roman" panose="02020603050405020304" pitchFamily="18" charset="0"/>
              </a:rPr>
              <a:t>ă</a:t>
            </a:r>
            <a:r>
              <a:rPr lang="en-US" altLang="ro-RO" sz="2400">
                <a:latin typeface="Times New Roman" panose="02020603050405020304" pitchFamily="18" charset="0"/>
              </a:rPr>
              <a:t>r</a:t>
            </a:r>
            <a:r>
              <a:rPr lang="ro-RO" altLang="ro-RO" sz="2400">
                <a:latin typeface="Times New Roman" panose="02020603050405020304" pitchFamily="18" charset="0"/>
              </a:rPr>
              <a:t>ţ</a:t>
            </a:r>
            <a:r>
              <a:rPr lang="en-US" altLang="ro-RO" sz="2400">
                <a:latin typeface="Times New Roman" panose="02020603050405020304" pitchFamily="18" charset="0"/>
              </a:rPr>
              <a:t>ire a e</a:t>
            </a:r>
            <a:r>
              <a:rPr lang="ro-RO" altLang="ro-RO" sz="2400">
                <a:latin typeface="Times New Roman" panose="02020603050405020304" pitchFamily="18" charset="0"/>
              </a:rPr>
              <a:t>ş</a:t>
            </a:r>
            <a:r>
              <a:rPr lang="en-US" altLang="ro-RO" sz="2400">
                <a:latin typeface="Times New Roman" panose="02020603050405020304" pitchFamily="18" charset="0"/>
              </a:rPr>
              <a:t>antioanelor semnalului de intrare care tocmai a fost descris este echivalent cu sortarea e</a:t>
            </a:r>
            <a:r>
              <a:rPr lang="ro-RO" altLang="ro-RO" sz="2400">
                <a:latin typeface="Times New Roman" panose="02020603050405020304" pitchFamily="18" charset="0"/>
              </a:rPr>
              <a:t>ş</a:t>
            </a:r>
            <a:r>
              <a:rPr lang="en-US" altLang="ro-RO" sz="2400">
                <a:latin typeface="Times New Roman" panose="02020603050405020304" pitchFamily="18" charset="0"/>
              </a:rPr>
              <a:t>antioanelor </a:t>
            </a:r>
            <a:r>
              <a:rPr lang="ro-RO" altLang="ro-RO" sz="2400">
                <a:latin typeface="Times New Roman" panose="02020603050405020304" pitchFamily="18" charset="0"/>
              </a:rPr>
              <a:t>î</a:t>
            </a:r>
            <a:r>
              <a:rPr lang="en-US" altLang="ro-RO" sz="2400">
                <a:latin typeface="Times New Roman" panose="02020603050405020304" pitchFamily="18" charset="0"/>
              </a:rPr>
              <a:t>n ordine invers</a:t>
            </a:r>
            <a:r>
              <a:rPr lang="ro-RO" altLang="ro-RO" sz="2400">
                <a:latin typeface="Times New Roman" panose="02020603050405020304" pitchFamily="18" charset="0"/>
              </a:rPr>
              <a:t>ă</a:t>
            </a:r>
            <a:r>
              <a:rPr lang="en-US" altLang="ro-RO" sz="2400">
                <a:latin typeface="Times New Roman" panose="02020603050405020304" pitchFamily="18" charset="0"/>
              </a:rPr>
              <a:t> a bi</a:t>
            </a:r>
            <a:r>
              <a:rPr lang="ro-RO" altLang="ro-RO" sz="2400">
                <a:latin typeface="Times New Roman" panose="02020603050405020304" pitchFamily="18" charset="0"/>
              </a:rPr>
              <a:t>ţ</a:t>
            </a:r>
            <a:r>
              <a:rPr lang="en-US" altLang="ro-RO" sz="2400">
                <a:latin typeface="Times New Roman" panose="02020603050405020304" pitchFamily="18" charset="0"/>
              </a:rPr>
              <a:t>ilor indicilor lor (</a:t>
            </a:r>
            <a:r>
              <a:rPr lang="en-US" altLang="ro-RO" sz="2400" i="1">
                <a:latin typeface="Times New Roman" panose="02020603050405020304" pitchFamily="18" charset="0"/>
              </a:rPr>
              <a:t>bit-reversed order—</a:t>
            </a:r>
            <a:r>
              <a:rPr lang="en-US" altLang="ro-RO" sz="2400">
                <a:latin typeface="Times New Roman" panose="02020603050405020304" pitchFamily="18" charset="0"/>
              </a:rPr>
              <a:t>dac</a:t>
            </a:r>
            <a:r>
              <a:rPr lang="ro-RO" altLang="ro-RO" sz="2400">
                <a:latin typeface="Times New Roman" panose="02020603050405020304" pitchFamily="18" charset="0"/>
              </a:rPr>
              <a:t>ă</a:t>
            </a:r>
            <a:r>
              <a:rPr lang="en-US" altLang="ro-RO" sz="2400">
                <a:latin typeface="Times New Roman" panose="02020603050405020304" pitchFamily="18" charset="0"/>
              </a:rPr>
              <a:t> se inverseaz</a:t>
            </a:r>
            <a:r>
              <a:rPr lang="ro-RO" altLang="ro-RO" sz="2400">
                <a:latin typeface="Times New Roman" panose="02020603050405020304" pitchFamily="18" charset="0"/>
              </a:rPr>
              <a:t>ă</a:t>
            </a:r>
            <a:r>
              <a:rPr lang="en-US" altLang="ro-RO" sz="2400">
                <a:latin typeface="Times New Roman" panose="02020603050405020304" pitchFamily="18" charset="0"/>
              </a:rPr>
              <a:t> ordinea bi</a:t>
            </a:r>
            <a:r>
              <a:rPr lang="ro-RO" altLang="ro-RO" sz="2400">
                <a:latin typeface="Times New Roman" panose="02020603050405020304" pitchFamily="18" charset="0"/>
              </a:rPr>
              <a:t>ţ</a:t>
            </a:r>
            <a:r>
              <a:rPr lang="en-US" altLang="ro-RO" sz="2400">
                <a:latin typeface="Times New Roman" panose="02020603050405020304" pitchFamily="18" charset="0"/>
              </a:rPr>
              <a:t>ilor fiec</a:t>
            </a:r>
            <a:r>
              <a:rPr lang="ro-RO" altLang="ro-RO" sz="2400">
                <a:latin typeface="Times New Roman" panose="02020603050405020304" pitchFamily="18" charset="0"/>
              </a:rPr>
              <a:t>ă</a:t>
            </a:r>
            <a:r>
              <a:rPr lang="en-US" altLang="ro-RO" sz="2400">
                <a:latin typeface="Times New Roman" panose="02020603050405020304" pitchFamily="18" charset="0"/>
              </a:rPr>
              <a:t>rui indice (de exemplu, 110 se transform</a:t>
            </a:r>
            <a:r>
              <a:rPr lang="ro-RO" altLang="ro-RO" sz="2400">
                <a:latin typeface="Times New Roman" panose="02020603050405020304" pitchFamily="18" charset="0"/>
              </a:rPr>
              <a:t>ă</a:t>
            </a:r>
            <a:r>
              <a:rPr lang="en-US" altLang="ro-RO" sz="2400">
                <a:latin typeface="Times New Roman" panose="02020603050405020304" pitchFamily="18" charset="0"/>
              </a:rPr>
              <a:t> </a:t>
            </a:r>
            <a:r>
              <a:rPr lang="ro-RO" altLang="ro-RO" sz="2400">
                <a:latin typeface="Times New Roman" panose="02020603050405020304" pitchFamily="18" charset="0"/>
              </a:rPr>
              <a:t>î</a:t>
            </a:r>
            <a:r>
              <a:rPr lang="en-US" altLang="ro-RO" sz="2400">
                <a:latin typeface="Times New Roman" panose="02020603050405020304" pitchFamily="18" charset="0"/>
              </a:rPr>
              <a:t>n 011, </a:t>
            </a:r>
            <a:r>
              <a:rPr lang="ro-RO" altLang="ro-RO" sz="2400">
                <a:latin typeface="Times New Roman" panose="02020603050405020304" pitchFamily="18" charset="0"/>
              </a:rPr>
              <a:t>ş</a:t>
            </a:r>
            <a:r>
              <a:rPr lang="en-US" altLang="ro-RO" sz="2400">
                <a:latin typeface="Times New Roman" panose="02020603050405020304" pitchFamily="18" charset="0"/>
              </a:rPr>
              <a:t>i a</a:t>
            </a:r>
            <a:r>
              <a:rPr lang="ro-RO" altLang="ro-RO" sz="2400">
                <a:latin typeface="Times New Roman" panose="02020603050405020304" pitchFamily="18" charset="0"/>
              </a:rPr>
              <a:t>ş</a:t>
            </a:r>
            <a:r>
              <a:rPr lang="en-US" altLang="ro-RO" sz="2400">
                <a:latin typeface="Times New Roman" panose="02020603050405020304" pitchFamily="18" charset="0"/>
              </a:rPr>
              <a:t>a mai departe), se va ob</a:t>
            </a:r>
            <a:r>
              <a:rPr lang="ro-RO" altLang="ro-RO" sz="2400">
                <a:latin typeface="Times New Roman" panose="02020603050405020304" pitchFamily="18" charset="0"/>
              </a:rPr>
              <a:t>ţ</a:t>
            </a:r>
            <a:r>
              <a:rPr lang="en-US" altLang="ro-RO" sz="2400">
                <a:latin typeface="Times New Roman" panose="02020603050405020304" pitchFamily="18" charset="0"/>
              </a:rPr>
              <a:t>ine o mul</a:t>
            </a:r>
            <a:r>
              <a:rPr lang="ro-RO" altLang="ro-RO" sz="2400">
                <a:latin typeface="Times New Roman" panose="02020603050405020304" pitchFamily="18" charset="0"/>
              </a:rPr>
              <a:t>ţ</a:t>
            </a:r>
            <a:r>
              <a:rPr lang="en-US" altLang="ro-RO" sz="2400">
                <a:latin typeface="Times New Roman" panose="02020603050405020304" pitchFamily="18" charset="0"/>
              </a:rPr>
              <a:t>ime de numere binare consecutive.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a:extLst>
              <a:ext uri="{FF2B5EF4-FFF2-40B4-BE49-F238E27FC236}">
                <a16:creationId xmlns:a16="http://schemas.microsoft.com/office/drawing/2014/main" id="{82D272FF-51DD-4AD6-AD22-CEBCC460ADA8}"/>
              </a:ext>
            </a:extLst>
          </p:cNvPr>
          <p:cNvSpPr>
            <a:spLocks noChangeArrowheads="1"/>
          </p:cNvSpPr>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ro-RO" sz="4400">
                <a:solidFill>
                  <a:srgbClr val="FF0000"/>
                </a:solidFill>
                <a:latin typeface="Times New Roman" panose="02020603050405020304" pitchFamily="18" charset="0"/>
                <a:cs typeface="Times New Roman" panose="02020603050405020304" pitchFamily="18" charset="0"/>
              </a:rPr>
              <a:t>Forma final</a:t>
            </a:r>
            <a:r>
              <a:rPr lang="ro-RO" altLang="ro-RO" sz="4400">
                <a:solidFill>
                  <a:srgbClr val="FF0000"/>
                </a:solidFill>
                <a:latin typeface="Times New Roman" panose="02020603050405020304" pitchFamily="18" charset="0"/>
                <a:cs typeface="Times New Roman" panose="02020603050405020304" pitchFamily="18" charset="0"/>
              </a:rPr>
              <a:t>ă</a:t>
            </a:r>
            <a:r>
              <a:rPr lang="en-US" altLang="ro-RO" sz="4400">
                <a:solidFill>
                  <a:srgbClr val="FF0000"/>
                </a:solidFill>
                <a:latin typeface="Times New Roman" panose="02020603050405020304" pitchFamily="18" charset="0"/>
                <a:cs typeface="Times New Roman" panose="02020603050405020304" pitchFamily="18" charset="0"/>
              </a:rPr>
              <a:t> a algoritmului</a:t>
            </a:r>
          </a:p>
        </p:txBody>
      </p:sp>
      <p:sp>
        <p:nvSpPr>
          <p:cNvPr id="52227" name="Rectangle 5">
            <a:extLst>
              <a:ext uri="{FF2B5EF4-FFF2-40B4-BE49-F238E27FC236}">
                <a16:creationId xmlns:a16="http://schemas.microsoft.com/office/drawing/2014/main" id="{602BB00D-739A-4A90-96C1-5EC9FA9268A7}"/>
              </a:ext>
            </a:extLst>
          </p:cNvPr>
          <p:cNvSpPr>
            <a:spLocks noChangeArrowheads="1"/>
          </p:cNvSpPr>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80000"/>
              </a:lnSpc>
              <a:spcBef>
                <a:spcPct val="20000"/>
              </a:spcBef>
              <a:buFontTx/>
              <a:buAutoNum type="arabicPeriod"/>
            </a:pPr>
            <a:r>
              <a:rPr lang="en-US" altLang="ro-RO" sz="2000"/>
              <a:t>Se selecteaz</a:t>
            </a:r>
            <a:r>
              <a:rPr lang="ro-RO" altLang="ro-RO" sz="2000"/>
              <a:t>ă</a:t>
            </a:r>
            <a:r>
              <a:rPr lang="en-US" altLang="ro-RO" sz="2000"/>
              <a:t> </a:t>
            </a:r>
            <a:r>
              <a:rPr lang="en-US" altLang="ro-RO" sz="2000" i="1"/>
              <a:t>N</a:t>
            </a:r>
            <a:r>
              <a:rPr lang="en-US" altLang="ro-RO" sz="2000"/>
              <a:t> astfel </a:t>
            </a:r>
            <a:r>
              <a:rPr lang="ro-RO" altLang="ro-RO" sz="2000"/>
              <a:t>î</a:t>
            </a:r>
            <a:r>
              <a:rPr lang="en-US" altLang="ro-RO" sz="2000"/>
              <a:t>nc</a:t>
            </a:r>
            <a:r>
              <a:rPr lang="ro-RO" altLang="ro-RO" sz="2000"/>
              <a:t>â</a:t>
            </a:r>
            <a:r>
              <a:rPr lang="en-US" altLang="ro-RO" sz="2000"/>
              <a:t>t s</a:t>
            </a:r>
            <a:r>
              <a:rPr lang="ro-RO" altLang="ro-RO" sz="2000"/>
              <a:t>ă</a:t>
            </a:r>
            <a:r>
              <a:rPr lang="en-US" altLang="ro-RO" sz="2000"/>
              <a:t> fie o putere a lui 2. </a:t>
            </a:r>
          </a:p>
          <a:p>
            <a:pPr eaLnBrk="1" hangingPunct="1">
              <a:lnSpc>
                <a:spcPct val="80000"/>
              </a:lnSpc>
              <a:spcBef>
                <a:spcPct val="20000"/>
              </a:spcBef>
              <a:buFontTx/>
              <a:buAutoNum type="arabicPeriod"/>
            </a:pPr>
            <a:r>
              <a:rPr lang="en-US" altLang="ro-RO" sz="2000"/>
              <a:t>E</a:t>
            </a:r>
            <a:r>
              <a:rPr lang="ro-RO" altLang="ro-RO" sz="2000"/>
              <a:t>ş</a:t>
            </a:r>
            <a:r>
              <a:rPr lang="en-US" altLang="ro-RO" sz="2000"/>
              <a:t>antioanele semnalului de intrare se memoreaz</a:t>
            </a:r>
            <a:r>
              <a:rPr lang="ro-RO" altLang="ro-RO" sz="2000"/>
              <a:t>ă</a:t>
            </a:r>
            <a:r>
              <a:rPr lang="en-US" altLang="ro-RO" sz="2000"/>
              <a:t> </a:t>
            </a:r>
            <a:r>
              <a:rPr lang="ro-RO" altLang="ro-RO" sz="2000"/>
              <a:t>î</a:t>
            </a:r>
            <a:r>
              <a:rPr lang="en-US" altLang="ro-RO" sz="2000"/>
              <a:t>ntr-o zon</a:t>
            </a:r>
            <a:r>
              <a:rPr lang="ro-RO" altLang="ro-RO" sz="2000"/>
              <a:t>ă</a:t>
            </a:r>
            <a:r>
              <a:rPr lang="en-US" altLang="ro-RO" sz="2000"/>
              <a:t> de memorie de dimensiune </a:t>
            </a:r>
            <a:r>
              <a:rPr lang="en-US" altLang="ro-RO" sz="2000" i="1"/>
              <a:t>N</a:t>
            </a:r>
            <a:r>
              <a:rPr lang="en-US" altLang="ro-RO" sz="2000"/>
              <a:t>.</a:t>
            </a:r>
          </a:p>
          <a:p>
            <a:pPr eaLnBrk="1" hangingPunct="1">
              <a:lnSpc>
                <a:spcPct val="80000"/>
              </a:lnSpc>
              <a:spcBef>
                <a:spcPct val="20000"/>
              </a:spcBef>
              <a:buFontTx/>
              <a:buAutoNum type="arabicPeriod"/>
            </a:pPr>
            <a:r>
              <a:rPr lang="en-US" altLang="ro-RO" sz="2000"/>
              <a:t>Se ordoneaz</a:t>
            </a:r>
            <a:r>
              <a:rPr lang="ro-RO" altLang="ro-RO" sz="2000"/>
              <a:t>ă</a:t>
            </a:r>
            <a:r>
              <a:rPr lang="en-US" altLang="ro-RO" sz="2000"/>
              <a:t> e</a:t>
            </a:r>
            <a:r>
              <a:rPr lang="ro-RO" altLang="ro-RO" sz="2000"/>
              <a:t>ş</a:t>
            </a:r>
            <a:r>
              <a:rPr lang="en-US" altLang="ro-RO" sz="2000"/>
              <a:t>antioanele </a:t>
            </a:r>
            <a:r>
              <a:rPr lang="ro-RO" altLang="ro-RO" sz="2000"/>
              <a:t>î</a:t>
            </a:r>
            <a:r>
              <a:rPr lang="en-US" altLang="ro-RO" sz="2000"/>
              <a:t>n ordine invers</a:t>
            </a:r>
            <a:r>
              <a:rPr lang="ro-RO" altLang="ro-RO" sz="2000"/>
              <a:t>ă</a:t>
            </a:r>
            <a:r>
              <a:rPr lang="en-US" altLang="ro-RO" sz="2000"/>
              <a:t> a bi</a:t>
            </a:r>
            <a:r>
              <a:rPr lang="ro-RO" altLang="ro-RO" sz="2000"/>
              <a:t>ţ</a:t>
            </a:r>
            <a:r>
              <a:rPr lang="en-US" altLang="ro-RO" sz="2000"/>
              <a:t>ilor indicilor lor </a:t>
            </a:r>
            <a:r>
              <a:rPr lang="ro-RO" altLang="ro-RO" sz="2000"/>
              <a:t>ş</a:t>
            </a:r>
            <a:r>
              <a:rPr lang="en-US" altLang="ro-RO" sz="2000"/>
              <a:t>i se salveaz</a:t>
            </a:r>
            <a:r>
              <a:rPr lang="ro-RO" altLang="ro-RO" sz="2000"/>
              <a:t>ă</a:t>
            </a:r>
            <a:r>
              <a:rPr lang="en-US" altLang="ro-RO" sz="2000"/>
              <a:t> </a:t>
            </a:r>
            <a:r>
              <a:rPr lang="ro-RO" altLang="ro-RO" sz="2000"/>
              <a:t>î</a:t>
            </a:r>
            <a:r>
              <a:rPr lang="en-US" altLang="ro-RO" sz="2000"/>
              <a:t>ntr-o zon</a:t>
            </a:r>
            <a:r>
              <a:rPr lang="ro-RO" altLang="ro-RO" sz="2000"/>
              <a:t>ă</a:t>
            </a:r>
            <a:r>
              <a:rPr lang="en-US" altLang="ro-RO" sz="2000"/>
              <a:t> de memorie av</a:t>
            </a:r>
            <a:r>
              <a:rPr lang="ro-RO" altLang="ro-RO" sz="2000"/>
              <a:t>â</a:t>
            </a:r>
            <a:r>
              <a:rPr lang="en-US" altLang="ro-RO" sz="2000"/>
              <a:t>nd o capacitate suficient</a:t>
            </a:r>
            <a:r>
              <a:rPr lang="ro-RO" altLang="ro-RO" sz="2000"/>
              <a:t>ă</a:t>
            </a:r>
            <a:r>
              <a:rPr lang="en-US" altLang="ro-RO" sz="2000"/>
              <a:t> pentru memorarea a </a:t>
            </a:r>
            <a:r>
              <a:rPr lang="en-US" altLang="ro-RO" sz="2000" i="1"/>
              <a:t>N</a:t>
            </a:r>
            <a:r>
              <a:rPr lang="en-US" altLang="ro-RO" sz="2000"/>
              <a:t> numere complexe.  </a:t>
            </a:r>
          </a:p>
          <a:p>
            <a:pPr eaLnBrk="1" hangingPunct="1">
              <a:lnSpc>
                <a:spcPct val="80000"/>
              </a:lnSpc>
              <a:spcBef>
                <a:spcPct val="20000"/>
              </a:spcBef>
              <a:buFontTx/>
              <a:buAutoNum type="arabicPeriod"/>
            </a:pPr>
            <a:r>
              <a:rPr lang="en-US" altLang="ro-RO" sz="2000"/>
              <a:t>Se aplic</a:t>
            </a:r>
            <a:r>
              <a:rPr lang="ro-RO" altLang="ro-RO" sz="2000"/>
              <a:t>ă</a:t>
            </a:r>
            <a:r>
              <a:rPr lang="en-US" altLang="ro-RO" sz="2000"/>
              <a:t> prima structur</a:t>
            </a:r>
            <a:r>
              <a:rPr lang="ro-RO" altLang="ro-RO" sz="2000"/>
              <a:t>ă</a:t>
            </a:r>
            <a:r>
              <a:rPr lang="en-US" altLang="ro-RO" sz="2000"/>
              <a:t> de tip fluture folosindu-se perechi adiacente de numere din cea de a doua zon</a:t>
            </a:r>
            <a:r>
              <a:rPr lang="ro-RO" altLang="ro-RO" sz="2000"/>
              <a:t>ă</a:t>
            </a:r>
            <a:r>
              <a:rPr lang="en-US" altLang="ro-RO" sz="2000"/>
              <a:t> de memorie.</a:t>
            </a:r>
          </a:p>
          <a:p>
            <a:pPr eaLnBrk="1" hangingPunct="1">
              <a:lnSpc>
                <a:spcPct val="80000"/>
              </a:lnSpc>
              <a:spcBef>
                <a:spcPct val="20000"/>
              </a:spcBef>
              <a:buFontTx/>
              <a:buAutoNum type="arabicPeriod"/>
            </a:pPr>
            <a:r>
              <a:rPr lang="en-US" altLang="ro-RO" sz="2000"/>
              <a:t>Se aplic</a:t>
            </a:r>
            <a:r>
              <a:rPr lang="ro-RO" altLang="ro-RO" sz="2000"/>
              <a:t>ă</a:t>
            </a:r>
            <a:r>
              <a:rPr lang="en-US" altLang="ro-RO" sz="2000"/>
              <a:t> cea de a doua structur</a:t>
            </a:r>
            <a:r>
              <a:rPr lang="ro-RO" altLang="ro-RO" sz="2000"/>
              <a:t>ă</a:t>
            </a:r>
            <a:r>
              <a:rPr lang="en-US" altLang="ro-RO" sz="2000"/>
              <a:t> de tip fluture folosindu-se perechi de numere separate cu 2.</a:t>
            </a:r>
          </a:p>
          <a:p>
            <a:pPr eaLnBrk="1" hangingPunct="1">
              <a:lnSpc>
                <a:spcPct val="80000"/>
              </a:lnSpc>
              <a:spcBef>
                <a:spcPct val="20000"/>
              </a:spcBef>
              <a:buFontTx/>
              <a:buAutoNum type="arabicPeriod"/>
            </a:pPr>
            <a:r>
              <a:rPr lang="en-US" altLang="ro-RO" sz="2000"/>
              <a:t>Se continu</a:t>
            </a:r>
            <a:r>
              <a:rPr lang="ro-RO" altLang="ro-RO" sz="2000"/>
              <a:t>ă</a:t>
            </a:r>
            <a:r>
              <a:rPr lang="en-US" altLang="ro-RO" sz="2000"/>
              <a:t> cu aplicarea urm</a:t>
            </a:r>
            <a:r>
              <a:rPr lang="ro-RO" altLang="ro-RO" sz="2000"/>
              <a:t>ă</a:t>
            </a:r>
            <a:r>
              <a:rPr lang="en-US" altLang="ro-RO" sz="2000"/>
              <a:t>toarelor structuri de tip fluture p</a:t>
            </a:r>
            <a:r>
              <a:rPr lang="ro-RO" altLang="ro-RO" sz="2000"/>
              <a:t>â</a:t>
            </a:r>
            <a:r>
              <a:rPr lang="en-US" altLang="ro-RO" sz="2000"/>
              <a:t>n</a:t>
            </a:r>
            <a:r>
              <a:rPr lang="ro-RO" altLang="ro-RO" sz="2000"/>
              <a:t>ă</a:t>
            </a:r>
            <a:r>
              <a:rPr lang="en-US" altLang="ro-RO" sz="2000"/>
              <a:t> c</a:t>
            </a:r>
            <a:r>
              <a:rPr lang="ro-RO" altLang="ro-RO" sz="2000"/>
              <a:t>â</a:t>
            </a:r>
            <a:r>
              <a:rPr lang="en-US" altLang="ro-RO" sz="2000"/>
              <a:t>nd se ajunge la o separare cu </a:t>
            </a:r>
            <a:r>
              <a:rPr lang="en-US" altLang="ro-RO" sz="2000" i="1"/>
              <a:t>N</a:t>
            </a:r>
            <a:r>
              <a:rPr lang="en-US" altLang="ro-RO" sz="2000"/>
              <a:t>/2.</a:t>
            </a:r>
          </a:p>
          <a:p>
            <a:pPr eaLnBrk="1" hangingPunct="1">
              <a:lnSpc>
                <a:spcPct val="80000"/>
              </a:lnSpc>
              <a:spcBef>
                <a:spcPct val="20000"/>
              </a:spcBef>
              <a:buFontTx/>
              <a:buAutoNum type="arabicPeriod"/>
            </a:pPr>
            <a:r>
              <a:rPr lang="en-US" altLang="ro-RO" sz="2000"/>
              <a:t>Zona de memorie va con</a:t>
            </a:r>
            <a:r>
              <a:rPr lang="ro-RO" altLang="ro-RO" sz="2000"/>
              <a:t>ţ</a:t>
            </a:r>
            <a:r>
              <a:rPr lang="en-US" altLang="ro-RO" sz="2000"/>
              <a:t>ine TFD a semnalului considerat. </a:t>
            </a:r>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4030</TotalTime>
  <Words>8306</Words>
  <Application>Microsoft Office PowerPoint</Application>
  <PresentationFormat>On-screen Show (4:3)</PresentationFormat>
  <Paragraphs>255</Paragraphs>
  <Slides>50</Slides>
  <Notes>30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3</vt:i4>
      </vt:variant>
      <vt:variant>
        <vt:lpstr>Slide Titles</vt:lpstr>
      </vt:variant>
      <vt:variant>
        <vt:i4>50</vt:i4>
      </vt:variant>
    </vt:vector>
  </HeadingPairs>
  <TitlesOfParts>
    <vt:vector size="60" baseType="lpstr">
      <vt:lpstr>Arial</vt:lpstr>
      <vt:lpstr>Calibri</vt:lpstr>
      <vt:lpstr>Times New Roman</vt:lpstr>
      <vt:lpstr>TimesNewRoman</vt:lpstr>
      <vt:lpstr>TimesNewRoman,Bold</vt:lpstr>
      <vt:lpstr>Cambria Math</vt:lpstr>
      <vt:lpstr>Default Design</vt:lpstr>
      <vt:lpstr>MathType 5.0 Equation</vt:lpstr>
      <vt:lpstr>Bitmap Image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Răspunsul în frecvenţă al sistemelor liniare şi invariante în timp discret</vt:lpstr>
      <vt:lpstr>PowerPoint Presentation</vt:lpstr>
      <vt:lpstr>PowerPoint Presentation</vt:lpstr>
      <vt:lpstr>PowerPoint Presentation</vt:lpstr>
      <vt:lpstr>Exemplul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Răspunsul unui sistem liniar şi invariant în timp discret la un semnal de intrare oarecare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ETc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Alexandru Isar</dc:creator>
  <cp:lastModifiedBy>cloudconvert_11</cp:lastModifiedBy>
  <cp:revision>136</cp:revision>
  <dcterms:created xsi:type="dcterms:W3CDTF">2011-11-16T14:36:36Z</dcterms:created>
  <dcterms:modified xsi:type="dcterms:W3CDTF">2026-05-18T16:16:29Z</dcterms:modified>
</cp:coreProperties>
</file>